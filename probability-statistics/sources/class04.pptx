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19"/>
  </p:notesMasterIdLst>
  <p:sldIdLst>
    <p:sldId id="256" r:id="rId2"/>
    <p:sldId id="356" r:id="rId3"/>
    <p:sldId id="358" r:id="rId4"/>
    <p:sldId id="368" r:id="rId5"/>
    <p:sldId id="369" r:id="rId6"/>
    <p:sldId id="370" r:id="rId7"/>
    <p:sldId id="363" r:id="rId8"/>
    <p:sldId id="371" r:id="rId9"/>
    <p:sldId id="377" r:id="rId10"/>
    <p:sldId id="372" r:id="rId11"/>
    <p:sldId id="373" r:id="rId12"/>
    <p:sldId id="375" r:id="rId13"/>
    <p:sldId id="374" r:id="rId14"/>
    <p:sldId id="359" r:id="rId15"/>
    <p:sldId id="357" r:id="rId16"/>
    <p:sldId id="364" r:id="rId17"/>
    <p:sldId id="376" r:id="rId18"/>
  </p:sldIdLst>
  <p:sldSz cx="9144000" cy="6858000" type="screen4x3"/>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aara" initials="Y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ללא סגנון, רשת טבלה">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ללא סגנון, ללא רשת">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סגנון בהיר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C4B1156A-380E-4F78-BDF5-A606A8083BF9}" styleName="סגנון ביניים 4 - הדגשה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75DCB02-9BB8-47FD-8907-85C794F793BA}" styleName="סגנון ערכת נושא 1 - הדגשה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768" autoAdjust="0"/>
    <p:restoredTop sz="91086" autoAdjust="0"/>
  </p:normalViewPr>
  <p:slideViewPr>
    <p:cSldViewPr>
      <p:cViewPr varScale="1">
        <p:scale>
          <a:sx n="78" d="100"/>
          <a:sy n="78" d="100"/>
        </p:scale>
        <p:origin x="161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445682-1332-40F5-83FE-B24E075FF5DE}" type="doc">
      <dgm:prSet loTypeId="urn:microsoft.com/office/officeart/2005/8/layout/venn1" loCatId="relationship" qsTypeId="urn:microsoft.com/office/officeart/2005/8/quickstyle/simple3" qsCatId="simple" csTypeId="urn:microsoft.com/office/officeart/2005/8/colors/colorful5" csCatId="colorful" phldr="1"/>
      <dgm:spPr/>
    </dgm:pt>
    <dgm:pt modelId="{9C99F91A-5866-45EC-AB26-8BAD873CEF58}">
      <dgm:prSet phldrT="[Text]"/>
      <dgm:spPr/>
      <dgm:t>
        <a:bodyPr/>
        <a:lstStyle/>
        <a:p>
          <a:r>
            <a:rPr lang="en-US" dirty="0"/>
            <a:t>life</a:t>
          </a:r>
          <a:endParaRPr lang="en-GB" dirty="0"/>
        </a:p>
      </dgm:t>
    </dgm:pt>
    <dgm:pt modelId="{9170F260-613E-4827-8AC8-F4C9F24F1737}" type="parTrans" cxnId="{0D4A14A8-5772-4E0C-BDA1-B79AF577CEE1}">
      <dgm:prSet/>
      <dgm:spPr/>
      <dgm:t>
        <a:bodyPr/>
        <a:lstStyle/>
        <a:p>
          <a:endParaRPr lang="en-GB"/>
        </a:p>
      </dgm:t>
    </dgm:pt>
    <dgm:pt modelId="{87AA9370-1FFB-4752-B291-6CDD41FD1C75}" type="sibTrans" cxnId="{0D4A14A8-5772-4E0C-BDA1-B79AF577CEE1}">
      <dgm:prSet/>
      <dgm:spPr/>
      <dgm:t>
        <a:bodyPr/>
        <a:lstStyle/>
        <a:p>
          <a:endParaRPr lang="en-GB"/>
        </a:p>
      </dgm:t>
    </dgm:pt>
    <dgm:pt modelId="{074829A9-6E30-4BC6-A62A-30BEF75900C4}">
      <dgm:prSet phldrT="[Text]"/>
      <dgm:spPr/>
      <dgm:t>
        <a:bodyPr/>
        <a:lstStyle/>
        <a:p>
          <a:r>
            <a:rPr lang="en-US" dirty="0"/>
            <a:t>everything</a:t>
          </a:r>
          <a:endParaRPr lang="en-GB" dirty="0"/>
        </a:p>
      </dgm:t>
    </dgm:pt>
    <dgm:pt modelId="{59AA8593-B842-49FD-8081-9819E1D7FD00}" type="parTrans" cxnId="{5D4F9FFA-4BDF-4E95-B9D5-F75F16A28717}">
      <dgm:prSet/>
      <dgm:spPr/>
      <dgm:t>
        <a:bodyPr/>
        <a:lstStyle/>
        <a:p>
          <a:endParaRPr lang="en-GB"/>
        </a:p>
      </dgm:t>
    </dgm:pt>
    <dgm:pt modelId="{CD2AEC1A-25CB-4795-BF78-8DF39BA2AC0E}" type="sibTrans" cxnId="{5D4F9FFA-4BDF-4E95-B9D5-F75F16A28717}">
      <dgm:prSet/>
      <dgm:spPr/>
      <dgm:t>
        <a:bodyPr/>
        <a:lstStyle/>
        <a:p>
          <a:endParaRPr lang="en-GB"/>
        </a:p>
      </dgm:t>
    </dgm:pt>
    <dgm:pt modelId="{3EF73032-1F89-4657-A0EC-A67D2D7B2539}">
      <dgm:prSet phldrT="[Text]"/>
      <dgm:spPr/>
      <dgm:t>
        <a:bodyPr/>
        <a:lstStyle/>
        <a:p>
          <a:r>
            <a:rPr lang="en-US" dirty="0"/>
            <a:t>universe</a:t>
          </a:r>
          <a:endParaRPr lang="en-GB" dirty="0"/>
        </a:p>
      </dgm:t>
    </dgm:pt>
    <dgm:pt modelId="{21D8734E-201B-4CBD-AB9E-112D221A5477}" type="parTrans" cxnId="{53CF1A71-43ED-4875-AFF2-1A04F2D4C474}">
      <dgm:prSet/>
      <dgm:spPr/>
      <dgm:t>
        <a:bodyPr/>
        <a:lstStyle/>
        <a:p>
          <a:endParaRPr lang="en-GB"/>
        </a:p>
      </dgm:t>
    </dgm:pt>
    <dgm:pt modelId="{41A46EC2-7BDA-401E-A67D-BB459432FA62}" type="sibTrans" cxnId="{53CF1A71-43ED-4875-AFF2-1A04F2D4C474}">
      <dgm:prSet/>
      <dgm:spPr/>
      <dgm:t>
        <a:bodyPr/>
        <a:lstStyle/>
        <a:p>
          <a:endParaRPr lang="en-GB"/>
        </a:p>
      </dgm:t>
    </dgm:pt>
    <dgm:pt modelId="{04005B32-0D3A-4F97-AD44-B7B5484ECE04}" type="pres">
      <dgm:prSet presAssocID="{06445682-1332-40F5-83FE-B24E075FF5DE}" presName="compositeShape" presStyleCnt="0">
        <dgm:presLayoutVars>
          <dgm:chMax val="7"/>
          <dgm:dir/>
          <dgm:resizeHandles val="exact"/>
        </dgm:presLayoutVars>
      </dgm:prSet>
      <dgm:spPr/>
    </dgm:pt>
    <dgm:pt modelId="{8ACC2357-A403-4095-B79A-928912410028}" type="pres">
      <dgm:prSet presAssocID="{9C99F91A-5866-45EC-AB26-8BAD873CEF58}" presName="circ1" presStyleLbl="vennNode1" presStyleIdx="0" presStyleCnt="3"/>
      <dgm:spPr/>
    </dgm:pt>
    <dgm:pt modelId="{E5F7C6FD-9F57-4A09-A155-F4652A833841}" type="pres">
      <dgm:prSet presAssocID="{9C99F91A-5866-45EC-AB26-8BAD873CEF58}" presName="circ1Tx" presStyleLbl="revTx" presStyleIdx="0" presStyleCnt="0">
        <dgm:presLayoutVars>
          <dgm:chMax val="0"/>
          <dgm:chPref val="0"/>
          <dgm:bulletEnabled val="1"/>
        </dgm:presLayoutVars>
      </dgm:prSet>
      <dgm:spPr/>
    </dgm:pt>
    <dgm:pt modelId="{EE40A2ED-148F-4ED4-BB23-AD4907BF65DF}" type="pres">
      <dgm:prSet presAssocID="{074829A9-6E30-4BC6-A62A-30BEF75900C4}" presName="circ2" presStyleLbl="vennNode1" presStyleIdx="1" presStyleCnt="3"/>
      <dgm:spPr/>
    </dgm:pt>
    <dgm:pt modelId="{4401C46D-0FE7-4D5E-BDF6-C3D6B1F1ED7E}" type="pres">
      <dgm:prSet presAssocID="{074829A9-6E30-4BC6-A62A-30BEF75900C4}" presName="circ2Tx" presStyleLbl="revTx" presStyleIdx="0" presStyleCnt="0">
        <dgm:presLayoutVars>
          <dgm:chMax val="0"/>
          <dgm:chPref val="0"/>
          <dgm:bulletEnabled val="1"/>
        </dgm:presLayoutVars>
      </dgm:prSet>
      <dgm:spPr/>
    </dgm:pt>
    <dgm:pt modelId="{A0A85A9C-EB60-450D-B3A4-A1FA25535773}" type="pres">
      <dgm:prSet presAssocID="{3EF73032-1F89-4657-A0EC-A67D2D7B2539}" presName="circ3" presStyleLbl="vennNode1" presStyleIdx="2" presStyleCnt="3"/>
      <dgm:spPr/>
    </dgm:pt>
    <dgm:pt modelId="{54949287-C873-4C9B-AD96-4FE44B0AFF65}" type="pres">
      <dgm:prSet presAssocID="{3EF73032-1F89-4657-A0EC-A67D2D7B2539}" presName="circ3Tx" presStyleLbl="revTx" presStyleIdx="0" presStyleCnt="0">
        <dgm:presLayoutVars>
          <dgm:chMax val="0"/>
          <dgm:chPref val="0"/>
          <dgm:bulletEnabled val="1"/>
        </dgm:presLayoutVars>
      </dgm:prSet>
      <dgm:spPr/>
    </dgm:pt>
  </dgm:ptLst>
  <dgm:cxnLst>
    <dgm:cxn modelId="{B2B18B0A-E374-4B13-B65F-63A56AB6E4C5}" type="presOf" srcId="{3EF73032-1F89-4657-A0EC-A67D2D7B2539}" destId="{54949287-C873-4C9B-AD96-4FE44B0AFF65}" srcOrd="1" destOrd="0" presId="urn:microsoft.com/office/officeart/2005/8/layout/venn1"/>
    <dgm:cxn modelId="{065F2A0E-7C36-45CB-978F-B77D4D2C5B36}" type="presOf" srcId="{3EF73032-1F89-4657-A0EC-A67D2D7B2539}" destId="{A0A85A9C-EB60-450D-B3A4-A1FA25535773}" srcOrd="0" destOrd="0" presId="urn:microsoft.com/office/officeart/2005/8/layout/venn1"/>
    <dgm:cxn modelId="{7FF55E35-CD90-40BB-8ED7-EB94C9C65E97}" type="presOf" srcId="{074829A9-6E30-4BC6-A62A-30BEF75900C4}" destId="{EE40A2ED-148F-4ED4-BB23-AD4907BF65DF}" srcOrd="0" destOrd="0" presId="urn:microsoft.com/office/officeart/2005/8/layout/venn1"/>
    <dgm:cxn modelId="{782C5660-74B1-4F40-B990-72771C2978CC}" type="presOf" srcId="{9C99F91A-5866-45EC-AB26-8BAD873CEF58}" destId="{E5F7C6FD-9F57-4A09-A155-F4652A833841}" srcOrd="1" destOrd="0" presId="urn:microsoft.com/office/officeart/2005/8/layout/venn1"/>
    <dgm:cxn modelId="{3FD8F96B-E047-460B-BF2D-BE2E628CF455}" type="presOf" srcId="{06445682-1332-40F5-83FE-B24E075FF5DE}" destId="{04005B32-0D3A-4F97-AD44-B7B5484ECE04}" srcOrd="0" destOrd="0" presId="urn:microsoft.com/office/officeart/2005/8/layout/venn1"/>
    <dgm:cxn modelId="{53CF1A71-43ED-4875-AFF2-1A04F2D4C474}" srcId="{06445682-1332-40F5-83FE-B24E075FF5DE}" destId="{3EF73032-1F89-4657-A0EC-A67D2D7B2539}" srcOrd="2" destOrd="0" parTransId="{21D8734E-201B-4CBD-AB9E-112D221A5477}" sibTransId="{41A46EC2-7BDA-401E-A67D-BB459432FA62}"/>
    <dgm:cxn modelId="{2C803356-2FBC-4DC1-9A89-7C601FF67E7D}" type="presOf" srcId="{074829A9-6E30-4BC6-A62A-30BEF75900C4}" destId="{4401C46D-0FE7-4D5E-BDF6-C3D6B1F1ED7E}" srcOrd="1" destOrd="0" presId="urn:microsoft.com/office/officeart/2005/8/layout/venn1"/>
    <dgm:cxn modelId="{0D4A14A8-5772-4E0C-BDA1-B79AF577CEE1}" srcId="{06445682-1332-40F5-83FE-B24E075FF5DE}" destId="{9C99F91A-5866-45EC-AB26-8BAD873CEF58}" srcOrd="0" destOrd="0" parTransId="{9170F260-613E-4827-8AC8-F4C9F24F1737}" sibTransId="{87AA9370-1FFB-4752-B291-6CDD41FD1C75}"/>
    <dgm:cxn modelId="{0D5E81EF-2B1B-4C16-8484-C5D2439955FC}" type="presOf" srcId="{9C99F91A-5866-45EC-AB26-8BAD873CEF58}" destId="{8ACC2357-A403-4095-B79A-928912410028}" srcOrd="0" destOrd="0" presId="urn:microsoft.com/office/officeart/2005/8/layout/venn1"/>
    <dgm:cxn modelId="{5D4F9FFA-4BDF-4E95-B9D5-F75F16A28717}" srcId="{06445682-1332-40F5-83FE-B24E075FF5DE}" destId="{074829A9-6E30-4BC6-A62A-30BEF75900C4}" srcOrd="1" destOrd="0" parTransId="{59AA8593-B842-49FD-8081-9819E1D7FD00}" sibTransId="{CD2AEC1A-25CB-4795-BF78-8DF39BA2AC0E}"/>
    <dgm:cxn modelId="{669DB315-C777-44A4-80C5-F3496D65942E}" type="presParOf" srcId="{04005B32-0D3A-4F97-AD44-B7B5484ECE04}" destId="{8ACC2357-A403-4095-B79A-928912410028}" srcOrd="0" destOrd="0" presId="urn:microsoft.com/office/officeart/2005/8/layout/venn1"/>
    <dgm:cxn modelId="{B22A9324-474A-4B42-89C5-035B4EA04C46}" type="presParOf" srcId="{04005B32-0D3A-4F97-AD44-B7B5484ECE04}" destId="{E5F7C6FD-9F57-4A09-A155-F4652A833841}" srcOrd="1" destOrd="0" presId="urn:microsoft.com/office/officeart/2005/8/layout/venn1"/>
    <dgm:cxn modelId="{4C9FA6B2-4818-4C59-8EF2-AE0570D7F3FA}" type="presParOf" srcId="{04005B32-0D3A-4F97-AD44-B7B5484ECE04}" destId="{EE40A2ED-148F-4ED4-BB23-AD4907BF65DF}" srcOrd="2" destOrd="0" presId="urn:microsoft.com/office/officeart/2005/8/layout/venn1"/>
    <dgm:cxn modelId="{FE7C277B-DB3E-4A0B-82F1-5465F2353619}" type="presParOf" srcId="{04005B32-0D3A-4F97-AD44-B7B5484ECE04}" destId="{4401C46D-0FE7-4D5E-BDF6-C3D6B1F1ED7E}" srcOrd="3" destOrd="0" presId="urn:microsoft.com/office/officeart/2005/8/layout/venn1"/>
    <dgm:cxn modelId="{CA5406E5-B8C2-4096-9454-DEB72D1A54D3}" type="presParOf" srcId="{04005B32-0D3A-4F97-AD44-B7B5484ECE04}" destId="{A0A85A9C-EB60-450D-B3A4-A1FA25535773}" srcOrd="4" destOrd="0" presId="urn:microsoft.com/office/officeart/2005/8/layout/venn1"/>
    <dgm:cxn modelId="{3063E046-D540-4FC2-B734-E26A7FA2E7D1}" type="presParOf" srcId="{04005B32-0D3A-4F97-AD44-B7B5484ECE04}" destId="{54949287-C873-4C9B-AD96-4FE44B0AFF65}"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CC2357-A403-4095-B79A-928912410028}">
      <dsp:nvSpPr>
        <dsp:cNvPr id="0" name=""/>
        <dsp:cNvSpPr/>
      </dsp:nvSpPr>
      <dsp:spPr>
        <a:xfrm>
          <a:off x="880965" y="26300"/>
          <a:ext cx="1262404" cy="1262404"/>
        </a:xfrm>
        <a:prstGeom prst="ellipse">
          <a:avLst/>
        </a:prstGeom>
        <a:gradFill rotWithShape="0">
          <a:gsLst>
            <a:gs pos="0">
              <a:schemeClr val="accent5">
                <a:alpha val="50000"/>
                <a:hueOff val="0"/>
                <a:satOff val="0"/>
                <a:lumOff val="0"/>
                <a:alphaOff val="0"/>
                <a:tint val="50000"/>
                <a:satMod val="300000"/>
              </a:schemeClr>
            </a:gs>
            <a:gs pos="35000">
              <a:schemeClr val="accent5">
                <a:alpha val="50000"/>
                <a:hueOff val="0"/>
                <a:satOff val="0"/>
                <a:lumOff val="0"/>
                <a:alphaOff val="0"/>
                <a:tint val="37000"/>
                <a:satMod val="300000"/>
              </a:schemeClr>
            </a:gs>
            <a:gs pos="100000">
              <a:schemeClr val="accent5">
                <a:alpha val="50000"/>
                <a:hueOff val="0"/>
                <a:satOff val="0"/>
                <a:lumOff val="0"/>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US" sz="1200" kern="1200" dirty="0"/>
            <a:t>life</a:t>
          </a:r>
          <a:endParaRPr lang="en-GB" sz="1200" kern="1200" dirty="0"/>
        </a:p>
      </dsp:txBody>
      <dsp:txXfrm>
        <a:off x="1049286" y="247220"/>
        <a:ext cx="925763" cy="568082"/>
      </dsp:txXfrm>
    </dsp:sp>
    <dsp:sp modelId="{EE40A2ED-148F-4ED4-BB23-AD4907BF65DF}">
      <dsp:nvSpPr>
        <dsp:cNvPr id="0" name=""/>
        <dsp:cNvSpPr/>
      </dsp:nvSpPr>
      <dsp:spPr>
        <a:xfrm>
          <a:off x="1336483" y="815303"/>
          <a:ext cx="1262404" cy="1262404"/>
        </a:xfrm>
        <a:prstGeom prst="ellipse">
          <a:avLst/>
        </a:prstGeom>
        <a:gradFill rotWithShape="0">
          <a:gsLst>
            <a:gs pos="0">
              <a:schemeClr val="accent5">
                <a:alpha val="50000"/>
                <a:hueOff val="-4966938"/>
                <a:satOff val="19906"/>
                <a:lumOff val="4314"/>
                <a:alphaOff val="0"/>
                <a:tint val="50000"/>
                <a:satMod val="300000"/>
              </a:schemeClr>
            </a:gs>
            <a:gs pos="35000">
              <a:schemeClr val="accent5">
                <a:alpha val="50000"/>
                <a:hueOff val="-4966938"/>
                <a:satOff val="19906"/>
                <a:lumOff val="4314"/>
                <a:alphaOff val="0"/>
                <a:tint val="37000"/>
                <a:satMod val="300000"/>
              </a:schemeClr>
            </a:gs>
            <a:gs pos="100000">
              <a:schemeClr val="accent5">
                <a:alpha val="50000"/>
                <a:hueOff val="-4966938"/>
                <a:satOff val="19906"/>
                <a:lumOff val="4314"/>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US" sz="1200" kern="1200" dirty="0"/>
            <a:t>everything</a:t>
          </a:r>
          <a:endParaRPr lang="en-GB" sz="1200" kern="1200" dirty="0"/>
        </a:p>
      </dsp:txBody>
      <dsp:txXfrm>
        <a:off x="1722568" y="1141424"/>
        <a:ext cx="757442" cy="694322"/>
      </dsp:txXfrm>
    </dsp:sp>
    <dsp:sp modelId="{A0A85A9C-EB60-450D-B3A4-A1FA25535773}">
      <dsp:nvSpPr>
        <dsp:cNvPr id="0" name=""/>
        <dsp:cNvSpPr/>
      </dsp:nvSpPr>
      <dsp:spPr>
        <a:xfrm>
          <a:off x="425447" y="815303"/>
          <a:ext cx="1262404" cy="1262404"/>
        </a:xfrm>
        <a:prstGeom prst="ellipse">
          <a:avLst/>
        </a:prstGeom>
        <a:gradFill rotWithShape="0">
          <a:gsLst>
            <a:gs pos="0">
              <a:schemeClr val="accent5">
                <a:alpha val="50000"/>
                <a:hueOff val="-9933876"/>
                <a:satOff val="39811"/>
                <a:lumOff val="8628"/>
                <a:alphaOff val="0"/>
                <a:tint val="50000"/>
                <a:satMod val="300000"/>
              </a:schemeClr>
            </a:gs>
            <a:gs pos="35000">
              <a:schemeClr val="accent5">
                <a:alpha val="50000"/>
                <a:hueOff val="-9933876"/>
                <a:satOff val="39811"/>
                <a:lumOff val="8628"/>
                <a:alphaOff val="0"/>
                <a:tint val="37000"/>
                <a:satMod val="300000"/>
              </a:schemeClr>
            </a:gs>
            <a:gs pos="100000">
              <a:schemeClr val="accent5">
                <a:alpha val="50000"/>
                <a:hueOff val="-9933876"/>
                <a:satOff val="39811"/>
                <a:lumOff val="8628"/>
                <a:alphaOff val="0"/>
                <a:tint val="15000"/>
                <a:satMod val="350000"/>
              </a:schemeClr>
            </a:gs>
          </a:gsLst>
          <a:lin ang="16200000" scaled="1"/>
        </a:gradFill>
        <a:ln>
          <a:noFill/>
        </a:ln>
        <a:effectLst/>
        <a:scene3d>
          <a:camera prst="orthographicFront"/>
          <a:lightRig rig="flat" dir="t"/>
        </a:scene3d>
        <a:sp3d prstMaterial="dkEdge">
          <a:bevelT w="8200" h="38100"/>
        </a:sp3d>
      </dsp:spPr>
      <dsp:style>
        <a:lnRef idx="0">
          <a:scrgbClr r="0" g="0" b="0"/>
        </a:lnRef>
        <a:fillRef idx="2">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US" sz="1200" kern="1200" dirty="0"/>
            <a:t>universe</a:t>
          </a:r>
          <a:endParaRPr lang="en-GB" sz="1200" kern="1200" dirty="0"/>
        </a:p>
      </dsp:txBody>
      <dsp:txXfrm>
        <a:off x="544324" y="1141424"/>
        <a:ext cx="757442" cy="694322"/>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en-US"/>
          </a:p>
        </p:txBody>
      </p:sp>
      <p:sp>
        <p:nvSpPr>
          <p:cNvPr id="3" name="מציין מיקום של תאריך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CEBD65CB-48E8-480E-A0E5-0F4F671C7C4B}" type="datetimeFigureOut">
              <a:rPr lang="en-US" smtClean="0"/>
              <a:pPr/>
              <a:t>8/9/2023</a:t>
            </a:fld>
            <a:endParaRPr lang="en-US"/>
          </a:p>
        </p:txBody>
      </p:sp>
      <p:sp>
        <p:nvSpPr>
          <p:cNvPr id="4" name="מציין מיקום של תמונת שקופית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en-US"/>
          </a:p>
        </p:txBody>
      </p:sp>
      <p:sp>
        <p:nvSpPr>
          <p:cNvPr id="5" name="מציין מיקום של הערות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6" name="מציין מיקום של כותרת תחתונה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en-US"/>
          </a:p>
        </p:txBody>
      </p:sp>
      <p:sp>
        <p:nvSpPr>
          <p:cNvPr id="7" name="מציין מיקום של מספר שקופית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5763812F-8A06-48A8-8436-7483109B6D13}" type="slidenum">
              <a:rPr lang="en-US" smtClean="0"/>
              <a:pPr/>
              <a:t>‹#›</a:t>
            </a:fld>
            <a:endParaRPr lang="en-US"/>
          </a:p>
        </p:txBody>
      </p:sp>
    </p:spTree>
    <p:extLst>
      <p:ext uri="{BB962C8B-B14F-4D97-AF65-F5344CB8AC3E}">
        <p14:creationId xmlns:p14="http://schemas.microsoft.com/office/powerpoint/2010/main" val="2223403819"/>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normAutofit/>
          </a:bodyPr>
          <a:lstStyle/>
          <a:p>
            <a:r>
              <a:rPr lang="he-IL" dirty="0"/>
              <a:t>3 ניסיונות </a:t>
            </a:r>
            <a:r>
              <a:rPr lang="he-IL" dirty="0" err="1"/>
              <a:t>ברנולי</a:t>
            </a:r>
            <a:r>
              <a:rPr lang="he-IL" baseline="0" dirty="0"/>
              <a:t> </a:t>
            </a:r>
            <a:r>
              <a:rPr lang="he-IL" baseline="0" dirty="0" err="1"/>
              <a:t>ב"ת</a:t>
            </a:r>
            <a:endParaRPr lang="en-US" dirty="0"/>
          </a:p>
        </p:txBody>
      </p:sp>
      <p:sp>
        <p:nvSpPr>
          <p:cNvPr id="4" name="מציין מיקום של מספר שקופית 3"/>
          <p:cNvSpPr>
            <a:spLocks noGrp="1"/>
          </p:cNvSpPr>
          <p:nvPr>
            <p:ph type="sldNum" sz="quarter" idx="10"/>
          </p:nvPr>
        </p:nvSpPr>
        <p:spPr/>
        <p:txBody>
          <a:bodyPr/>
          <a:lstStyle/>
          <a:p>
            <a:fld id="{5763812F-8A06-48A8-8436-7483109B6D13}" type="slidenum">
              <a:rPr lang="en-US" smtClean="0"/>
              <a:pPr/>
              <a:t>14</a:t>
            </a:fld>
            <a:endParaRPr lang="en-US"/>
          </a:p>
        </p:txBody>
      </p:sp>
    </p:spTree>
    <p:extLst>
      <p:ext uri="{BB962C8B-B14F-4D97-AF65-F5344CB8AC3E}">
        <p14:creationId xmlns:p14="http://schemas.microsoft.com/office/powerpoint/2010/main" val="384070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a:t>לחץ כדי לערוך סגנון כותרת של תבנית בסיס</a:t>
            </a:r>
            <a:endParaRPr lang="en-US"/>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8/9/2023</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hasCustomPrompt="1"/>
          </p:nvPr>
        </p:nvSpPr>
        <p:spPr>
          <a:xfrm>
            <a:off x="457200" y="274638"/>
            <a:ext cx="8229600" cy="994122"/>
          </a:xfrm>
        </p:spPr>
        <p:txBody>
          <a:bodyPr anchor="t">
            <a:normAutofit/>
          </a:bodyPr>
          <a:lstStyle>
            <a:lvl1pPr algn="r">
              <a:defRPr sz="2800" b="1" u="sng"/>
            </a:lvl1pPr>
          </a:lstStyle>
          <a:p>
            <a:r>
              <a:rPr lang="he-IL" dirty="0"/>
              <a:t>לחץ כדי לערוך סגנון כותרת של תבנית בסיס</a:t>
            </a:r>
            <a:br>
              <a:rPr lang="he-IL" dirty="0"/>
            </a:br>
            <a:endParaRPr lang="en-US" dirty="0"/>
          </a:p>
        </p:txBody>
      </p:sp>
      <p:sp>
        <p:nvSpPr>
          <p:cNvPr id="3" name="מציין מיקום תוכן 2"/>
          <p:cNvSpPr>
            <a:spLocks noGrp="1"/>
          </p:cNvSpPr>
          <p:nvPr>
            <p:ph idx="1"/>
          </p:nvPr>
        </p:nvSpPr>
        <p:spPr>
          <a:xfrm>
            <a:off x="457200" y="1268760"/>
            <a:ext cx="8229600" cy="5087591"/>
          </a:xfrm>
        </p:spPr>
        <p:txBody>
          <a:bodyPr>
            <a:normAutofit/>
          </a:bodyPr>
          <a:lstStyle>
            <a:lvl1pPr>
              <a:lnSpc>
                <a:spcPct val="150000"/>
              </a:lnSpc>
              <a:defRPr sz="2600"/>
            </a:lvl1pPr>
            <a:lvl2pPr>
              <a:lnSpc>
                <a:spcPct val="150000"/>
              </a:lnSpc>
              <a:defRPr sz="2600"/>
            </a:lvl2pPr>
            <a:lvl3pPr>
              <a:lnSpc>
                <a:spcPct val="150000"/>
              </a:lnSpc>
              <a:defRPr sz="2600"/>
            </a:lvl3pPr>
            <a:lvl4pPr>
              <a:lnSpc>
                <a:spcPct val="150000"/>
              </a:lnSpc>
              <a:defRPr sz="2600"/>
            </a:lvl4pPr>
            <a:lvl5pPr>
              <a:lnSpc>
                <a:spcPct val="150000"/>
              </a:lnSpc>
              <a:defRPr sz="2600"/>
            </a:lvl5pPr>
          </a:lstStyle>
          <a:p>
            <a:pPr lvl="0"/>
            <a:r>
              <a:rPr lang="he-IL" dirty="0"/>
              <a:t>לחץ כדי לערוך סגנונות טקסט של תבנית בסיס</a:t>
            </a:r>
          </a:p>
          <a:p>
            <a:pPr lvl="1"/>
            <a:r>
              <a:rPr lang="he-IL" dirty="0"/>
              <a:t>רמה שנייה</a:t>
            </a:r>
          </a:p>
          <a:p>
            <a:pPr lvl="2"/>
            <a:r>
              <a:rPr lang="he-IL" dirty="0"/>
              <a:t>רמה שלישית</a:t>
            </a:r>
          </a:p>
          <a:p>
            <a:pPr lvl="3"/>
            <a:r>
              <a:rPr lang="he-IL" dirty="0"/>
              <a:t>רמה רביעית</a:t>
            </a:r>
          </a:p>
          <a:p>
            <a:pPr lvl="4"/>
            <a:r>
              <a:rPr lang="he-IL" dirty="0"/>
              <a:t>רמה חמישית</a:t>
            </a:r>
            <a:endParaRPr lang="en-US" dirty="0"/>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8/9/2023</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a:t>לחץ כדי לערוך סגנון כותרת של תבנית בסיס</a:t>
            </a:r>
            <a:endParaRPr lang="en-US"/>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8/9/2023</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5" name="מציין מיקום של תאריך 4"/>
          <p:cNvSpPr>
            <a:spLocks noGrp="1"/>
          </p:cNvSpPr>
          <p:nvPr>
            <p:ph type="dt" sz="half" idx="10"/>
          </p:nvPr>
        </p:nvSpPr>
        <p:spPr/>
        <p:txBody>
          <a:bodyPr/>
          <a:lstStyle/>
          <a:p>
            <a:fld id="{33537C78-363E-4A5D-BEBD-B88A33B7E228}" type="datetimeFigureOut">
              <a:rPr lang="en-US" smtClean="0"/>
              <a:pPr/>
              <a:t>8/9/2023</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a:t>לחץ כדי לערוך סגנון כותרת של תבנית בסיס</a:t>
            </a:r>
            <a:endParaRPr lang="en-US"/>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7" name="מציין מיקום של תאריך 6"/>
          <p:cNvSpPr>
            <a:spLocks noGrp="1"/>
          </p:cNvSpPr>
          <p:nvPr>
            <p:ph type="dt" sz="half" idx="10"/>
          </p:nvPr>
        </p:nvSpPr>
        <p:spPr/>
        <p:txBody>
          <a:bodyPr/>
          <a:lstStyle/>
          <a:p>
            <a:fld id="{33537C78-363E-4A5D-BEBD-B88A33B7E228}" type="datetimeFigureOut">
              <a:rPr lang="en-US" smtClean="0"/>
              <a:pPr/>
              <a:t>8/9/2023</a:t>
            </a:fld>
            <a:endParaRPr lang="en-US"/>
          </a:p>
        </p:txBody>
      </p:sp>
      <p:sp>
        <p:nvSpPr>
          <p:cNvPr id="8" name="מציין מיקום של כותרת תחתונה 7"/>
          <p:cNvSpPr>
            <a:spLocks noGrp="1"/>
          </p:cNvSpPr>
          <p:nvPr>
            <p:ph type="ftr" sz="quarter" idx="11"/>
          </p:nvPr>
        </p:nvSpPr>
        <p:spPr/>
        <p:txBody>
          <a:bodyPr/>
          <a:lstStyle/>
          <a:p>
            <a:endParaRPr lang="en-US"/>
          </a:p>
        </p:txBody>
      </p:sp>
      <p:sp>
        <p:nvSpPr>
          <p:cNvPr id="9" name="מציין מיקום של מספר שקופית 8"/>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8"/>
            <a:ext cx="8229600" cy="5890666"/>
          </a:xfrm>
        </p:spPr>
        <p:txBody>
          <a:bodyPr anchor="t">
            <a:normAutofit/>
          </a:bodyPr>
          <a:lstStyle>
            <a:lvl1pPr algn="r">
              <a:defRPr sz="2800" b="1"/>
            </a:lvl1pPr>
          </a:lstStyle>
          <a:p>
            <a:r>
              <a:rPr lang="he-IL" dirty="0"/>
              <a:t>לחץ כדי לערוך סגנון כותרת של תבנית בסיס</a:t>
            </a:r>
            <a:endParaRPr lang="en-US" dirty="0"/>
          </a:p>
        </p:txBody>
      </p:sp>
      <p:sp>
        <p:nvSpPr>
          <p:cNvPr id="3" name="מציין מיקום של תאריך 2"/>
          <p:cNvSpPr>
            <a:spLocks noGrp="1"/>
          </p:cNvSpPr>
          <p:nvPr>
            <p:ph type="dt" sz="half" idx="10"/>
          </p:nvPr>
        </p:nvSpPr>
        <p:spPr/>
        <p:txBody>
          <a:bodyPr/>
          <a:lstStyle/>
          <a:p>
            <a:fld id="{33537C78-363E-4A5D-BEBD-B88A33B7E228}" type="datetimeFigureOut">
              <a:rPr lang="en-US" smtClean="0"/>
              <a:pPr/>
              <a:t>8/9/2023</a:t>
            </a:fld>
            <a:endParaRPr lang="en-US"/>
          </a:p>
        </p:txBody>
      </p:sp>
      <p:sp>
        <p:nvSpPr>
          <p:cNvPr id="4" name="מציין מיקום של כותרת תחתונה 3"/>
          <p:cNvSpPr>
            <a:spLocks noGrp="1"/>
          </p:cNvSpPr>
          <p:nvPr>
            <p:ph type="ftr" sz="quarter" idx="11"/>
          </p:nvPr>
        </p:nvSpPr>
        <p:spPr/>
        <p:txBody>
          <a:bodyPr/>
          <a:lstStyle/>
          <a:p>
            <a:endParaRPr lang="en-US"/>
          </a:p>
        </p:txBody>
      </p:sp>
      <p:sp>
        <p:nvSpPr>
          <p:cNvPr id="5" name="מציין מיקום של מספר שקופית 4"/>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3537C78-363E-4A5D-BEBD-B88A33B7E228}" type="datetimeFigureOut">
              <a:rPr lang="en-US" smtClean="0"/>
              <a:pPr/>
              <a:t>8/9/2023</a:t>
            </a:fld>
            <a:endParaRPr lang="en-US"/>
          </a:p>
        </p:txBody>
      </p:sp>
      <p:sp>
        <p:nvSpPr>
          <p:cNvPr id="3" name="מציין מיקום של כותרת תחתונה 2"/>
          <p:cNvSpPr>
            <a:spLocks noGrp="1"/>
          </p:cNvSpPr>
          <p:nvPr>
            <p:ph type="ftr" sz="quarter" idx="11"/>
          </p:nvPr>
        </p:nvSpPr>
        <p:spPr/>
        <p:txBody>
          <a:bodyPr/>
          <a:lstStyle/>
          <a:p>
            <a:endParaRPr lang="en-US"/>
          </a:p>
        </p:txBody>
      </p:sp>
      <p:sp>
        <p:nvSpPr>
          <p:cNvPr id="4" name="מציין מיקום של מספר שקופית 3"/>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a:t>לחץ כדי לערוך סגנון כותרת של תבנית בסיס</a:t>
            </a:r>
            <a:endParaRPr lang="en-US"/>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3537C78-363E-4A5D-BEBD-B88A33B7E228}" type="datetimeFigureOut">
              <a:rPr lang="en-US" smtClean="0"/>
              <a:pPr/>
              <a:t>8/9/2023</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a:t>לחץ כדי לערוך סגנון כותרת של תבנית בסיס</a:t>
            </a:r>
            <a:endParaRPr lang="en-US"/>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3537C78-363E-4A5D-BEBD-B88A33B7E228}" type="datetimeFigureOut">
              <a:rPr lang="en-US" smtClean="0"/>
              <a:pPr/>
              <a:t>8/9/2023</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8/9/2023</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a:t>לחץ כדי לערוך סגנון כותרת של תבנית בסיס</a:t>
            </a:r>
            <a:endParaRPr lang="en-US"/>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8/9/2023</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dirty="0"/>
              <a:t>לחץ כדי לערוך סגנון כותרת של תבנית בסיס</a:t>
            </a:r>
            <a:endParaRPr lang="en-US" dirty="0"/>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33537C78-363E-4A5D-BEBD-B88A33B7E228}" type="datetimeFigureOut">
              <a:rPr lang="en-US" smtClean="0"/>
              <a:pPr/>
              <a:t>8/9/2023</a:t>
            </a:fld>
            <a:endParaRPr lang="en-US"/>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705051C5-77F0-490C-8AFB-03AE9C3F43D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2.wmf"/><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oleObject" Target="../embeddings/oleObject1.bin"/><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wmf"/><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oleObject" Target="../embeddings/oleObject2.bin"/><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16.wmf"/><Relationship Id="rId7" Type="http://schemas.openxmlformats.org/officeDocument/2006/relationships/image" Target="../media/image18.wmf"/><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5" Type="http://schemas.openxmlformats.org/officeDocument/2006/relationships/image" Target="../media/image17.wmf"/><Relationship Id="rId4" Type="http://schemas.openxmlformats.org/officeDocument/2006/relationships/oleObject" Target="../embeddings/oleObject4.bin"/><Relationship Id="rId9" Type="http://schemas.openxmlformats.org/officeDocument/2006/relationships/image" Target="../media/image19.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683568" y="836712"/>
            <a:ext cx="7772400" cy="1470025"/>
          </a:xfrm>
        </p:spPr>
        <p:txBody>
          <a:bodyPr>
            <a:normAutofit fontScale="90000"/>
          </a:bodyPr>
          <a:lstStyle/>
          <a:p>
            <a:r>
              <a:rPr lang="he-IL" sz="5200" b="1" u="sng" dirty="0">
                <a:solidFill>
                  <a:schemeClr val="accent4"/>
                </a:solidFill>
                <a:latin typeface="Tahoma" pitchFamily="34" charset="0"/>
                <a:cs typeface="Tahoma" pitchFamily="34" charset="0"/>
              </a:rPr>
              <a:t>מבוא לסטטיסטיקה והסתברות</a:t>
            </a:r>
            <a:endParaRPr lang="en-US" sz="5200" b="1" u="sng" dirty="0">
              <a:solidFill>
                <a:schemeClr val="accent4"/>
              </a:solidFill>
              <a:latin typeface="Tahoma" pitchFamily="34" charset="0"/>
              <a:cs typeface="Tahoma" pitchFamily="34" charset="0"/>
            </a:endParaRPr>
          </a:p>
        </p:txBody>
      </p:sp>
      <p:sp>
        <p:nvSpPr>
          <p:cNvPr id="3" name="כותרת משנה 2"/>
          <p:cNvSpPr>
            <a:spLocks noGrp="1"/>
          </p:cNvSpPr>
          <p:nvPr>
            <p:ph type="subTitle" idx="1"/>
          </p:nvPr>
        </p:nvSpPr>
        <p:spPr>
          <a:xfrm>
            <a:off x="1331640" y="2900536"/>
            <a:ext cx="6400800" cy="1752600"/>
          </a:xfrm>
        </p:spPr>
        <p:txBody>
          <a:bodyPr>
            <a:normAutofit/>
          </a:bodyPr>
          <a:lstStyle/>
          <a:p>
            <a:r>
              <a:rPr lang="he-IL" sz="3600" b="1" dirty="0">
                <a:solidFill>
                  <a:schemeClr val="tx1"/>
                </a:solidFill>
                <a:latin typeface="Tahoma" pitchFamily="34" charset="0"/>
                <a:cs typeface="Tahoma" pitchFamily="34" charset="0"/>
              </a:rPr>
              <a:t>תרגיל </a:t>
            </a:r>
            <a:r>
              <a:rPr lang="en-US" sz="3600" b="1" dirty="0">
                <a:solidFill>
                  <a:schemeClr val="tx1"/>
                </a:solidFill>
                <a:latin typeface="Tahoma" pitchFamily="34" charset="0"/>
                <a:cs typeface="Tahoma" pitchFamily="34" charset="0"/>
              </a:rPr>
              <a:t>04</a:t>
            </a:r>
          </a:p>
        </p:txBody>
      </p:sp>
      <p:graphicFrame>
        <p:nvGraphicFramePr>
          <p:cNvPr id="4" name="Diagram 3"/>
          <p:cNvGraphicFramePr/>
          <p:nvPr>
            <p:extLst>
              <p:ext uri="{D42A27DB-BD31-4B8C-83A1-F6EECF244321}">
                <p14:modId xmlns:p14="http://schemas.microsoft.com/office/powerpoint/2010/main" val="84916625"/>
              </p:ext>
            </p:extLst>
          </p:nvPr>
        </p:nvGraphicFramePr>
        <p:xfrm>
          <a:off x="2987824" y="4221088"/>
          <a:ext cx="3024336" cy="21040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p:cNvSpPr txBox="1"/>
          <p:nvPr/>
        </p:nvSpPr>
        <p:spPr>
          <a:xfrm>
            <a:off x="4311961" y="5241171"/>
            <a:ext cx="360040" cy="276999"/>
          </a:xfrm>
          <a:prstGeom prst="rect">
            <a:avLst/>
          </a:prstGeom>
          <a:noFill/>
        </p:spPr>
        <p:txBody>
          <a:bodyPr wrap="square" rtlCol="0">
            <a:spAutoFit/>
          </a:bodyPr>
          <a:lstStyle/>
          <a:p>
            <a:r>
              <a:rPr lang="en-US" sz="1200" dirty="0"/>
              <a:t>42</a:t>
            </a:r>
            <a:endParaRPr lang="en-GB"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0" y="44624"/>
            <a:ext cx="9144000" cy="6126163"/>
          </a:xfrm>
        </p:spPr>
        <p:txBody>
          <a:bodyPr>
            <a:noAutofit/>
          </a:bodyPr>
          <a:lstStyle/>
          <a:p>
            <a:pPr marL="0" indent="0">
              <a:lnSpc>
                <a:spcPct val="170000"/>
              </a:lnSpc>
              <a:buNone/>
            </a:pPr>
            <a:r>
              <a:rPr lang="he-IL" b="1" u="sng" dirty="0"/>
              <a:t>שאלה 1</a:t>
            </a:r>
            <a:endParaRPr lang="he-IL" dirty="0"/>
          </a:p>
          <a:p>
            <a:pPr marL="0" indent="0">
              <a:lnSpc>
                <a:spcPct val="170000"/>
              </a:lnSpc>
              <a:buNone/>
            </a:pPr>
            <a:r>
              <a:rPr lang="he-IL" altLang="en-US" sz="2000" dirty="0"/>
              <a:t>נתון כי 30%</a:t>
            </a:r>
            <a:r>
              <a:rPr lang="en-US" altLang="en-US" sz="2000" dirty="0">
                <a:cs typeface="David" panose="020E0502060401010101" pitchFamily="34" charset="-79"/>
              </a:rPr>
              <a:t> </a:t>
            </a:r>
            <a:r>
              <a:rPr lang="he-IL" altLang="en-US" sz="2000" dirty="0"/>
              <a:t>מהאוכלוסייה הבוגרת נוטלים ויטמינים בבוקר, 65% נוטלים ויטמינים בערב ו 20% נוטלים גם בבוקר וגם בערב.</a:t>
            </a:r>
          </a:p>
          <a:p>
            <a:pPr marL="0" indent="0">
              <a:buNone/>
            </a:pPr>
            <a:r>
              <a:rPr lang="he-IL" altLang="en-US" sz="2000" dirty="0"/>
              <a:t>נבחר אדם באופן אקראי מן האוכלוסייה. מה ההסתברות שהוא:</a:t>
            </a:r>
          </a:p>
          <a:p>
            <a:pPr>
              <a:buNone/>
            </a:pPr>
            <a:r>
              <a:rPr lang="he-IL" altLang="en-US" sz="2000" dirty="0"/>
              <a:t>א. נוטל ויטמינים רק בבוקר?</a:t>
            </a:r>
          </a:p>
          <a:p>
            <a:pPr>
              <a:buNone/>
            </a:pPr>
            <a:r>
              <a:rPr lang="he-IL" altLang="en-US" sz="2000" dirty="0"/>
              <a:t>ב. נוטל ויטמינים רק פעם ביום?</a:t>
            </a:r>
          </a:p>
          <a:p>
            <a:pPr>
              <a:buNone/>
            </a:pPr>
            <a:r>
              <a:rPr lang="he-IL" altLang="en-US" sz="2000" dirty="0"/>
              <a:t>ג. נוטל ויטמינים לפחות פעם אחת ביום?</a:t>
            </a:r>
          </a:p>
          <a:p>
            <a:pPr>
              <a:buNone/>
            </a:pPr>
            <a:r>
              <a:rPr lang="he-IL" altLang="en-US" sz="2000" dirty="0"/>
              <a:t>ד;. לא נוטל ויטמינים כלל?</a:t>
            </a:r>
          </a:p>
        </p:txBody>
      </p:sp>
      <p:sp>
        <p:nvSpPr>
          <p:cNvPr id="2191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28183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שאלה 2</a:t>
            </a:r>
            <a:br>
              <a:rPr lang="he-IL" dirty="0"/>
            </a:br>
            <a:endParaRPr lang="en-GB" dirty="0"/>
          </a:p>
        </p:txBody>
      </p:sp>
      <p:sp>
        <p:nvSpPr>
          <p:cNvPr id="3" name="מציין מיקום תוכן 2"/>
          <p:cNvSpPr>
            <a:spLocks noGrp="1"/>
          </p:cNvSpPr>
          <p:nvPr>
            <p:ph idx="1"/>
          </p:nvPr>
        </p:nvSpPr>
        <p:spPr>
          <a:xfrm>
            <a:off x="457200" y="836712"/>
            <a:ext cx="8229600" cy="5087591"/>
          </a:xfrm>
        </p:spPr>
        <p:txBody>
          <a:bodyPr>
            <a:noAutofit/>
          </a:bodyPr>
          <a:lstStyle/>
          <a:p>
            <a:pPr marL="0" indent="0">
              <a:spcBef>
                <a:spcPct val="0"/>
              </a:spcBef>
              <a:buNone/>
            </a:pPr>
            <a:r>
              <a:rPr lang="he-IL" altLang="en-US" dirty="0">
                <a:latin typeface="Arial" panose="020B0604020202020204" pitchFamily="34" charset="0"/>
                <a:cs typeface="Arial" panose="020B0604020202020204" pitchFamily="34" charset="0"/>
              </a:rPr>
              <a:t>ידוע שבאוכלוסייה יש 20% דוברי אמת. 95% מדוברי אמת עוברים בהצלחה את מבחני הפוליגרף. מתוך קבוצת דוברי השקר, רק 10% עוברים את מבחן הפוליגרף.</a:t>
            </a:r>
            <a:endParaRPr lang="en-US" altLang="en-US" dirty="0">
              <a:latin typeface="Arial" panose="020B0604020202020204" pitchFamily="34" charset="0"/>
              <a:cs typeface="Arial" panose="020B0604020202020204" pitchFamily="34" charset="0"/>
            </a:endParaRPr>
          </a:p>
          <a:p>
            <a:pPr>
              <a:spcBef>
                <a:spcPct val="0"/>
              </a:spcBef>
              <a:buNone/>
            </a:pPr>
            <a:r>
              <a:rPr lang="he-IL" altLang="en-US" dirty="0">
                <a:latin typeface="Arial" panose="020B0604020202020204" pitchFamily="34" charset="0"/>
                <a:cs typeface="Arial" panose="020B0604020202020204" pitchFamily="34" charset="0"/>
              </a:rPr>
              <a:t>א. בהינתן שחשוד נכשל במבחן הפוליגרף, מה הסיכוי שהוא דובר אמת?</a:t>
            </a:r>
            <a:endParaRPr lang="en-US" altLang="en-US" dirty="0">
              <a:latin typeface="Arial" panose="020B0604020202020204" pitchFamily="34" charset="0"/>
              <a:cs typeface="Arial" panose="020B0604020202020204" pitchFamily="34" charset="0"/>
            </a:endParaRPr>
          </a:p>
          <a:p>
            <a:pPr>
              <a:spcBef>
                <a:spcPct val="0"/>
              </a:spcBef>
              <a:buNone/>
            </a:pPr>
            <a:r>
              <a:rPr lang="he-IL" altLang="en-US" dirty="0">
                <a:latin typeface="Arial" panose="020B0604020202020204" pitchFamily="34" charset="0"/>
                <a:cs typeface="Arial" panose="020B0604020202020204" pitchFamily="34" charset="0"/>
              </a:rPr>
              <a:t>ב. בהינתן שחשוד עבר במבחן הפוליגרף, מה הסיכוי שהוא דובר אמת?</a:t>
            </a:r>
            <a:endParaRPr lang="en-US" altLang="en-US" dirty="0">
              <a:latin typeface="Arial" panose="020B0604020202020204" pitchFamily="34" charset="0"/>
              <a:cs typeface="Arial" panose="020B0604020202020204" pitchFamily="34" charset="0"/>
            </a:endParaRPr>
          </a:p>
          <a:p>
            <a:pPr marL="0" indent="0">
              <a:lnSpc>
                <a:spcPct val="150000"/>
              </a:lnSpc>
              <a:buNone/>
            </a:pPr>
            <a:endParaRPr lang="he-IL" dirty="0"/>
          </a:p>
        </p:txBody>
      </p:sp>
      <p:sp>
        <p:nvSpPr>
          <p:cNvPr id="2191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067359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p:cNvSpPr/>
          <p:nvPr/>
        </p:nvSpPr>
        <p:spPr>
          <a:xfrm>
            <a:off x="1547515" y="1098550"/>
            <a:ext cx="1584325" cy="4032250"/>
          </a:xfrm>
          <a:prstGeom prst="rect">
            <a:avLst/>
          </a:prstGeom>
          <a:pattFill prst="pct5">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he-I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rtl="1" eaLnBrk="1" hangingPunct="1">
              <a:defRPr/>
            </a:pPr>
            <a:endParaRPr lang="en-US">
              <a:solidFill>
                <a:prstClr val="white"/>
              </a:solidFill>
            </a:endParaRPr>
          </a:p>
        </p:txBody>
      </p:sp>
      <p:sp>
        <p:nvSpPr>
          <p:cNvPr id="53" name="Rectangle 52"/>
          <p:cNvSpPr/>
          <p:nvPr/>
        </p:nvSpPr>
        <p:spPr>
          <a:xfrm>
            <a:off x="3131840" y="1098550"/>
            <a:ext cx="4608512" cy="4032250"/>
          </a:xfrm>
          <a:prstGeom prst="rect">
            <a:avLst/>
          </a:prstGeom>
          <a:pattFill prst="divot">
            <a:fgClr>
              <a:schemeClr val="accent1"/>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he-I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rtl="1" eaLnBrk="1" hangingPunct="1">
              <a:defRPr/>
            </a:pPr>
            <a:endParaRPr lang="en-US">
              <a:solidFill>
                <a:prstClr val="white"/>
              </a:solidFill>
            </a:endParaRPr>
          </a:p>
        </p:txBody>
      </p:sp>
      <p:sp>
        <p:nvSpPr>
          <p:cNvPr id="55" name="Rectangle 54"/>
          <p:cNvSpPr/>
          <p:nvPr/>
        </p:nvSpPr>
        <p:spPr>
          <a:xfrm>
            <a:off x="1547515" y="1098550"/>
            <a:ext cx="6192837" cy="40322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he-I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rtl="1" eaLnBrk="1" hangingPunct="1">
              <a:defRPr/>
            </a:pPr>
            <a:endParaRPr lang="en-US">
              <a:solidFill>
                <a:prstClr val="white"/>
              </a:solidFill>
            </a:endParaRPr>
          </a:p>
        </p:txBody>
      </p:sp>
      <p:cxnSp>
        <p:nvCxnSpPr>
          <p:cNvPr id="56" name="Straight Connector 55"/>
          <p:cNvCxnSpPr/>
          <p:nvPr/>
        </p:nvCxnSpPr>
        <p:spPr>
          <a:xfrm>
            <a:off x="3131840" y="1098550"/>
            <a:ext cx="0" cy="403225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1547515" y="1819275"/>
            <a:ext cx="1584325" cy="0"/>
          </a:xfrm>
          <a:prstGeom prst="line">
            <a:avLst/>
          </a:prstGeom>
          <a:ln w="28575" cmpd="sng"/>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3131840" y="4338638"/>
            <a:ext cx="4608512"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9" name="TextBox 11"/>
          <p:cNvSpPr txBox="1">
            <a:spLocks noChangeArrowheads="1"/>
          </p:cNvSpPr>
          <p:nvPr/>
        </p:nvSpPr>
        <p:spPr bwMode="auto">
          <a:xfrm>
            <a:off x="4932065" y="1449388"/>
            <a:ext cx="1295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he-IL"/>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spcBef>
                <a:spcPct val="0"/>
              </a:spcBef>
              <a:buClrTx/>
              <a:buSzTx/>
              <a:buFontTx/>
              <a:buNone/>
            </a:pPr>
            <a:r>
              <a:rPr lang="he-IL" altLang="en-US" sz="1800">
                <a:solidFill>
                  <a:srgbClr val="FF0000"/>
                </a:solidFill>
                <a:latin typeface="Arial" panose="020B0604020202020204" pitchFamily="34" charset="0"/>
                <a:cs typeface="Arial" panose="020B0604020202020204" pitchFamily="34" charset="0"/>
              </a:rPr>
              <a:t>720 נכשלו</a:t>
            </a:r>
            <a:endParaRPr lang="en-US" altLang="en-US" sz="1800">
              <a:solidFill>
                <a:srgbClr val="FF0000"/>
              </a:solidFill>
              <a:latin typeface="Arial" panose="020B0604020202020204" pitchFamily="34" charset="0"/>
              <a:cs typeface="Arial" panose="020B0604020202020204" pitchFamily="34" charset="0"/>
            </a:endParaRPr>
          </a:p>
        </p:txBody>
      </p:sp>
      <p:sp>
        <p:nvSpPr>
          <p:cNvPr id="60" name="TextBox 12"/>
          <p:cNvSpPr txBox="1">
            <a:spLocks noChangeArrowheads="1"/>
          </p:cNvSpPr>
          <p:nvPr/>
        </p:nvSpPr>
        <p:spPr bwMode="auto">
          <a:xfrm>
            <a:off x="4787602" y="4554538"/>
            <a:ext cx="12969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he-IL"/>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spcBef>
                <a:spcPct val="0"/>
              </a:spcBef>
              <a:buClrTx/>
              <a:buSzTx/>
              <a:buFontTx/>
              <a:buNone/>
            </a:pPr>
            <a:r>
              <a:rPr lang="he-IL" altLang="en-US" sz="1800">
                <a:solidFill>
                  <a:srgbClr val="FF0000"/>
                </a:solidFill>
                <a:latin typeface="Arial" panose="020B0604020202020204" pitchFamily="34" charset="0"/>
                <a:cs typeface="Arial" panose="020B0604020202020204" pitchFamily="34" charset="0"/>
              </a:rPr>
              <a:t>80 עברו</a:t>
            </a:r>
            <a:endParaRPr lang="en-US" altLang="en-US" sz="1800">
              <a:solidFill>
                <a:srgbClr val="FF0000"/>
              </a:solidFill>
              <a:latin typeface="Arial" panose="020B0604020202020204" pitchFamily="34" charset="0"/>
              <a:cs typeface="Arial" panose="020B0604020202020204" pitchFamily="34" charset="0"/>
            </a:endParaRPr>
          </a:p>
        </p:txBody>
      </p:sp>
      <p:sp>
        <p:nvSpPr>
          <p:cNvPr id="61" name="TextBox 16"/>
          <p:cNvSpPr txBox="1">
            <a:spLocks noChangeArrowheads="1"/>
          </p:cNvSpPr>
          <p:nvPr/>
        </p:nvSpPr>
        <p:spPr bwMode="auto">
          <a:xfrm>
            <a:off x="1691977" y="1311275"/>
            <a:ext cx="1295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he-IL"/>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r>
              <a:rPr lang="he-IL">
                <a:solidFill>
                  <a:srgbClr val="0076A3"/>
                </a:solidFill>
              </a:rPr>
              <a:t>10 נכשלו</a:t>
            </a:r>
            <a:endParaRPr lang="en-US">
              <a:solidFill>
                <a:srgbClr val="0076A3"/>
              </a:solidFill>
            </a:endParaRPr>
          </a:p>
        </p:txBody>
      </p:sp>
      <p:sp>
        <p:nvSpPr>
          <p:cNvPr id="62" name="TextBox 17"/>
          <p:cNvSpPr txBox="1">
            <a:spLocks noChangeArrowheads="1"/>
          </p:cNvSpPr>
          <p:nvPr/>
        </p:nvSpPr>
        <p:spPr bwMode="auto">
          <a:xfrm>
            <a:off x="1691977" y="4338638"/>
            <a:ext cx="1295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he-IL"/>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eaLnBrk="1" hangingPunct="1"/>
            <a:r>
              <a:rPr lang="he-IL">
                <a:solidFill>
                  <a:srgbClr val="0076A3"/>
                </a:solidFill>
              </a:rPr>
              <a:t>190 עברו</a:t>
            </a:r>
            <a:endParaRPr lang="en-US">
              <a:solidFill>
                <a:srgbClr val="0076A3"/>
              </a:solidFill>
            </a:endParaRPr>
          </a:p>
        </p:txBody>
      </p:sp>
      <p:sp>
        <p:nvSpPr>
          <p:cNvPr id="63" name="TextBox 18"/>
          <p:cNvSpPr txBox="1">
            <a:spLocks noChangeArrowheads="1"/>
          </p:cNvSpPr>
          <p:nvPr/>
        </p:nvSpPr>
        <p:spPr bwMode="auto">
          <a:xfrm>
            <a:off x="4068465" y="2863850"/>
            <a:ext cx="23749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he-IL"/>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spcBef>
                <a:spcPct val="0"/>
              </a:spcBef>
              <a:buClrTx/>
              <a:buSzTx/>
              <a:buFontTx/>
              <a:buNone/>
            </a:pPr>
            <a:r>
              <a:rPr lang="he-IL" altLang="en-US" sz="1800">
                <a:solidFill>
                  <a:srgbClr val="FF0000"/>
                </a:solidFill>
                <a:latin typeface="Arial" panose="020B0604020202020204" pitchFamily="34" charset="0"/>
                <a:cs typeface="Arial" panose="020B0604020202020204" pitchFamily="34" charset="0"/>
              </a:rPr>
              <a:t>800 דוברי שקר</a:t>
            </a:r>
            <a:endParaRPr lang="en-US" altLang="en-US" sz="1800">
              <a:solidFill>
                <a:srgbClr val="FF0000"/>
              </a:solidFill>
              <a:latin typeface="Arial" panose="020B0604020202020204" pitchFamily="34" charset="0"/>
              <a:cs typeface="Arial" panose="020B0604020202020204" pitchFamily="34" charset="0"/>
            </a:endParaRPr>
          </a:p>
        </p:txBody>
      </p:sp>
      <p:sp>
        <p:nvSpPr>
          <p:cNvPr id="64" name="TextBox 19"/>
          <p:cNvSpPr txBox="1">
            <a:spLocks noChangeArrowheads="1"/>
          </p:cNvSpPr>
          <p:nvPr/>
        </p:nvSpPr>
        <p:spPr bwMode="auto">
          <a:xfrm>
            <a:off x="1691977" y="2790825"/>
            <a:ext cx="12954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he-IL"/>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eaLnBrk="1" hangingPunct="1"/>
            <a:r>
              <a:rPr lang="he-IL">
                <a:solidFill>
                  <a:srgbClr val="0076A3"/>
                </a:solidFill>
              </a:rPr>
              <a:t>200 דוברי אמת</a:t>
            </a:r>
            <a:endParaRPr lang="en-US">
              <a:solidFill>
                <a:srgbClr val="0076A3"/>
              </a:solidFill>
            </a:endParaRPr>
          </a:p>
        </p:txBody>
      </p:sp>
      <p:sp>
        <p:nvSpPr>
          <p:cNvPr id="65" name="Oval 64"/>
          <p:cNvSpPr/>
          <p:nvPr/>
        </p:nvSpPr>
        <p:spPr>
          <a:xfrm>
            <a:off x="3950979" y="2725738"/>
            <a:ext cx="1944687" cy="646112"/>
          </a:xfrm>
          <a:prstGeom prst="ellipse">
            <a:avLst/>
          </a:prstGeom>
          <a:solidFill>
            <a:schemeClr val="bg2">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he-I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rtl="1" eaLnBrk="1" hangingPunct="1">
              <a:defRPr/>
            </a:pPr>
            <a:endParaRPr lang="en-US">
              <a:solidFill>
                <a:prstClr val="white"/>
              </a:solidFill>
            </a:endParaRPr>
          </a:p>
        </p:txBody>
      </p:sp>
      <p:sp>
        <p:nvSpPr>
          <p:cNvPr id="66" name="Oval 65"/>
          <p:cNvSpPr/>
          <p:nvPr/>
        </p:nvSpPr>
        <p:spPr>
          <a:xfrm>
            <a:off x="1690837" y="2779713"/>
            <a:ext cx="1296987" cy="647700"/>
          </a:xfrm>
          <a:prstGeom prst="ellipse">
            <a:avLst/>
          </a:prstGeom>
          <a:solidFill>
            <a:schemeClr val="bg2">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he-I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rtl="1" eaLnBrk="1" hangingPunct="1">
              <a:defRPr/>
            </a:pPr>
            <a:endParaRPr lang="en-US" dirty="0">
              <a:solidFill>
                <a:prstClr val="white"/>
              </a:solidFill>
            </a:endParaRPr>
          </a:p>
        </p:txBody>
      </p:sp>
      <p:pic>
        <p:nvPicPr>
          <p:cNvPr id="67" name="Picture 6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93857" y="279417"/>
            <a:ext cx="11366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 name="Rectangle 67"/>
          <p:cNvSpPr/>
          <p:nvPr/>
        </p:nvSpPr>
        <p:spPr>
          <a:xfrm>
            <a:off x="395536" y="5301208"/>
            <a:ext cx="8352928" cy="646331"/>
          </a:xfrm>
          <a:prstGeom prst="rect">
            <a:avLst/>
          </a:prstGeom>
        </p:spPr>
        <p:txBody>
          <a:bodyPr wrap="square">
            <a:spAutoFit/>
          </a:bodyPr>
          <a:lstStyle/>
          <a:p>
            <a:pPr>
              <a:spcBef>
                <a:spcPct val="0"/>
              </a:spcBef>
            </a:pPr>
            <a:r>
              <a:rPr lang="he-IL" altLang="en-US" dirty="0">
                <a:solidFill>
                  <a:srgbClr val="000000"/>
                </a:solidFill>
                <a:latin typeface="Arial" panose="020B0604020202020204" pitchFamily="34" charset="0"/>
                <a:cs typeface="Arial" panose="020B0604020202020204" pitchFamily="34" charset="0"/>
              </a:rPr>
              <a:t>א. מספר הנכשלים בבדיקה הינו 730, מתוכם 10 דוברי אמת ולכן הסיכוי הוא</a:t>
            </a:r>
            <a:r>
              <a:rPr lang="en-US" altLang="en-US" dirty="0">
                <a:solidFill>
                  <a:srgbClr val="000000"/>
                </a:solidFill>
                <a:latin typeface="Arial" panose="020B0604020202020204" pitchFamily="34" charset="0"/>
                <a:cs typeface="Arial" panose="020B0604020202020204" pitchFamily="34" charset="0"/>
              </a:rPr>
              <a:t> </a:t>
            </a:r>
            <a:r>
              <a:rPr lang="he-IL" altLang="en-US" dirty="0">
                <a:solidFill>
                  <a:srgbClr val="000000"/>
                </a:solidFill>
                <a:latin typeface="Arial" panose="020B0604020202020204" pitchFamily="34" charset="0"/>
                <a:cs typeface="Arial" panose="020B0604020202020204" pitchFamily="34" charset="0"/>
              </a:rPr>
              <a:t>0.0137</a:t>
            </a:r>
            <a:r>
              <a:rPr lang="en-US" altLang="en-US" dirty="0">
                <a:solidFill>
                  <a:srgbClr val="000000"/>
                </a:solidFill>
                <a:latin typeface="Arial" panose="020B0604020202020204" pitchFamily="34" charset="0"/>
                <a:cs typeface="Arial" panose="020B0604020202020204" pitchFamily="34" charset="0"/>
              </a:rPr>
              <a:t>=</a:t>
            </a:r>
            <a:r>
              <a:rPr lang="he-IL" altLang="en-US" dirty="0">
                <a:solidFill>
                  <a:srgbClr val="000000"/>
                </a:solidFill>
                <a:latin typeface="Arial" panose="020B0604020202020204" pitchFamily="34" charset="0"/>
                <a:cs typeface="Arial" panose="020B0604020202020204" pitchFamily="34" charset="0"/>
              </a:rPr>
              <a:t>10/730.</a:t>
            </a:r>
            <a:endParaRPr lang="en-US" altLang="en-US" dirty="0">
              <a:solidFill>
                <a:srgbClr val="000000"/>
              </a:solidFill>
              <a:latin typeface="Arial" panose="020B0604020202020204" pitchFamily="34" charset="0"/>
              <a:cs typeface="Arial" panose="020B0604020202020204" pitchFamily="34" charset="0"/>
            </a:endParaRPr>
          </a:p>
        </p:txBody>
      </p:sp>
      <p:sp>
        <p:nvSpPr>
          <p:cNvPr id="69" name="Rectangle 68"/>
          <p:cNvSpPr/>
          <p:nvPr/>
        </p:nvSpPr>
        <p:spPr>
          <a:xfrm>
            <a:off x="107504" y="5965607"/>
            <a:ext cx="8640960" cy="646331"/>
          </a:xfrm>
          <a:prstGeom prst="rect">
            <a:avLst/>
          </a:prstGeom>
        </p:spPr>
        <p:txBody>
          <a:bodyPr wrap="square">
            <a:spAutoFit/>
          </a:bodyPr>
          <a:lstStyle/>
          <a:p>
            <a:r>
              <a:rPr lang="he-IL" altLang="en-US" dirty="0">
                <a:solidFill>
                  <a:srgbClr val="000000"/>
                </a:solidFill>
                <a:latin typeface="Arial" panose="020B0604020202020204" pitchFamily="34" charset="0"/>
                <a:cs typeface="Arial" panose="020B0604020202020204" pitchFamily="34" charset="0"/>
              </a:rPr>
              <a:t>ב. מספר העוברים את הבדיקה הינו 270, מתוכם 190 דוברי אמת ולכן הסיכוי הוא  </a:t>
            </a:r>
            <a:r>
              <a:rPr lang="en-US" altLang="en-US" dirty="0">
                <a:solidFill>
                  <a:srgbClr val="000000"/>
                </a:solidFill>
                <a:latin typeface="Arial" panose="020B0604020202020204" pitchFamily="34" charset="0"/>
                <a:cs typeface="Arial" panose="020B0604020202020204" pitchFamily="34" charset="0"/>
              </a:rPr>
              <a:t>190/270=0.704</a:t>
            </a:r>
            <a:endParaRPr lang="en-GB" dirty="0"/>
          </a:p>
        </p:txBody>
      </p:sp>
    </p:spTree>
    <p:extLst>
      <p:ext uri="{BB962C8B-B14F-4D97-AF65-F5344CB8AC3E}">
        <p14:creationId xmlns:p14="http://schemas.microsoft.com/office/powerpoint/2010/main" val="2195728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Title 1"/>
          <p:cNvSpPr txBox="1">
            <a:spLocks/>
          </p:cNvSpPr>
          <p:nvPr/>
        </p:nvSpPr>
        <p:spPr bwMode="auto">
          <a:xfrm>
            <a:off x="539750" y="661988"/>
            <a:ext cx="82296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bIns="0" anchor="b"/>
          <a:lstStyle>
            <a:lvl1pPr algn="r" rtl="1">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cs typeface="David" panose="020E0502060401010101" pitchFamily="34" charset="-79"/>
              </a:defRPr>
            </a:lvl1pPr>
            <a:lvl2pPr marL="742950" indent="-285750" algn="r" rtl="1">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cs typeface="David" panose="020E0502060401010101" pitchFamily="34" charset="-79"/>
              </a:defRPr>
            </a:lvl2pPr>
            <a:lvl3pPr marL="1143000" indent="-228600" algn="r" rtl="1">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cs typeface="David" panose="020E0502060401010101" pitchFamily="34" charset="-79"/>
              </a:defRPr>
            </a:lvl3pPr>
            <a:lvl4pPr marL="1600200" indent="-228600" algn="r" rtl="1">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4pPr>
            <a:lvl5pPr marL="2057400" indent="-228600" algn="r" rtl="1">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5pPr>
            <a:lvl6pPr marL="25146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6pPr>
            <a:lvl7pPr marL="29718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7pPr>
            <a:lvl8pPr marL="34290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8pPr>
            <a:lvl9pPr marL="38862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9pPr>
          </a:lstStyle>
          <a:p>
            <a:pPr algn="ctr" eaLnBrk="1" hangingPunct="1">
              <a:spcBef>
                <a:spcPct val="0"/>
              </a:spcBef>
              <a:buClrTx/>
              <a:buSzTx/>
              <a:buFontTx/>
              <a:buNone/>
            </a:pPr>
            <a:r>
              <a:rPr lang="he-IL" altLang="en-US" sz="5000">
                <a:solidFill>
                  <a:schemeClr val="tx2"/>
                </a:solidFill>
                <a:latin typeface="Calibri" panose="020F0502020204030204" pitchFamily="34" charset="0"/>
                <a:cs typeface="Arial" panose="020B0604020202020204" pitchFamily="34" charset="0"/>
              </a:rPr>
              <a:t>פתרון בעזרת עץ:</a:t>
            </a:r>
          </a:p>
        </p:txBody>
      </p:sp>
      <p:graphicFrame>
        <p:nvGraphicFramePr>
          <p:cNvPr id="20483" name="Object 25"/>
          <p:cNvGraphicFramePr>
            <a:graphicFrameLocks noChangeAspect="1"/>
          </p:cNvGraphicFramePr>
          <p:nvPr/>
        </p:nvGraphicFramePr>
        <p:xfrm>
          <a:off x="1719263" y="2225675"/>
          <a:ext cx="368300" cy="482600"/>
        </p:xfrm>
        <a:graphic>
          <a:graphicData uri="http://schemas.openxmlformats.org/presentationml/2006/ole">
            <mc:AlternateContent xmlns:mc="http://schemas.openxmlformats.org/markup-compatibility/2006">
              <mc:Choice xmlns:v="urn:schemas-microsoft-com:vml" Requires="v">
                <p:oleObj name="Equation" r:id="rId2" imgW="152268" imgH="203024" progId="">
                  <p:embed/>
                </p:oleObj>
              </mc:Choice>
              <mc:Fallback>
                <p:oleObj name="Equation" r:id="rId2" imgW="152268" imgH="203024" progId="">
                  <p:embed/>
                  <p:pic>
                    <p:nvPicPr>
                      <p:cNvPr id="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9263" y="2225675"/>
                        <a:ext cx="36830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4" name="Rectangle 31"/>
          <p:cNvSpPr>
            <a:spLocks noChangeArrowheads="1"/>
          </p:cNvSpPr>
          <p:nvPr/>
        </p:nvSpPr>
        <p:spPr bwMode="auto">
          <a:xfrm>
            <a:off x="1365250" y="1825625"/>
            <a:ext cx="7542213"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r" rtl="1">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cs typeface="David" panose="020E0502060401010101" pitchFamily="34" charset="-79"/>
              </a:defRPr>
            </a:lvl1pPr>
            <a:lvl2pPr marL="742950" indent="-285750" algn="r" rtl="1">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cs typeface="David" panose="020E0502060401010101" pitchFamily="34" charset="-79"/>
              </a:defRPr>
            </a:lvl2pPr>
            <a:lvl3pPr marL="1143000" indent="-228600" algn="r" rtl="1">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cs typeface="David" panose="020E0502060401010101" pitchFamily="34" charset="-79"/>
              </a:defRPr>
            </a:lvl3pPr>
            <a:lvl4pPr marL="1600200" indent="-228600" algn="r" rtl="1">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4pPr>
            <a:lvl5pPr marL="2057400" indent="-228600" algn="r" rtl="1">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5pPr>
            <a:lvl6pPr marL="25146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6pPr>
            <a:lvl7pPr marL="29718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7pPr>
            <a:lvl8pPr marL="34290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8pPr>
            <a:lvl9pPr marL="38862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9pPr>
          </a:lstStyle>
          <a:p>
            <a:pPr>
              <a:spcBef>
                <a:spcPct val="0"/>
              </a:spcBef>
              <a:buClrTx/>
              <a:buSzTx/>
              <a:buFontTx/>
              <a:buNone/>
            </a:pPr>
            <a:r>
              <a:rPr lang="he-IL" altLang="en-US">
                <a:latin typeface="Tahoma" panose="020B0604030504040204" pitchFamily="34" charset="0"/>
                <a:cs typeface="Times New Roman" panose="02020603050405020304" pitchFamily="18" charset="0"/>
              </a:rPr>
              <a:t>נגדיר: מאורע </a:t>
            </a:r>
            <a:r>
              <a:rPr lang="en-US" altLang="en-US">
                <a:latin typeface="Tahoma" panose="020B0604030504040204" pitchFamily="34" charset="0"/>
                <a:cs typeface="Times New Roman" panose="02020603050405020304" pitchFamily="18" charset="0"/>
              </a:rPr>
              <a:t>A </a:t>
            </a:r>
            <a:r>
              <a:rPr lang="en-US" altLang="en-US">
                <a:latin typeface="Arial" panose="020B0604020202020204" pitchFamily="34" charset="0"/>
                <a:cs typeface="Times New Roman" panose="02020603050405020304" pitchFamily="18" charset="0"/>
              </a:rPr>
              <a:t>–</a:t>
            </a:r>
            <a:r>
              <a:rPr lang="he-IL" altLang="en-US">
                <a:latin typeface="Tahoma" panose="020B0604030504040204" pitchFamily="34" charset="0"/>
                <a:cs typeface="Times New Roman" panose="02020603050405020304" pitchFamily="18" charset="0"/>
              </a:rPr>
              <a:t> החשוד דובר אמת (החשוד משקר יסומן      )</a:t>
            </a:r>
          </a:p>
          <a:p>
            <a:pPr>
              <a:spcBef>
                <a:spcPct val="0"/>
              </a:spcBef>
              <a:buClrTx/>
              <a:buSzTx/>
              <a:buFontTx/>
              <a:buNone/>
            </a:pPr>
            <a:r>
              <a:rPr lang="he-IL" altLang="en-US" sz="2800" b="1">
                <a:latin typeface="Tahoma" panose="020B0604030504040204" pitchFamily="34" charset="0"/>
                <a:cs typeface="Times New Roman" panose="02020603050405020304" pitchFamily="18" charset="0"/>
              </a:rPr>
              <a:t>        </a:t>
            </a:r>
            <a:r>
              <a:rPr lang="he-IL" altLang="en-US">
                <a:latin typeface="Tahoma" panose="020B0604030504040204" pitchFamily="34" charset="0"/>
                <a:cs typeface="Times New Roman" panose="02020603050405020304" pitchFamily="18" charset="0"/>
              </a:rPr>
              <a:t>מאורע </a:t>
            </a:r>
            <a:r>
              <a:rPr lang="en-US" altLang="en-US">
                <a:latin typeface="Tahoma" panose="020B0604030504040204" pitchFamily="34" charset="0"/>
                <a:cs typeface="Times New Roman" panose="02020603050405020304" pitchFamily="18" charset="0"/>
              </a:rPr>
              <a:t>B </a:t>
            </a:r>
            <a:r>
              <a:rPr lang="en-US" altLang="en-US">
                <a:latin typeface="Arial" panose="020B0604020202020204" pitchFamily="34" charset="0"/>
                <a:cs typeface="Times New Roman" panose="02020603050405020304" pitchFamily="18" charset="0"/>
              </a:rPr>
              <a:t>–</a:t>
            </a:r>
            <a:r>
              <a:rPr lang="he-IL" altLang="en-US">
                <a:latin typeface="Tahoma" panose="020B0604030504040204" pitchFamily="34" charset="0"/>
                <a:cs typeface="Times New Roman" panose="02020603050405020304" pitchFamily="18" charset="0"/>
              </a:rPr>
              <a:t> החשוד עבר את המבחן (חשוד נכשל יסומן      )</a:t>
            </a:r>
            <a:endParaRPr lang="he-IL" altLang="en-US">
              <a:latin typeface="Arial" panose="020B0604020202020204" pitchFamily="34" charset="0"/>
              <a:cs typeface="Arial" panose="020B0604020202020204" pitchFamily="34" charset="0"/>
            </a:endParaRPr>
          </a:p>
        </p:txBody>
      </p:sp>
      <p:graphicFrame>
        <p:nvGraphicFramePr>
          <p:cNvPr id="20485" name="Object 30"/>
          <p:cNvGraphicFramePr>
            <a:graphicFrameLocks noChangeAspect="1"/>
          </p:cNvGraphicFramePr>
          <p:nvPr/>
        </p:nvGraphicFramePr>
        <p:xfrm>
          <a:off x="1928813" y="1870075"/>
          <a:ext cx="317500" cy="417513"/>
        </p:xfrm>
        <a:graphic>
          <a:graphicData uri="http://schemas.openxmlformats.org/presentationml/2006/ole">
            <mc:AlternateContent xmlns:mc="http://schemas.openxmlformats.org/markup-compatibility/2006">
              <mc:Choice xmlns:v="urn:schemas-microsoft-com:vml" Requires="v">
                <p:oleObj name="Equation" r:id="rId4" imgW="152268" imgH="203024" progId="">
                  <p:embed/>
                </p:oleObj>
              </mc:Choice>
              <mc:Fallback>
                <p:oleObj name="Equation" r:id="rId4" imgW="152268" imgH="203024" progId="">
                  <p:embed/>
                  <p:pic>
                    <p:nvPicPr>
                      <p:cNvPr id="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28813" y="1870075"/>
                        <a:ext cx="317500"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86" name="Rectangle 53"/>
          <p:cNvSpPr>
            <a:spLocks noChangeArrowheads="1"/>
          </p:cNvSpPr>
          <p:nvPr/>
        </p:nvSpPr>
        <p:spPr bwMode="auto">
          <a:xfrm>
            <a:off x="5800725" y="2841625"/>
            <a:ext cx="3316288"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r" rtl="1">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cs typeface="David" panose="020E0502060401010101" pitchFamily="34" charset="-79"/>
              </a:defRPr>
            </a:lvl1pPr>
            <a:lvl2pPr marL="742950" indent="-285750" algn="r" rtl="1">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cs typeface="David" panose="020E0502060401010101" pitchFamily="34" charset="-79"/>
              </a:defRPr>
            </a:lvl2pPr>
            <a:lvl3pPr marL="1143000" indent="-228600" algn="r" rtl="1">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cs typeface="David" panose="020E0502060401010101" pitchFamily="34" charset="-79"/>
              </a:defRPr>
            </a:lvl3pPr>
            <a:lvl4pPr marL="1600200" indent="-228600" algn="r" rtl="1">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4pPr>
            <a:lvl5pPr marL="2057400" indent="-228600" algn="r" rtl="1">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5pPr>
            <a:lvl6pPr marL="25146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6pPr>
            <a:lvl7pPr marL="29718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7pPr>
            <a:lvl8pPr marL="34290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8pPr>
            <a:lvl9pPr marL="38862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9pPr>
          </a:lstStyle>
          <a:p>
            <a:pPr>
              <a:spcBef>
                <a:spcPct val="0"/>
              </a:spcBef>
              <a:buClrTx/>
              <a:buSzTx/>
              <a:buFontTx/>
              <a:buNone/>
            </a:pPr>
            <a:r>
              <a:rPr lang="he-IL" altLang="en-US">
                <a:latin typeface="Tahoma" panose="020B0604030504040204" pitchFamily="34" charset="0"/>
                <a:cs typeface="Times New Roman" panose="02020603050405020304" pitchFamily="18" charset="0"/>
              </a:rPr>
              <a:t>נסדר את הנתונים בעץ: </a:t>
            </a:r>
            <a:endParaRPr lang="en-US" altLang="en-US">
              <a:latin typeface="Arial" panose="020B0604020202020204" pitchFamily="34" charset="0"/>
              <a:cs typeface="Arial" panose="020B0604020202020204" pitchFamily="34" charset="0"/>
            </a:endParaRPr>
          </a:p>
          <a:p>
            <a:pPr rtl="0">
              <a:spcBef>
                <a:spcPct val="0"/>
              </a:spcBef>
              <a:buClrTx/>
              <a:buSzTx/>
              <a:buFontTx/>
              <a:buNone/>
            </a:pPr>
            <a:endParaRPr lang="en-US" altLang="en-US" sz="1800">
              <a:latin typeface="Arial" panose="020B0604020202020204" pitchFamily="34" charset="0"/>
              <a:cs typeface="Arial" panose="020B0604020202020204" pitchFamily="34" charset="0"/>
            </a:endParaRPr>
          </a:p>
        </p:txBody>
      </p:sp>
      <p:grpSp>
        <p:nvGrpSpPr>
          <p:cNvPr id="20487" name="Group 37"/>
          <p:cNvGrpSpPr>
            <a:grpSpLocks/>
          </p:cNvGrpSpPr>
          <p:nvPr/>
        </p:nvGrpSpPr>
        <p:grpSpPr bwMode="auto">
          <a:xfrm>
            <a:off x="1949450" y="3506788"/>
            <a:ext cx="4800600" cy="2811462"/>
            <a:chOff x="1620" y="4792"/>
            <a:chExt cx="7560" cy="4428"/>
          </a:xfrm>
        </p:grpSpPr>
        <p:sp>
          <p:nvSpPr>
            <p:cNvPr id="34" name="Text Box 52"/>
            <p:cNvSpPr txBox="1">
              <a:spLocks noRot="1" noChangeAspect="1" noMove="1" noResize="1" noEditPoints="1" noAdjustHandles="1" noChangeArrowheads="1" noChangeShapeType="1" noTextEdit="1"/>
            </p:cNvSpPr>
            <p:nvPr/>
          </p:nvSpPr>
          <p:spPr bwMode="auto">
            <a:xfrm>
              <a:off x="2030" y="7810"/>
              <a:ext cx="2880" cy="932"/>
            </a:xfrm>
            <a:prstGeom prst="rect">
              <a:avLst/>
            </a:prstGeom>
            <a:blipFill rotWithShape="1">
              <a:blip r:embed="rId6" cstate="print"/>
              <a:stretch>
                <a:fillRect t="-1031"/>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rtl="1" eaLnBrk="1" hangingPunct="1">
                <a:defRPr/>
              </a:pPr>
              <a:r>
                <a:rPr lang="en-US">
                  <a:noFill/>
                  <a:latin typeface="Arial" charset="0"/>
                  <a:cs typeface="Arial" charset="0"/>
                </a:rPr>
                <a:t> </a:t>
              </a:r>
            </a:p>
          </p:txBody>
        </p:sp>
        <p:sp>
          <p:nvSpPr>
            <p:cNvPr id="35" name="Text Box 51"/>
            <p:cNvSpPr txBox="1">
              <a:spLocks noRot="1" noChangeAspect="1" noMove="1" noResize="1" noEditPoints="1" noAdjustHandles="1" noChangeArrowheads="1" noChangeShapeType="1" noTextEdit="1"/>
            </p:cNvSpPr>
            <p:nvPr/>
          </p:nvSpPr>
          <p:spPr bwMode="auto">
            <a:xfrm>
              <a:off x="1980" y="5490"/>
              <a:ext cx="2880" cy="932"/>
            </a:xfrm>
            <a:prstGeom prst="rect">
              <a:avLst/>
            </a:prstGeom>
            <a:blipFill rotWithShape="1">
              <a:blip r:embed="rId7" cstate="print"/>
              <a:stretch>
                <a:fillRect t="-1031"/>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rtl="1" eaLnBrk="1" hangingPunct="1">
                <a:defRPr/>
              </a:pPr>
              <a:r>
                <a:rPr lang="en-US">
                  <a:noFill/>
                  <a:latin typeface="Arial" charset="0"/>
                  <a:cs typeface="Arial" charset="0"/>
                </a:rPr>
                <a:t> </a:t>
              </a:r>
            </a:p>
          </p:txBody>
        </p:sp>
        <p:grpSp>
          <p:nvGrpSpPr>
            <p:cNvPr id="20504" name="Group 48"/>
            <p:cNvGrpSpPr>
              <a:grpSpLocks/>
            </p:cNvGrpSpPr>
            <p:nvPr/>
          </p:nvGrpSpPr>
          <p:grpSpPr bwMode="auto">
            <a:xfrm rot="-5400000">
              <a:off x="2371" y="5206"/>
              <a:ext cx="2098" cy="3600"/>
              <a:chOff x="5040" y="864"/>
              <a:chExt cx="864" cy="576"/>
            </a:xfrm>
          </p:grpSpPr>
          <p:sp>
            <p:nvSpPr>
              <p:cNvPr id="20515" name="Line 50"/>
              <p:cNvSpPr>
                <a:spLocks noChangeShapeType="1"/>
              </p:cNvSpPr>
              <p:nvPr/>
            </p:nvSpPr>
            <p:spPr bwMode="auto">
              <a:xfrm flipH="1">
                <a:off x="5040" y="864"/>
                <a:ext cx="432" cy="5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0516" name="Line 49"/>
              <p:cNvSpPr>
                <a:spLocks noChangeShapeType="1"/>
              </p:cNvSpPr>
              <p:nvPr/>
            </p:nvSpPr>
            <p:spPr bwMode="auto">
              <a:xfrm>
                <a:off x="5472" y="864"/>
                <a:ext cx="432" cy="5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sp>
          <p:nvSpPr>
            <p:cNvPr id="37" name="Text Box 47"/>
            <p:cNvSpPr txBox="1">
              <a:spLocks noRot="1" noChangeAspect="1" noMove="1" noResize="1" noEditPoints="1" noAdjustHandles="1" noChangeArrowheads="1" noChangeShapeType="1" noTextEdit="1"/>
            </p:cNvSpPr>
            <p:nvPr/>
          </p:nvSpPr>
          <p:spPr bwMode="auto">
            <a:xfrm>
              <a:off x="5940" y="4792"/>
              <a:ext cx="2585" cy="699"/>
            </a:xfrm>
            <a:prstGeom prst="rect">
              <a:avLst/>
            </a:prstGeom>
            <a:blipFill rotWithShape="1">
              <a:blip r:embed="rId8" cstate="print"/>
              <a:stretch>
                <a:fillRect t="-1370"/>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rtl="1" eaLnBrk="1" hangingPunct="1">
                <a:defRPr/>
              </a:pPr>
              <a:r>
                <a:rPr lang="en-US">
                  <a:noFill/>
                  <a:latin typeface="Arial" charset="0"/>
                  <a:cs typeface="Arial" charset="0"/>
                </a:rPr>
                <a:t> </a:t>
              </a:r>
            </a:p>
          </p:txBody>
        </p:sp>
        <p:sp>
          <p:nvSpPr>
            <p:cNvPr id="38" name="Text Box 46"/>
            <p:cNvSpPr txBox="1">
              <a:spLocks noRot="1" noChangeAspect="1" noMove="1" noResize="1" noEditPoints="1" noAdjustHandles="1" noChangeArrowheads="1" noChangeShapeType="1" noTextEdit="1"/>
            </p:cNvSpPr>
            <p:nvPr/>
          </p:nvSpPr>
          <p:spPr bwMode="auto">
            <a:xfrm>
              <a:off x="5580" y="7123"/>
              <a:ext cx="2585" cy="699"/>
            </a:xfrm>
            <a:prstGeom prst="rect">
              <a:avLst/>
            </a:prstGeom>
            <a:blipFill rotWithShape="1">
              <a:blip r:embed="rId9" cstate="print"/>
              <a:stretch>
                <a:fillRect t="-1370"/>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rtl="1" eaLnBrk="1" hangingPunct="1">
                <a:defRPr/>
              </a:pPr>
              <a:r>
                <a:rPr lang="en-US">
                  <a:noFill/>
                  <a:latin typeface="Arial" charset="0"/>
                  <a:cs typeface="Arial" charset="0"/>
                </a:rPr>
                <a:t> </a:t>
              </a:r>
            </a:p>
          </p:txBody>
        </p:sp>
        <p:sp>
          <p:nvSpPr>
            <p:cNvPr id="39" name="Text Box 45"/>
            <p:cNvSpPr txBox="1">
              <a:spLocks noRot="1" noChangeAspect="1" noMove="1" noResize="1" noEditPoints="1" noAdjustHandles="1" noChangeArrowheads="1" noChangeShapeType="1" noTextEdit="1"/>
            </p:cNvSpPr>
            <p:nvPr/>
          </p:nvSpPr>
          <p:spPr bwMode="auto">
            <a:xfrm>
              <a:off x="5580" y="6423"/>
              <a:ext cx="2880" cy="700"/>
            </a:xfrm>
            <a:prstGeom prst="rect">
              <a:avLst/>
            </a:prstGeom>
            <a:blipFill rotWithShape="1">
              <a:blip r:embed="rId10" cstate="print"/>
              <a:stretch>
                <a:fillRect t="-1370" r="-333"/>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rtl="1" eaLnBrk="1" hangingPunct="1">
                <a:defRPr/>
              </a:pPr>
              <a:r>
                <a:rPr lang="en-US">
                  <a:noFill/>
                  <a:latin typeface="Arial" charset="0"/>
                  <a:cs typeface="Arial" charset="0"/>
                </a:rPr>
                <a:t> </a:t>
              </a:r>
            </a:p>
          </p:txBody>
        </p:sp>
        <p:sp>
          <p:nvSpPr>
            <p:cNvPr id="40" name="Text Box 44"/>
            <p:cNvSpPr txBox="1">
              <a:spLocks noRot="1" noChangeAspect="1" noMove="1" noResize="1" noEditPoints="1" noAdjustHandles="1" noChangeArrowheads="1" noChangeShapeType="1" noTextEdit="1"/>
            </p:cNvSpPr>
            <p:nvPr/>
          </p:nvSpPr>
          <p:spPr bwMode="auto">
            <a:xfrm>
              <a:off x="5580" y="8521"/>
              <a:ext cx="2945" cy="699"/>
            </a:xfrm>
            <a:prstGeom prst="rect">
              <a:avLst/>
            </a:prstGeom>
            <a:blipFill rotWithShape="1">
              <a:blip r:embed="rId11" cstate="print"/>
              <a:stretch>
                <a:fillRect t="-1389" r="-326"/>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r" rtl="1" eaLnBrk="1" hangingPunct="1">
                <a:defRPr/>
              </a:pPr>
              <a:r>
                <a:rPr lang="en-US">
                  <a:noFill/>
                  <a:latin typeface="Arial" charset="0"/>
                  <a:cs typeface="Arial" charset="0"/>
                </a:rPr>
                <a:t> </a:t>
              </a:r>
            </a:p>
          </p:txBody>
        </p:sp>
        <p:grpSp>
          <p:nvGrpSpPr>
            <p:cNvPr id="20509" name="Group 41"/>
            <p:cNvGrpSpPr>
              <a:grpSpLocks/>
            </p:cNvGrpSpPr>
            <p:nvPr/>
          </p:nvGrpSpPr>
          <p:grpSpPr bwMode="auto">
            <a:xfrm rot="-5400000">
              <a:off x="6501" y="6075"/>
              <a:ext cx="1398" cy="3960"/>
              <a:chOff x="4464" y="1584"/>
              <a:chExt cx="864" cy="576"/>
            </a:xfrm>
          </p:grpSpPr>
          <p:sp>
            <p:nvSpPr>
              <p:cNvPr id="20513" name="Line 43"/>
              <p:cNvSpPr>
                <a:spLocks noChangeShapeType="1"/>
              </p:cNvSpPr>
              <p:nvPr/>
            </p:nvSpPr>
            <p:spPr bwMode="auto">
              <a:xfrm flipH="1">
                <a:off x="4464" y="1584"/>
                <a:ext cx="432" cy="5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0514" name="Line 42"/>
              <p:cNvSpPr>
                <a:spLocks noChangeShapeType="1"/>
              </p:cNvSpPr>
              <p:nvPr/>
            </p:nvSpPr>
            <p:spPr bwMode="auto">
              <a:xfrm>
                <a:off x="4896" y="1584"/>
                <a:ext cx="432" cy="5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grpSp>
          <p:nvGrpSpPr>
            <p:cNvPr id="20510" name="Group 38"/>
            <p:cNvGrpSpPr>
              <a:grpSpLocks/>
            </p:cNvGrpSpPr>
            <p:nvPr/>
          </p:nvGrpSpPr>
          <p:grpSpPr bwMode="auto">
            <a:xfrm rot="-5400000">
              <a:off x="6501" y="3977"/>
              <a:ext cx="1398" cy="3960"/>
              <a:chOff x="4464" y="1584"/>
              <a:chExt cx="864" cy="576"/>
            </a:xfrm>
          </p:grpSpPr>
          <p:sp>
            <p:nvSpPr>
              <p:cNvPr id="20511" name="Line 40"/>
              <p:cNvSpPr>
                <a:spLocks noChangeShapeType="1"/>
              </p:cNvSpPr>
              <p:nvPr/>
            </p:nvSpPr>
            <p:spPr bwMode="auto">
              <a:xfrm flipH="1">
                <a:off x="4464" y="1584"/>
                <a:ext cx="432" cy="5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20512" name="Line 39"/>
              <p:cNvSpPr>
                <a:spLocks noChangeShapeType="1"/>
              </p:cNvSpPr>
              <p:nvPr/>
            </p:nvSpPr>
            <p:spPr bwMode="auto">
              <a:xfrm>
                <a:off x="4896" y="1584"/>
                <a:ext cx="432" cy="576"/>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grpSp>
      </p:grpSp>
      <p:sp>
        <p:nvSpPr>
          <p:cNvPr id="20488" name="Rectangle 60"/>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r" rtl="1">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cs typeface="David" panose="020E0502060401010101" pitchFamily="34" charset="-79"/>
              </a:defRPr>
            </a:lvl1pPr>
            <a:lvl2pPr marL="742950" indent="-285750" algn="r" rtl="1">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cs typeface="David" panose="020E0502060401010101" pitchFamily="34" charset="-79"/>
              </a:defRPr>
            </a:lvl2pPr>
            <a:lvl3pPr marL="1143000" indent="-228600" algn="r" rtl="1">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cs typeface="David" panose="020E0502060401010101" pitchFamily="34" charset="-79"/>
              </a:defRPr>
            </a:lvl3pPr>
            <a:lvl4pPr marL="1600200" indent="-228600" algn="r" rtl="1">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4pPr>
            <a:lvl5pPr marL="2057400" indent="-228600" algn="r" rtl="1">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5pPr>
            <a:lvl6pPr marL="25146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6pPr>
            <a:lvl7pPr marL="29718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7pPr>
            <a:lvl8pPr marL="34290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8pPr>
            <a:lvl9pPr marL="38862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9pPr>
          </a:lstStyle>
          <a:p>
            <a:pPr>
              <a:spcBef>
                <a:spcPct val="0"/>
              </a:spcBef>
              <a:buClrTx/>
              <a:buSzTx/>
              <a:buFontTx/>
              <a:buNone/>
            </a:pPr>
            <a:endParaRPr lang="en-US" altLang="en-US" sz="1800">
              <a:latin typeface="Arial" panose="020B0604020202020204" pitchFamily="34" charset="0"/>
              <a:cs typeface="Arial" panose="020B0604020202020204" pitchFamily="34" charset="0"/>
            </a:endParaRPr>
          </a:p>
        </p:txBody>
      </p:sp>
      <p:sp>
        <p:nvSpPr>
          <p:cNvPr id="50" name="Oval 49"/>
          <p:cNvSpPr/>
          <p:nvPr/>
        </p:nvSpPr>
        <p:spPr>
          <a:xfrm>
            <a:off x="4006850" y="4025900"/>
            <a:ext cx="457200" cy="442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dirty="0"/>
          </a:p>
        </p:txBody>
      </p:sp>
      <p:sp>
        <p:nvSpPr>
          <p:cNvPr id="51" name="TextBox 50"/>
          <p:cNvSpPr txBox="1">
            <a:spLocks noRot="1" noChangeAspect="1" noMove="1" noResize="1" noEditPoints="1" noAdjustHandles="1" noChangeArrowheads="1" noChangeShapeType="1" noTextEdit="1"/>
          </p:cNvSpPr>
          <p:nvPr/>
        </p:nvSpPr>
        <p:spPr>
          <a:xfrm>
            <a:off x="4031684" y="4062249"/>
            <a:ext cx="432048" cy="369332"/>
          </a:xfrm>
          <a:prstGeom prst="rect">
            <a:avLst/>
          </a:prstGeom>
          <a:blipFill rotWithShape="1">
            <a:blip r:embed="rId12" cstate="print"/>
            <a:stretch>
              <a:fillRect/>
            </a:stretch>
          </a:blipFill>
        </p:spPr>
        <p:txBody>
          <a:bodyPr/>
          <a:lstStyle/>
          <a:p>
            <a:pPr algn="r" rtl="1" eaLnBrk="1" hangingPunct="1">
              <a:defRPr/>
            </a:pPr>
            <a:r>
              <a:rPr lang="en-US">
                <a:noFill/>
                <a:latin typeface="Arial" charset="0"/>
                <a:cs typeface="Arial" charset="0"/>
              </a:rPr>
              <a:t> </a:t>
            </a:r>
          </a:p>
        </p:txBody>
      </p:sp>
      <p:sp>
        <p:nvSpPr>
          <p:cNvPr id="54" name="Oval 53"/>
          <p:cNvSpPr/>
          <p:nvPr/>
        </p:nvSpPr>
        <p:spPr>
          <a:xfrm>
            <a:off x="4059238" y="5356225"/>
            <a:ext cx="457200" cy="444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dirty="0"/>
          </a:p>
        </p:txBody>
      </p:sp>
      <p:sp>
        <p:nvSpPr>
          <p:cNvPr id="55" name="TextBox 54"/>
          <p:cNvSpPr txBox="1">
            <a:spLocks noRot="1" noChangeAspect="1" noMove="1" noResize="1" noEditPoints="1" noAdjustHandles="1" noChangeArrowheads="1" noChangeShapeType="1" noTextEdit="1"/>
          </p:cNvSpPr>
          <p:nvPr/>
        </p:nvSpPr>
        <p:spPr>
          <a:xfrm>
            <a:off x="4085073" y="5393694"/>
            <a:ext cx="432048" cy="369909"/>
          </a:xfrm>
          <a:prstGeom prst="rect">
            <a:avLst/>
          </a:prstGeom>
          <a:blipFill rotWithShape="1">
            <a:blip r:embed="rId13" cstate="print"/>
            <a:stretch>
              <a:fillRect r="-30986"/>
            </a:stretch>
          </a:blipFill>
        </p:spPr>
        <p:txBody>
          <a:bodyPr/>
          <a:lstStyle/>
          <a:p>
            <a:pPr algn="r" rtl="1" eaLnBrk="1" hangingPunct="1">
              <a:defRPr/>
            </a:pPr>
            <a:r>
              <a:rPr lang="en-US">
                <a:noFill/>
                <a:latin typeface="Arial" charset="0"/>
                <a:cs typeface="Arial" charset="0"/>
              </a:rPr>
              <a:t> </a:t>
            </a:r>
          </a:p>
        </p:txBody>
      </p:sp>
      <p:sp>
        <p:nvSpPr>
          <p:cNvPr id="56" name="Oval 55"/>
          <p:cNvSpPr/>
          <p:nvPr/>
        </p:nvSpPr>
        <p:spPr>
          <a:xfrm>
            <a:off x="6754813" y="3581400"/>
            <a:ext cx="457200" cy="442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dirty="0"/>
          </a:p>
        </p:txBody>
      </p:sp>
      <p:sp>
        <p:nvSpPr>
          <p:cNvPr id="57" name="Oval 56"/>
          <p:cNvSpPr/>
          <p:nvPr/>
        </p:nvSpPr>
        <p:spPr>
          <a:xfrm>
            <a:off x="6750050" y="4437063"/>
            <a:ext cx="457200" cy="442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dirty="0"/>
          </a:p>
        </p:txBody>
      </p:sp>
      <p:sp>
        <p:nvSpPr>
          <p:cNvPr id="58" name="Oval 57"/>
          <p:cNvSpPr/>
          <p:nvPr/>
        </p:nvSpPr>
        <p:spPr>
          <a:xfrm>
            <a:off x="6754813" y="4949825"/>
            <a:ext cx="457200" cy="444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dirty="0"/>
          </a:p>
        </p:txBody>
      </p:sp>
      <p:sp>
        <p:nvSpPr>
          <p:cNvPr id="59" name="Oval 58"/>
          <p:cNvSpPr/>
          <p:nvPr/>
        </p:nvSpPr>
        <p:spPr>
          <a:xfrm>
            <a:off x="6750050" y="5764213"/>
            <a:ext cx="457200" cy="4429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dirty="0"/>
          </a:p>
        </p:txBody>
      </p:sp>
      <p:sp>
        <p:nvSpPr>
          <p:cNvPr id="60" name="TextBox 59"/>
          <p:cNvSpPr txBox="1">
            <a:spLocks noRot="1" noChangeAspect="1" noMove="1" noResize="1" noEditPoints="1" noAdjustHandles="1" noChangeArrowheads="1" noChangeShapeType="1" noTextEdit="1"/>
          </p:cNvSpPr>
          <p:nvPr/>
        </p:nvSpPr>
        <p:spPr>
          <a:xfrm>
            <a:off x="6749733" y="4473825"/>
            <a:ext cx="432048" cy="369332"/>
          </a:xfrm>
          <a:prstGeom prst="rect">
            <a:avLst/>
          </a:prstGeom>
          <a:blipFill rotWithShape="1">
            <a:blip r:embed="rId14" cstate="print"/>
            <a:stretch>
              <a:fillRect r="-2817"/>
            </a:stretch>
          </a:blipFill>
        </p:spPr>
        <p:txBody>
          <a:bodyPr/>
          <a:lstStyle/>
          <a:p>
            <a:pPr algn="r" rtl="1" eaLnBrk="1" hangingPunct="1">
              <a:defRPr/>
            </a:pPr>
            <a:r>
              <a:rPr lang="en-US">
                <a:noFill/>
                <a:latin typeface="Arial" charset="0"/>
                <a:cs typeface="Arial" charset="0"/>
              </a:rPr>
              <a:t> </a:t>
            </a:r>
          </a:p>
        </p:txBody>
      </p:sp>
      <p:sp>
        <p:nvSpPr>
          <p:cNvPr id="61" name="TextBox 60"/>
          <p:cNvSpPr txBox="1">
            <a:spLocks noRot="1" noChangeAspect="1" noMove="1" noResize="1" noEditPoints="1" noAdjustHandles="1" noChangeArrowheads="1" noChangeShapeType="1" noTextEdit="1"/>
          </p:cNvSpPr>
          <p:nvPr/>
        </p:nvSpPr>
        <p:spPr>
          <a:xfrm>
            <a:off x="6774885" y="5800585"/>
            <a:ext cx="432048" cy="369332"/>
          </a:xfrm>
          <a:prstGeom prst="rect">
            <a:avLst/>
          </a:prstGeom>
          <a:blipFill rotWithShape="1">
            <a:blip r:embed="rId15" cstate="print"/>
            <a:stretch>
              <a:fillRect r="-2817"/>
            </a:stretch>
          </a:blipFill>
        </p:spPr>
        <p:txBody>
          <a:bodyPr/>
          <a:lstStyle/>
          <a:p>
            <a:pPr algn="r" rtl="1" eaLnBrk="1" hangingPunct="1">
              <a:defRPr/>
            </a:pPr>
            <a:r>
              <a:rPr lang="en-US">
                <a:noFill/>
                <a:latin typeface="Arial" charset="0"/>
                <a:cs typeface="Arial" charset="0"/>
              </a:rPr>
              <a:t> </a:t>
            </a:r>
          </a:p>
        </p:txBody>
      </p:sp>
      <p:sp>
        <p:nvSpPr>
          <p:cNvPr id="62" name="TextBox 61"/>
          <p:cNvSpPr txBox="1">
            <a:spLocks noRot="1" noChangeAspect="1" noMove="1" noResize="1" noEditPoints="1" noAdjustHandles="1" noChangeArrowheads="1" noChangeShapeType="1" noTextEdit="1"/>
          </p:cNvSpPr>
          <p:nvPr/>
        </p:nvSpPr>
        <p:spPr>
          <a:xfrm>
            <a:off x="6782053" y="3618116"/>
            <a:ext cx="432048" cy="369332"/>
          </a:xfrm>
          <a:prstGeom prst="rect">
            <a:avLst/>
          </a:prstGeom>
          <a:blipFill rotWithShape="1">
            <a:blip r:embed="rId16" cstate="print"/>
            <a:stretch>
              <a:fillRect/>
            </a:stretch>
          </a:blipFill>
        </p:spPr>
        <p:txBody>
          <a:bodyPr/>
          <a:lstStyle/>
          <a:p>
            <a:pPr algn="r" rtl="1" eaLnBrk="1" hangingPunct="1">
              <a:defRPr/>
            </a:pPr>
            <a:r>
              <a:rPr lang="en-US">
                <a:noFill/>
                <a:latin typeface="Arial" charset="0"/>
                <a:cs typeface="Arial" charset="0"/>
              </a:rPr>
              <a:t> </a:t>
            </a:r>
          </a:p>
        </p:txBody>
      </p:sp>
      <p:sp>
        <p:nvSpPr>
          <p:cNvPr id="63" name="TextBox 62"/>
          <p:cNvSpPr txBox="1">
            <a:spLocks noRot="1" noChangeAspect="1" noMove="1" noResize="1" noEditPoints="1" noAdjustHandles="1" noChangeArrowheads="1" noChangeShapeType="1" noTextEdit="1"/>
          </p:cNvSpPr>
          <p:nvPr/>
        </p:nvSpPr>
        <p:spPr>
          <a:xfrm>
            <a:off x="6762309" y="4975432"/>
            <a:ext cx="432048" cy="369332"/>
          </a:xfrm>
          <a:prstGeom prst="rect">
            <a:avLst/>
          </a:prstGeom>
          <a:blipFill rotWithShape="1">
            <a:blip r:embed="rId17" cstate="print"/>
            <a:stretch>
              <a:fillRect/>
            </a:stretch>
          </a:blipFill>
        </p:spPr>
        <p:txBody>
          <a:bodyPr/>
          <a:lstStyle/>
          <a:p>
            <a:pPr algn="r" rtl="1" eaLnBrk="1" hangingPunct="1">
              <a:defRPr/>
            </a:pPr>
            <a:r>
              <a:rPr lang="en-US">
                <a:noFill/>
                <a:latin typeface="Arial" charset="0"/>
                <a:cs typeface="Arial" charset="0"/>
              </a:rPr>
              <a:t> </a:t>
            </a:r>
          </a:p>
        </p:txBody>
      </p:sp>
      <p:sp>
        <p:nvSpPr>
          <p:cNvPr id="20501" name="Slide Number Placeholder 6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cs typeface="David" panose="020E0502060401010101" pitchFamily="34" charset="-79"/>
              </a:defRPr>
            </a:lvl1pPr>
            <a:lvl2pPr marL="742950" indent="-285750" algn="r" rtl="1">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cs typeface="David" panose="020E0502060401010101" pitchFamily="34" charset="-79"/>
              </a:defRPr>
            </a:lvl2pPr>
            <a:lvl3pPr marL="1143000" indent="-228600" algn="r" rtl="1">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cs typeface="David" panose="020E0502060401010101" pitchFamily="34" charset="-79"/>
              </a:defRPr>
            </a:lvl3pPr>
            <a:lvl4pPr marL="1600200" indent="-228600" algn="r" rtl="1">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4pPr>
            <a:lvl5pPr marL="2057400" indent="-228600" algn="r" rtl="1">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5pPr>
            <a:lvl6pPr marL="25146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6pPr>
            <a:lvl7pPr marL="29718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7pPr>
            <a:lvl8pPr marL="34290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8pPr>
            <a:lvl9pPr marL="38862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9pPr>
          </a:lstStyle>
          <a:p>
            <a:pPr>
              <a:spcBef>
                <a:spcPct val="0"/>
              </a:spcBef>
              <a:buClrTx/>
              <a:buSzTx/>
              <a:buFontTx/>
              <a:buNone/>
            </a:pPr>
            <a:fld id="{FD0FAAAE-1F37-47DA-839C-809543A53873}" type="slidenum">
              <a:rPr lang="en-US" altLang="en-US" sz="1200">
                <a:solidFill>
                  <a:srgbClr val="045C75"/>
                </a:solidFill>
              </a:rPr>
              <a:pPr>
                <a:spcBef>
                  <a:spcPct val="0"/>
                </a:spcBef>
                <a:buClrTx/>
                <a:buSzTx/>
                <a:buFontTx/>
                <a:buNone/>
              </a:pPr>
              <a:t>5</a:t>
            </a:fld>
            <a:endParaRPr lang="he-IL" altLang="en-US" sz="1200">
              <a:solidFill>
                <a:srgbClr val="045C75"/>
              </a:solidFill>
            </a:endParaRPr>
          </a:p>
        </p:txBody>
      </p:sp>
    </p:spTree>
    <p:extLst>
      <p:ext uri="{BB962C8B-B14F-4D97-AF65-F5344CB8AC3E}">
        <p14:creationId xmlns:p14="http://schemas.microsoft.com/office/powerpoint/2010/main" val="1299430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7" name="Rectangle 2"/>
          <p:cNvSpPr>
            <a:spLocks noChangeArrowheads="1"/>
          </p:cNvSpPr>
          <p:nvPr/>
        </p:nvSpPr>
        <p:spPr bwMode="auto">
          <a:xfrm>
            <a:off x="0" y="116632"/>
            <a:ext cx="9144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r" rtl="1">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cs typeface="David" panose="020E0502060401010101" pitchFamily="34" charset="-79"/>
              </a:defRPr>
            </a:lvl1pPr>
            <a:lvl2pPr marL="742950" indent="-285750" algn="r" rtl="1">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cs typeface="David" panose="020E0502060401010101" pitchFamily="34" charset="-79"/>
              </a:defRPr>
            </a:lvl2pPr>
            <a:lvl3pPr marL="1143000" indent="-228600" algn="r" rtl="1">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cs typeface="David" panose="020E0502060401010101" pitchFamily="34" charset="-79"/>
              </a:defRPr>
            </a:lvl3pPr>
            <a:lvl4pPr marL="1600200" indent="-228600" algn="r" rtl="1">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4pPr>
            <a:lvl5pPr marL="2057400" indent="-228600" algn="r" rtl="1">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5pPr>
            <a:lvl6pPr marL="25146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6pPr>
            <a:lvl7pPr marL="29718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7pPr>
            <a:lvl8pPr marL="34290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8pPr>
            <a:lvl9pPr marL="38862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9pPr>
          </a:lstStyle>
          <a:p>
            <a:pPr eaLnBrk="1" hangingPunct="1">
              <a:spcBef>
                <a:spcPct val="0"/>
              </a:spcBef>
              <a:buClrTx/>
              <a:buSzTx/>
              <a:buFontTx/>
              <a:buNone/>
            </a:pPr>
            <a:r>
              <a:rPr lang="he-IL" altLang="en-US" sz="2200" dirty="0">
                <a:latin typeface="Arial" panose="020B0604020202020204" pitchFamily="34" charset="0"/>
                <a:cs typeface="Arial" panose="020B0604020202020204" pitchFamily="34" charset="0"/>
              </a:rPr>
              <a:t>א. בהינתן שחשוד נכשל במבחן הפוליגרף, מה הסיכוי שהוא דובר אמת?</a:t>
            </a:r>
            <a:endParaRPr lang="en-US" altLang="en-US" sz="2200" dirty="0">
              <a:latin typeface="Arial" panose="020B0604020202020204" pitchFamily="34" charset="0"/>
              <a:cs typeface="Arial" panose="020B0604020202020204" pitchFamily="34"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3586918862"/>
              </p:ext>
            </p:extLst>
          </p:nvPr>
        </p:nvGraphicFramePr>
        <p:xfrm>
          <a:off x="2534444" y="1050695"/>
          <a:ext cx="3916362" cy="860425"/>
        </p:xfrm>
        <a:graphic>
          <a:graphicData uri="http://schemas.openxmlformats.org/presentationml/2006/ole">
            <mc:AlternateContent xmlns:mc="http://schemas.openxmlformats.org/markup-compatibility/2006">
              <mc:Choice xmlns:v="urn:schemas-microsoft-com:vml" Requires="v">
                <p:oleObj name="Equation" r:id="rId2" imgW="2311400" imgH="508000" progId="">
                  <p:embed/>
                </p:oleObj>
              </mc:Choice>
              <mc:Fallback>
                <p:oleObj name="Equation" r:id="rId2" imgW="2311400" imgH="50800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4444" y="1050695"/>
                        <a:ext cx="3916362"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a:spLocks noChangeArrowheads="1"/>
          </p:cNvSpPr>
          <p:nvPr/>
        </p:nvSpPr>
        <p:spPr bwMode="auto">
          <a:xfrm>
            <a:off x="973191" y="527795"/>
            <a:ext cx="8154988"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rtl="1">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cs typeface="David" panose="020E0502060401010101" pitchFamily="34" charset="-79"/>
              </a:defRPr>
            </a:lvl1pPr>
            <a:lvl2pPr marL="742950" indent="-285750" algn="r" rtl="1">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cs typeface="David" panose="020E0502060401010101" pitchFamily="34" charset="-79"/>
              </a:defRPr>
            </a:lvl2pPr>
            <a:lvl3pPr marL="1143000" indent="-228600" algn="r" rtl="1">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cs typeface="David" panose="020E0502060401010101" pitchFamily="34" charset="-79"/>
              </a:defRPr>
            </a:lvl3pPr>
            <a:lvl4pPr marL="1600200" indent="-228600" algn="r" rtl="1">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4pPr>
            <a:lvl5pPr marL="2057400" indent="-228600" algn="r" rtl="1">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5pPr>
            <a:lvl6pPr marL="25146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6pPr>
            <a:lvl7pPr marL="29718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7pPr>
            <a:lvl8pPr marL="34290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8pPr>
            <a:lvl9pPr marL="38862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9pPr>
          </a:lstStyle>
          <a:p>
            <a:pPr eaLnBrk="1" hangingPunct="1">
              <a:spcBef>
                <a:spcPct val="0"/>
              </a:spcBef>
              <a:buClrTx/>
              <a:buSzTx/>
              <a:buFontTx/>
              <a:buNone/>
            </a:pPr>
            <a:r>
              <a:rPr lang="he-IL" altLang="en-US" sz="2200" dirty="0">
                <a:latin typeface="Arial" panose="020B0604020202020204" pitchFamily="34" charset="0"/>
                <a:cs typeface="Arial" panose="020B0604020202020204" pitchFamily="34" charset="0"/>
              </a:rPr>
              <a:t>לפי נוסחת ההסתברות המותנית:</a:t>
            </a:r>
            <a:endParaRPr lang="en-US" altLang="en-US" sz="2200" dirty="0">
              <a:latin typeface="Arial" panose="020B0604020202020204" pitchFamily="34" charset="0"/>
              <a:cs typeface="Arial" panose="020B0604020202020204" pitchFamily="34" charset="0"/>
            </a:endParaRPr>
          </a:p>
        </p:txBody>
      </p:sp>
      <p:sp>
        <p:nvSpPr>
          <p:cNvPr id="7" name="Rectangle 6"/>
          <p:cNvSpPr>
            <a:spLocks noChangeArrowheads="1"/>
          </p:cNvSpPr>
          <p:nvPr/>
        </p:nvSpPr>
        <p:spPr bwMode="auto">
          <a:xfrm>
            <a:off x="948040" y="1838364"/>
            <a:ext cx="81534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rtl="1">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cs typeface="David" panose="020E0502060401010101" pitchFamily="34" charset="-79"/>
              </a:defRPr>
            </a:lvl1pPr>
            <a:lvl2pPr marL="742950" indent="-285750" algn="r" rtl="1">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cs typeface="David" panose="020E0502060401010101" pitchFamily="34" charset="-79"/>
              </a:defRPr>
            </a:lvl2pPr>
            <a:lvl3pPr marL="1143000" indent="-228600" algn="r" rtl="1">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cs typeface="David" panose="020E0502060401010101" pitchFamily="34" charset="-79"/>
              </a:defRPr>
            </a:lvl3pPr>
            <a:lvl4pPr marL="1600200" indent="-228600" algn="r" rtl="1">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4pPr>
            <a:lvl5pPr marL="2057400" indent="-228600" algn="r" rtl="1">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5pPr>
            <a:lvl6pPr marL="25146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6pPr>
            <a:lvl7pPr marL="29718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7pPr>
            <a:lvl8pPr marL="34290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8pPr>
            <a:lvl9pPr marL="38862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9pPr>
          </a:lstStyle>
          <a:p>
            <a:pPr eaLnBrk="1" hangingPunct="1">
              <a:spcBef>
                <a:spcPct val="0"/>
              </a:spcBef>
              <a:buClrTx/>
              <a:buSzTx/>
              <a:buFontTx/>
              <a:buNone/>
            </a:pPr>
            <a:r>
              <a:rPr lang="he-IL" altLang="en-US" sz="2200" dirty="0">
                <a:latin typeface="Arial" panose="020B0604020202020204" pitchFamily="34" charset="0"/>
                <a:cs typeface="Arial" panose="020B0604020202020204" pitchFamily="34" charset="0"/>
              </a:rPr>
              <a:t>לפי נוסחת ההסתברות השלמה:</a:t>
            </a:r>
            <a:endParaRPr lang="en-US" altLang="en-US" sz="2200" dirty="0">
              <a:latin typeface="Arial" panose="020B0604020202020204" pitchFamily="34" charset="0"/>
              <a:cs typeface="Arial" panose="020B0604020202020204" pitchFamily="34"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3951477160"/>
              </p:ext>
            </p:extLst>
          </p:nvPr>
        </p:nvGraphicFramePr>
        <p:xfrm>
          <a:off x="2530996" y="2396266"/>
          <a:ext cx="3765550" cy="473075"/>
        </p:xfrm>
        <a:graphic>
          <a:graphicData uri="http://schemas.openxmlformats.org/presentationml/2006/ole">
            <mc:AlternateContent xmlns:mc="http://schemas.openxmlformats.org/markup-compatibility/2006">
              <mc:Choice xmlns:v="urn:schemas-microsoft-com:vml" Requires="v">
                <p:oleObj name="Equation" r:id="rId4" imgW="2222500" imgH="279400" progId="">
                  <p:embed/>
                </p:oleObj>
              </mc:Choice>
              <mc:Fallback>
                <p:oleObj name="Equation" r:id="rId4" imgW="2222500" imgH="279400" progId="">
                  <p:embed/>
                  <p:pic>
                    <p:nvPicPr>
                      <p:cNvPr id="0" name="Picture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0996" y="2396266"/>
                        <a:ext cx="376555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966703251"/>
              </p:ext>
            </p:extLst>
          </p:nvPr>
        </p:nvGraphicFramePr>
        <p:xfrm>
          <a:off x="130175" y="3441814"/>
          <a:ext cx="8883650" cy="842962"/>
        </p:xfrm>
        <a:graphic>
          <a:graphicData uri="http://schemas.openxmlformats.org/presentationml/2006/ole">
            <mc:AlternateContent xmlns:mc="http://schemas.openxmlformats.org/markup-compatibility/2006">
              <mc:Choice xmlns:v="urn:schemas-microsoft-com:vml" Requires="v">
                <p:oleObj name="Equation" r:id="rId6" imgW="5486400" imgH="520700" progId="">
                  <p:embed/>
                </p:oleObj>
              </mc:Choice>
              <mc:Fallback>
                <p:oleObj name="Equation" r:id="rId6" imgW="5486400" imgH="520700" progId="">
                  <p:embed/>
                  <p:pic>
                    <p:nvPicPr>
                      <p:cNvPr id="0" name="Picture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0175" y="3441814"/>
                        <a:ext cx="8883650" cy="842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3"/>
          <p:cNvSpPr>
            <a:spLocks noChangeArrowheads="1"/>
          </p:cNvSpPr>
          <p:nvPr/>
        </p:nvSpPr>
        <p:spPr bwMode="auto">
          <a:xfrm>
            <a:off x="1277937" y="4426362"/>
            <a:ext cx="7866063"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r" rtl="1">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cs typeface="David" panose="020E0502060401010101" pitchFamily="34" charset="-79"/>
              </a:defRPr>
            </a:lvl1pPr>
            <a:lvl2pPr marL="742950" indent="-285750" algn="r" rtl="1">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cs typeface="David" panose="020E0502060401010101" pitchFamily="34" charset="-79"/>
              </a:defRPr>
            </a:lvl2pPr>
            <a:lvl3pPr marL="1143000" indent="-228600" algn="r" rtl="1">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cs typeface="David" panose="020E0502060401010101" pitchFamily="34" charset="-79"/>
              </a:defRPr>
            </a:lvl3pPr>
            <a:lvl4pPr marL="1600200" indent="-228600" algn="r" rtl="1">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4pPr>
            <a:lvl5pPr marL="2057400" indent="-228600" algn="r" rtl="1">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5pPr>
            <a:lvl6pPr marL="25146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6pPr>
            <a:lvl7pPr marL="29718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7pPr>
            <a:lvl8pPr marL="34290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8pPr>
            <a:lvl9pPr marL="3886200" indent="-228600" algn="r" rtl="1"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cs typeface="David" panose="020E0502060401010101" pitchFamily="34" charset="-79"/>
              </a:defRPr>
            </a:lvl9pPr>
          </a:lstStyle>
          <a:p>
            <a:pPr eaLnBrk="1" hangingPunct="1">
              <a:spcBef>
                <a:spcPct val="0"/>
              </a:spcBef>
              <a:buClrTx/>
              <a:buSzTx/>
              <a:buFontTx/>
              <a:buNone/>
            </a:pPr>
            <a:r>
              <a:rPr lang="he-IL" altLang="en-US" sz="2200" dirty="0">
                <a:latin typeface="Arial" panose="020B0604020202020204" pitchFamily="34" charset="0"/>
                <a:cs typeface="Arial" panose="020B0604020202020204" pitchFamily="34" charset="0"/>
              </a:rPr>
              <a:t>ב. בהינתן שחשוד עבר במבחן הפוליגרף, מה הסיכוי שהוא דובר אמת?</a:t>
            </a:r>
            <a:endParaRPr lang="en-US" altLang="en-US" sz="2200" dirty="0">
              <a:latin typeface="Arial" panose="020B0604020202020204" pitchFamily="34" charset="0"/>
              <a:cs typeface="Arial" panose="020B0604020202020204" pitchFamily="34" charset="0"/>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3897649961"/>
              </p:ext>
            </p:extLst>
          </p:nvPr>
        </p:nvGraphicFramePr>
        <p:xfrm>
          <a:off x="251520" y="5128889"/>
          <a:ext cx="8352927" cy="1535771"/>
        </p:xfrm>
        <a:graphic>
          <a:graphicData uri="http://schemas.openxmlformats.org/presentationml/2006/ole">
            <mc:AlternateContent xmlns:mc="http://schemas.openxmlformats.org/markup-compatibility/2006">
              <mc:Choice xmlns:v="urn:schemas-microsoft-com:vml" Requires="v">
                <p:oleObj name="Equation" r:id="rId8" imgW="3568700" imgH="914400" progId="">
                  <p:embed/>
                </p:oleObj>
              </mc:Choice>
              <mc:Fallback>
                <p:oleObj name="Equation" r:id="rId8" imgW="3568700" imgH="914400" progId="">
                  <p:embed/>
                  <p:pic>
                    <p:nvPicPr>
                      <p:cNvPr id="0" name="Picture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1520" y="5128889"/>
                        <a:ext cx="8352927" cy="15357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979068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0" y="44624"/>
            <a:ext cx="9144000" cy="6126163"/>
          </a:xfrm>
        </p:spPr>
        <p:txBody>
          <a:bodyPr>
            <a:noAutofit/>
          </a:bodyPr>
          <a:lstStyle/>
          <a:p>
            <a:pPr marL="0" indent="0">
              <a:lnSpc>
                <a:spcPct val="170000"/>
              </a:lnSpc>
              <a:buNone/>
            </a:pPr>
            <a:r>
              <a:rPr lang="he-IL" b="1" u="sng" dirty="0"/>
              <a:t>שאלה 3</a:t>
            </a:r>
            <a:endParaRPr lang="he-IL" dirty="0"/>
          </a:p>
          <a:p>
            <a:pPr marL="0" indent="0">
              <a:spcBef>
                <a:spcPct val="0"/>
              </a:spcBef>
              <a:buNone/>
            </a:pPr>
            <a:r>
              <a:rPr lang="he-IL" altLang="en-US" sz="2400" dirty="0">
                <a:latin typeface="Arial" panose="020B0604020202020204" pitchFamily="34" charset="0"/>
                <a:cs typeface="Arial" panose="020B0604020202020204" pitchFamily="34" charset="0"/>
              </a:rPr>
              <a:t>בחג הפסח 60% מהאוכלוסייה נחשפים לאבק מצות (אלרגן). מתוכם 80% מפתחים גירוד. מתוך אלו שלא נחשפו לאבק מצות 20% מפתחים גירוד.</a:t>
            </a:r>
            <a:endParaRPr lang="en-US" altLang="en-US" sz="2400" dirty="0">
              <a:latin typeface="Arial" panose="020B0604020202020204" pitchFamily="34" charset="0"/>
              <a:cs typeface="Arial" panose="020B0604020202020204" pitchFamily="34" charset="0"/>
            </a:endParaRPr>
          </a:p>
          <a:p>
            <a:pPr>
              <a:spcBef>
                <a:spcPct val="0"/>
              </a:spcBef>
              <a:buNone/>
            </a:pPr>
            <a:r>
              <a:rPr lang="he-IL" altLang="en-US" sz="2400" dirty="0">
                <a:latin typeface="Arial" panose="020B0604020202020204" pitchFamily="34" charset="0"/>
                <a:cs typeface="Arial" panose="020B0604020202020204" pitchFamily="34" charset="0"/>
              </a:rPr>
              <a:t>א. מה ההסתברות לאדם בפסח לפתח גירוד?</a:t>
            </a:r>
            <a:endParaRPr lang="en-US" altLang="en-US" sz="2400" dirty="0">
              <a:latin typeface="Arial" panose="020B0604020202020204" pitchFamily="34" charset="0"/>
              <a:cs typeface="Arial" panose="020B0604020202020204" pitchFamily="34" charset="0"/>
            </a:endParaRPr>
          </a:p>
          <a:p>
            <a:pPr>
              <a:spcBef>
                <a:spcPct val="0"/>
              </a:spcBef>
              <a:buNone/>
            </a:pPr>
            <a:r>
              <a:rPr lang="he-IL" altLang="en-US" sz="2400" dirty="0">
                <a:latin typeface="Arial" panose="020B0604020202020204" pitchFamily="34" charset="0"/>
                <a:cs typeface="Arial" panose="020B0604020202020204" pitchFamily="34" charset="0"/>
              </a:rPr>
              <a:t>ב. מבין אלו שמתגרדים מה הסיכוי שהם נחשפו לאבק מצות? </a:t>
            </a:r>
            <a:endParaRPr lang="en-US" altLang="en-US" sz="2400" dirty="0">
              <a:latin typeface="Arial" panose="020B0604020202020204" pitchFamily="34" charset="0"/>
              <a:cs typeface="Arial" panose="020B0604020202020204" pitchFamily="34" charset="0"/>
            </a:endParaRPr>
          </a:p>
          <a:p>
            <a:pPr>
              <a:spcBef>
                <a:spcPct val="0"/>
              </a:spcBef>
              <a:buNone/>
            </a:pPr>
            <a:r>
              <a:rPr lang="he-IL" altLang="en-US" sz="2400" dirty="0">
                <a:latin typeface="Arial" panose="020B0604020202020204" pitchFamily="34" charset="0"/>
                <a:cs typeface="Arial" panose="020B0604020202020204" pitchFamily="34" charset="0"/>
              </a:rPr>
              <a:t>ג.  מבין אלו שמתגרדים מה הסיכוי שהם לא נחשפו לאבק מצות? </a:t>
            </a:r>
            <a:endParaRPr lang="en-US" altLang="en-US" sz="2400" dirty="0">
              <a:latin typeface="Arial" panose="020B0604020202020204" pitchFamily="34" charset="0"/>
              <a:cs typeface="Arial" panose="020B0604020202020204" pitchFamily="34" charset="0"/>
            </a:endParaRPr>
          </a:p>
          <a:p>
            <a:pPr marL="0" indent="0">
              <a:lnSpc>
                <a:spcPct val="150000"/>
              </a:lnSpc>
              <a:buNone/>
            </a:pPr>
            <a:endParaRPr lang="he-IL" dirty="0"/>
          </a:p>
        </p:txBody>
      </p:sp>
      <p:sp>
        <p:nvSpPr>
          <p:cNvPr id="21913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787636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pPr algn="ctr"/>
            <a:r>
              <a:rPr lang="he-IL" dirty="0"/>
              <a:t>תרגיל:</a:t>
            </a:r>
          </a:p>
        </p:txBody>
      </p:sp>
      <p:pic>
        <p:nvPicPr>
          <p:cNvPr id="5" name="מציין מיקום תוכן 4"/>
          <p:cNvPicPr>
            <a:picLocks noGrp="1" noChangeAspect="1"/>
          </p:cNvPicPr>
          <p:nvPr>
            <p:ph idx="1"/>
          </p:nvPr>
        </p:nvPicPr>
        <p:blipFill>
          <a:blip r:embed="rId2" cstate="print"/>
          <a:stretch>
            <a:fillRect/>
          </a:stretch>
        </p:blipFill>
        <p:spPr>
          <a:xfrm>
            <a:off x="323528" y="1268760"/>
            <a:ext cx="8496944" cy="5256584"/>
          </a:xfrm>
          <a:prstGeom prst="rect">
            <a:avLst/>
          </a:prstGeom>
        </p:spPr>
      </p:pic>
    </p:spTree>
    <p:extLst>
      <p:ext uri="{BB962C8B-B14F-4D97-AF65-F5344CB8AC3E}">
        <p14:creationId xmlns:p14="http://schemas.microsoft.com/office/powerpoint/2010/main" val="581695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27CEC2C-DC3E-0A68-483D-69B6ADC8A519}"/>
              </a:ext>
            </a:extLst>
          </p:cNvPr>
          <p:cNvSpPr>
            <a:spLocks noGrp="1"/>
          </p:cNvSpPr>
          <p:nvPr>
            <p:ph type="title"/>
          </p:nvPr>
        </p:nvSpPr>
        <p:spPr/>
        <p:txBody>
          <a:bodyPr/>
          <a:lstStyle/>
          <a:p>
            <a:pPr algn="ctr"/>
            <a:r>
              <a:rPr lang="he-IL" dirty="0"/>
              <a:t>תרגיל מבחינה</a:t>
            </a:r>
          </a:p>
        </p:txBody>
      </p:sp>
      <p:sp>
        <p:nvSpPr>
          <p:cNvPr id="3" name="מציין מיקום תוכן 2">
            <a:extLst>
              <a:ext uri="{FF2B5EF4-FFF2-40B4-BE49-F238E27FC236}">
                <a16:creationId xmlns:a16="http://schemas.microsoft.com/office/drawing/2014/main" id="{839AC812-78EA-64A1-427C-980F1D1C3261}"/>
              </a:ext>
            </a:extLst>
          </p:cNvPr>
          <p:cNvSpPr>
            <a:spLocks noGrp="1"/>
          </p:cNvSpPr>
          <p:nvPr>
            <p:ph idx="1"/>
          </p:nvPr>
        </p:nvSpPr>
        <p:spPr/>
        <p:txBody>
          <a:bodyPr/>
          <a:lstStyle/>
          <a:p>
            <a:r>
              <a:rPr lang="he-IL" dirty="0"/>
              <a:t>בתיק של שירה ישנם 2 מחברות כחולות, 4 מחברות ירוקות ו- 3 מחברות לבנות.</a:t>
            </a:r>
          </a:p>
          <a:p>
            <a:r>
              <a:rPr lang="he-IL" dirty="0"/>
              <a:t>מוציאים מהתיק 2 מחברות (ללא החזרה)</a:t>
            </a:r>
          </a:p>
          <a:p>
            <a:r>
              <a:rPr lang="he-IL" dirty="0"/>
              <a:t>א.	מה ההסתברות להוציא 2 מחברות מאותו הצבע?</a:t>
            </a:r>
          </a:p>
          <a:p>
            <a:r>
              <a:rPr lang="he-IL" dirty="0"/>
              <a:t>ב.	הוציאו 2 מחברות מאותו הצבע. חשבו את ההסתברות שהוציאו מחברות ירוקות.</a:t>
            </a:r>
          </a:p>
          <a:p>
            <a:endParaRPr lang="he-IL" dirty="0"/>
          </a:p>
        </p:txBody>
      </p:sp>
    </p:spTree>
    <p:extLst>
      <p:ext uri="{BB962C8B-B14F-4D97-AF65-F5344CB8AC3E}">
        <p14:creationId xmlns:p14="http://schemas.microsoft.com/office/powerpoint/2010/main" val="2530365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a:t>משתנה מקרי בדיד:</a:t>
            </a:r>
          </a:p>
        </p:txBody>
      </p:sp>
      <p:sp>
        <p:nvSpPr>
          <p:cNvPr id="3" name="Content Placeholder 2"/>
          <p:cNvSpPr>
            <a:spLocks noGrp="1"/>
          </p:cNvSpPr>
          <p:nvPr>
            <p:ph idx="1"/>
          </p:nvPr>
        </p:nvSpPr>
        <p:spPr/>
        <p:txBody>
          <a:bodyPr>
            <a:normAutofit fontScale="92500" lnSpcReduction="20000"/>
          </a:bodyPr>
          <a:lstStyle/>
          <a:p>
            <a:r>
              <a:rPr lang="he-IL" dirty="0"/>
              <a:t>משתנה כמותי בדיד מוגדר כמשתנה שערכיו מספרים בודדים (המשתנה לא יכול לקבל ערכים שבין המספרים הבודדים)</a:t>
            </a:r>
            <a:r>
              <a:rPr lang="en-US" dirty="0"/>
              <a:t>.</a:t>
            </a:r>
            <a:endParaRPr lang="he-IL" dirty="0"/>
          </a:p>
          <a:p>
            <a:r>
              <a:rPr lang="he-IL" dirty="0"/>
              <a:t>דוגמא: בסוכנות וולבו מספר המכוניות הנמכרות מידי יום נע בין 0 ל 5 מכוניות </a:t>
            </a:r>
            <a:r>
              <a:rPr lang="en-US" dirty="0"/>
              <a:t>.</a:t>
            </a:r>
            <a:r>
              <a:rPr lang="he-IL" dirty="0"/>
              <a:t> </a:t>
            </a:r>
            <a:r>
              <a:rPr lang="en-US" dirty="0"/>
              <a:t>X</a:t>
            </a:r>
            <a:r>
              <a:rPr lang="he-IL" dirty="0"/>
              <a:t> הוא המשתנה המקרי הבדיד שמקבל את הערכים 0</a:t>
            </a:r>
            <a:r>
              <a:rPr lang="en-US" dirty="0"/>
              <a:t>,</a:t>
            </a:r>
            <a:r>
              <a:rPr lang="he-IL" dirty="0"/>
              <a:t> 1</a:t>
            </a:r>
            <a:r>
              <a:rPr lang="en-US" dirty="0"/>
              <a:t>,</a:t>
            </a:r>
            <a:r>
              <a:rPr lang="he-IL" dirty="0"/>
              <a:t> 2</a:t>
            </a:r>
            <a:r>
              <a:rPr lang="en-US" dirty="0"/>
              <a:t>,</a:t>
            </a:r>
            <a:r>
              <a:rPr lang="he-IL" dirty="0"/>
              <a:t> 3</a:t>
            </a:r>
            <a:r>
              <a:rPr lang="en-US" dirty="0"/>
              <a:t>,</a:t>
            </a:r>
            <a:r>
              <a:rPr lang="he-IL" dirty="0"/>
              <a:t> 4</a:t>
            </a:r>
            <a:r>
              <a:rPr lang="en-US" dirty="0"/>
              <a:t>,</a:t>
            </a:r>
            <a:r>
              <a:rPr lang="he-IL" dirty="0"/>
              <a:t> 5 באופן מקרי</a:t>
            </a:r>
            <a:r>
              <a:rPr lang="en-US" dirty="0"/>
              <a:t>.</a:t>
            </a:r>
            <a:r>
              <a:rPr lang="he-IL" dirty="0"/>
              <a:t> </a:t>
            </a:r>
          </a:p>
          <a:p>
            <a:r>
              <a:rPr lang="he-IL" dirty="0"/>
              <a:t>משתנה מקרי בדיד הוא משתנה שמקבל ערכים בודדים וסופיים מתוך מרחב המדגם של הבעיה</a:t>
            </a:r>
            <a:r>
              <a:rPr lang="en-US" dirty="0"/>
              <a:t>.</a:t>
            </a:r>
            <a:endParaRPr lang="he-IL" dirty="0"/>
          </a:p>
          <a:p>
            <a:r>
              <a:rPr lang="he-IL" dirty="0"/>
              <a:t>ההבדל בין </a:t>
            </a:r>
            <a:r>
              <a:rPr lang="he-IL" b="1" dirty="0"/>
              <a:t>בדיד</a:t>
            </a:r>
            <a:r>
              <a:rPr lang="he-IL" dirty="0"/>
              <a:t> </a:t>
            </a:r>
            <a:r>
              <a:rPr lang="he-IL" b="1" dirty="0"/>
              <a:t>לרציף</a:t>
            </a:r>
            <a:r>
              <a:rPr lang="he-IL" dirty="0"/>
              <a:t> הוא שרציף יכול להכיל תחום ערכים אפשריים</a:t>
            </a:r>
            <a:r>
              <a:rPr lang="en-US" dirty="0"/>
              <a:t>.</a:t>
            </a:r>
            <a:endParaRPr lang="he-IL" dirty="0"/>
          </a:p>
          <a:p>
            <a:endParaRPr lang="he-IL"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he-IL" dirty="0"/>
              <a:t>לדוגמא:</a:t>
            </a:r>
          </a:p>
          <a:p>
            <a:r>
              <a:rPr lang="he-IL" dirty="0"/>
              <a:t>נגדיר את הניסוי הבא: נבחר ילד באקראי מתוך 100 תלמידים ונמדוד את הגובה שלו. </a:t>
            </a:r>
            <a:br>
              <a:rPr lang="he-IL" dirty="0"/>
            </a:br>
            <a:r>
              <a:rPr lang="he-IL" dirty="0"/>
              <a:t>הגובה של הילד יהיה המשתנה המקרי. קבוצת האפשרויות למשתנה מיקרי זה היא אינסופית </a:t>
            </a:r>
            <a:br>
              <a:rPr lang="he-IL" dirty="0"/>
            </a:br>
            <a:r>
              <a:rPr lang="he-IL" dirty="0"/>
              <a:t>ויכולה להיות כל מספר שגדול מ 0 עד אינסוף למרות שברור לנו שכשמדובר בגובה של ילד, סביר שנקבל </a:t>
            </a:r>
            <a:br>
              <a:rPr lang="he-IL" dirty="0"/>
            </a:br>
            <a:r>
              <a:rPr lang="he-IL" dirty="0"/>
              <a:t>גבהים באיזור של בין 1 מטר 1.5 מטר. בדוגמה זו קיבלנו </a:t>
            </a:r>
            <a:r>
              <a:rPr lang="he-IL" b="1" dirty="0"/>
              <a:t>משתנה מקרי רציף </a:t>
            </a:r>
            <a:br>
              <a:rPr lang="he-IL" dirty="0"/>
            </a:br>
            <a:r>
              <a:rPr lang="he-IL" dirty="0"/>
              <a:t>כלומר ישנו תחום רציף של ערכים אפשריים. וכאן לא ניתן להשתמש בטבלה. היות שיש אינסוף ערכים אפשריים.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a:t>התוחלת של משתנה מקרי בדיד</a:t>
            </a:r>
          </a:p>
        </p:txBody>
      </p:sp>
      <p:sp>
        <p:nvSpPr>
          <p:cNvPr id="3" name="Content Placeholder 2"/>
          <p:cNvSpPr>
            <a:spLocks noGrp="1"/>
          </p:cNvSpPr>
          <p:nvPr>
            <p:ph idx="1"/>
          </p:nvPr>
        </p:nvSpPr>
        <p:spPr/>
        <p:txBody>
          <a:bodyPr>
            <a:normAutofit fontScale="85000" lnSpcReduction="10000"/>
          </a:bodyPr>
          <a:lstStyle/>
          <a:p>
            <a:r>
              <a:rPr lang="he-IL" dirty="0"/>
              <a:t>ה</a:t>
            </a:r>
            <a:r>
              <a:rPr lang="he-IL" b="1" dirty="0"/>
              <a:t>תוחלת</a:t>
            </a:r>
            <a:r>
              <a:rPr lang="he-IL" dirty="0"/>
              <a:t> (באנגלית: </a:t>
            </a:r>
            <a:r>
              <a:rPr lang="en-US" dirty="0"/>
              <a:t> </a:t>
            </a:r>
            <a:r>
              <a:rPr lang="en-US" b="1" dirty="0"/>
              <a:t>Expected value</a:t>
            </a:r>
            <a:r>
              <a:rPr lang="en-US" dirty="0"/>
              <a:t> </a:t>
            </a:r>
            <a:r>
              <a:rPr lang="he-IL" dirty="0"/>
              <a:t>ערך נצפה או </a:t>
            </a:r>
            <a:r>
              <a:rPr lang="en-US" b="1" dirty="0"/>
              <a:t>Mean</a:t>
            </a:r>
            <a:r>
              <a:rPr lang="en-US" dirty="0"/>
              <a:t>, </a:t>
            </a:r>
            <a:r>
              <a:rPr lang="he-IL" dirty="0"/>
              <a:t> מסומנת באות </a:t>
            </a:r>
            <a:r>
              <a:rPr lang="en-US" i="1" dirty="0"/>
              <a:t>E</a:t>
            </a:r>
            <a:r>
              <a:rPr lang="en-US" dirty="0"/>
              <a:t> </a:t>
            </a:r>
            <a:r>
              <a:rPr lang="he-IL" dirty="0"/>
              <a:t>או </a:t>
            </a:r>
            <a:r>
              <a:rPr lang="el-GR" i="1" dirty="0"/>
              <a:t>μ</a:t>
            </a:r>
            <a:r>
              <a:rPr lang="el-GR" dirty="0"/>
              <a:t> </a:t>
            </a:r>
            <a:r>
              <a:rPr lang="he-IL" dirty="0"/>
              <a:t> בהתאמה) של משתנה מקרי היא ממוצע הערכים אותם יכול המשתנה לקבל, משוקלל על-פי ההסתברויות של הערכים השונים</a:t>
            </a:r>
            <a:r>
              <a:rPr lang="en-US" dirty="0"/>
              <a:t>.</a:t>
            </a:r>
            <a:endParaRPr lang="he-IL" dirty="0"/>
          </a:p>
          <a:p>
            <a:r>
              <a:rPr lang="he-IL" dirty="0"/>
              <a:t>בניגוד לממוצע החשבוני הרגיל, המחושב על ידי סיכום סדרת ערכים וחלוקת הסכום למספר הערכים, התוחלת היא ממוצע משוקלל של כל הערכים האפשריים, כשכל ערך משוקלל בהסתברות שלו. </a:t>
            </a:r>
            <a:r>
              <a:rPr lang="he-IL"/>
              <a:t>בזכות חוק המספרים הגדולים, </a:t>
            </a:r>
            <a:r>
              <a:rPr lang="he-IL" dirty="0"/>
              <a:t>התוחלת מהווה קירוב לממוצע של סדרת תוצאות ארוכה, ויכולה לסייע בתחזיות של רווח והפסד וכדומה</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a:t>תרגיל</a:t>
            </a:r>
          </a:p>
        </p:txBody>
      </p:sp>
      <p:sp>
        <p:nvSpPr>
          <p:cNvPr id="3" name="Content Placeholder 2"/>
          <p:cNvSpPr>
            <a:spLocks noGrp="1"/>
          </p:cNvSpPr>
          <p:nvPr>
            <p:ph idx="1"/>
          </p:nvPr>
        </p:nvSpPr>
        <p:spPr/>
        <p:txBody>
          <a:bodyPr/>
          <a:lstStyle/>
          <a:p>
            <a:r>
              <a:rPr lang="en-US" dirty="0"/>
              <a:t>X</a:t>
            </a:r>
            <a:r>
              <a:rPr lang="he-IL" dirty="0"/>
              <a:t> הוא משתנה מקרי המבטא את מספר הפעמים בהם תתקבל התוצאה "ראש" (</a:t>
            </a:r>
            <a:r>
              <a:rPr lang="en-US" dirty="0"/>
              <a:t>H</a:t>
            </a:r>
            <a:r>
              <a:rPr lang="he-IL" dirty="0"/>
              <a:t>) בהטלה של 3 מטבעות הוגנות</a:t>
            </a:r>
            <a:r>
              <a:rPr lang="en-US" dirty="0"/>
              <a:t>.</a:t>
            </a:r>
            <a:r>
              <a:rPr lang="he-IL" dirty="0"/>
              <a:t> בנו את פונקציית ההסתברות וחשבו את התוחלת והשונות</a:t>
            </a:r>
            <a:r>
              <a:rPr lang="en-US" dirty="0"/>
              <a:t>.</a:t>
            </a:r>
            <a:r>
              <a:rPr lang="he-IL"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44624"/>
            <a:ext cx="8892480" cy="5770811"/>
          </a:xfrm>
          <a:prstGeom prst="rect">
            <a:avLst/>
          </a:prstGeom>
          <a:noFill/>
        </p:spPr>
        <p:txBody>
          <a:bodyPr wrap="square" rtlCol="1">
            <a:spAutoFit/>
          </a:bodyPr>
          <a:lstStyle/>
          <a:p>
            <a:pPr algn="just">
              <a:lnSpc>
                <a:spcPct val="150000"/>
              </a:lnSpc>
            </a:pPr>
            <a:r>
              <a:rPr lang="he-IL" sz="2600" b="1" u="sng" dirty="0"/>
              <a:t>שאלה </a:t>
            </a:r>
            <a:r>
              <a:rPr lang="en-US" sz="2600" b="1" u="sng" dirty="0"/>
              <a:t>4</a:t>
            </a:r>
            <a:endParaRPr lang="he-IL" sz="2600" b="1" u="sng" dirty="0"/>
          </a:p>
          <a:p>
            <a:pPr>
              <a:lnSpc>
                <a:spcPct val="150000"/>
              </a:lnSpc>
            </a:pPr>
            <a:r>
              <a:rPr lang="he-IL" sz="2800" dirty="0"/>
              <a:t>ברולטה 37 מספרים, 18 אדומים, 18 שחורים ו-0 (ירוק). אחת מהאופציות להימור היא על מספר בודד. אם הכדור נופל על המספר הנבחר, השחקן מקבל פי 36 מהסכום שהימר עליו. אם הכדור נופל על מספר אחר, השחקן מאבד את סכום ההימור.</a:t>
            </a:r>
          </a:p>
          <a:p>
            <a:pPr>
              <a:lnSpc>
                <a:spcPct val="150000"/>
              </a:lnSpc>
            </a:pPr>
            <a:r>
              <a:rPr lang="he-IL" sz="2800" dirty="0"/>
              <a:t>מהי </a:t>
            </a:r>
            <a:r>
              <a:rPr lang="he-IL" sz="2800" b="1" dirty="0"/>
              <a:t>פונקצית ההסתברות</a:t>
            </a:r>
            <a:r>
              <a:rPr lang="he-IL" sz="2800" dirty="0"/>
              <a:t> של סכום הזכייה?</a:t>
            </a:r>
          </a:p>
          <a:p>
            <a:pPr>
              <a:lnSpc>
                <a:spcPct val="150000"/>
              </a:lnSpc>
            </a:pPr>
            <a:endParaRPr lang="he-IL" sz="2600" dirty="0"/>
          </a:p>
          <a:p>
            <a:pPr>
              <a:lnSpc>
                <a:spcPct val="150000"/>
              </a:lnSpc>
            </a:pPr>
            <a:endParaRPr lang="he-IL" sz="2600" dirty="0"/>
          </a:p>
        </p:txBody>
      </p:sp>
    </p:spTree>
    <p:extLst>
      <p:ext uri="{BB962C8B-B14F-4D97-AF65-F5344CB8AC3E}">
        <p14:creationId xmlns:p14="http://schemas.microsoft.com/office/powerpoint/2010/main" val="1004090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שאלה 5 </a:t>
            </a:r>
            <a:endParaRPr lang="en-GB" dirty="0"/>
          </a:p>
        </p:txBody>
      </p:sp>
      <p:sp>
        <p:nvSpPr>
          <p:cNvPr id="3" name="Content Placeholder 2"/>
          <p:cNvSpPr>
            <a:spLocks noGrp="1"/>
          </p:cNvSpPr>
          <p:nvPr>
            <p:ph idx="1"/>
          </p:nvPr>
        </p:nvSpPr>
        <p:spPr/>
        <p:txBody>
          <a:bodyPr/>
          <a:lstStyle/>
          <a:p>
            <a:pPr marL="0" indent="0">
              <a:buNone/>
            </a:pPr>
            <a:r>
              <a:rPr lang="he-IL" dirty="0"/>
              <a:t>זורקים קובייה.</a:t>
            </a:r>
          </a:p>
          <a:p>
            <a:r>
              <a:rPr lang="he-IL" dirty="0"/>
              <a:t>אם היא נופלת על 1, 2 או 3 מרוויחים 1 ₪.</a:t>
            </a:r>
          </a:p>
          <a:p>
            <a:r>
              <a:rPr lang="he-IL" dirty="0"/>
              <a:t>אם היא נופלת על 4 או 5 מרוויחים 5 ₪.</a:t>
            </a:r>
          </a:p>
          <a:p>
            <a:r>
              <a:rPr lang="he-IL" dirty="0"/>
              <a:t>אם היא נופלת על 6 מרוויחים 35 ₪.</a:t>
            </a:r>
          </a:p>
          <a:p>
            <a:pPr marL="0" indent="0">
              <a:buNone/>
            </a:pPr>
            <a:r>
              <a:rPr lang="he-IL" dirty="0"/>
              <a:t>כמה כסף צריכים לגבות עבור השתתפות במשחק ע"מ שיהיה משחק הוגן (כזה שתוחלתו שווה אפס)</a:t>
            </a:r>
          </a:p>
        </p:txBody>
      </p:sp>
    </p:spTree>
    <p:extLst>
      <p:ext uri="{BB962C8B-B14F-4D97-AF65-F5344CB8AC3E}">
        <p14:creationId xmlns:p14="http://schemas.microsoft.com/office/powerpoint/2010/main" val="950576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a:t>שאלה 6</a:t>
            </a:r>
            <a:endParaRPr lang="en-GB" dirty="0"/>
          </a:p>
        </p:txBody>
      </p:sp>
      <p:sp>
        <p:nvSpPr>
          <p:cNvPr id="3" name="Content Placeholder 2"/>
          <p:cNvSpPr>
            <a:spLocks noGrp="1"/>
          </p:cNvSpPr>
          <p:nvPr>
            <p:ph idx="1"/>
          </p:nvPr>
        </p:nvSpPr>
        <p:spPr/>
        <p:txBody>
          <a:bodyPr>
            <a:normAutofit/>
          </a:bodyPr>
          <a:lstStyle/>
          <a:p>
            <a:pPr marL="0" lvl="0" indent="0" eaLnBrk="0" fontAlgn="base" hangingPunct="0">
              <a:spcBef>
                <a:spcPct val="0"/>
              </a:spcBef>
              <a:spcAft>
                <a:spcPct val="0"/>
              </a:spcAft>
              <a:buNone/>
            </a:pPr>
            <a:r>
              <a:rPr lang="he-IL" dirty="0">
                <a:latin typeface="Arial" panose="020B0604020202020204" pitchFamily="34" charset="0"/>
                <a:ea typeface="Times New Roman" panose="02020603050405020304" pitchFamily="18" charset="0"/>
                <a:cs typeface="Arial" panose="020B0604020202020204" pitchFamily="34" charset="0"/>
              </a:rPr>
              <a:t>להלן תשואות של שלוש מניות בזמן מלחמה ובזמן שלום, וההסתברות לכל מצב:</a:t>
            </a:r>
          </a:p>
          <a:p>
            <a:pPr marL="0" lvl="0" indent="0" eaLnBrk="0" fontAlgn="base" hangingPunct="0">
              <a:spcBef>
                <a:spcPct val="0"/>
              </a:spcBef>
              <a:spcAft>
                <a:spcPct val="0"/>
              </a:spcAft>
              <a:buNone/>
            </a:pPr>
            <a:endParaRPr lang="he-IL" sz="105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endParaRPr lang="he-IL" sz="105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endParaRPr lang="he-IL" sz="105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endParaRPr lang="he-IL" sz="105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endParaRPr lang="he-IL" sz="105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endParaRPr lang="he-IL" sz="105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endParaRPr lang="he-IL" sz="1050" dirty="0">
              <a:latin typeface="Arial" panose="020B0604020202020204" pitchFamily="34" charset="0"/>
              <a:cs typeface="Arial" panose="020B0604020202020204" pitchFamily="34" charset="0"/>
            </a:endParaRPr>
          </a:p>
          <a:p>
            <a:pPr marL="0" lvl="0" indent="0" eaLnBrk="0" fontAlgn="base" hangingPunct="0">
              <a:spcBef>
                <a:spcPct val="0"/>
              </a:spcBef>
              <a:spcAft>
                <a:spcPct val="0"/>
              </a:spcAft>
              <a:buNone/>
            </a:pPr>
            <a:r>
              <a:rPr lang="he-IL" dirty="0">
                <a:solidFill>
                  <a:prstClr val="black"/>
                </a:solidFill>
                <a:latin typeface="Arial" panose="020B0604020202020204" pitchFamily="34" charset="0"/>
                <a:ea typeface="Times New Roman" panose="02020603050405020304" pitchFamily="18" charset="0"/>
                <a:cs typeface="Arial" panose="020B0604020202020204" pitchFamily="34" charset="0"/>
              </a:rPr>
              <a:t>חשבו עבור כל מנייה תוחלת וסטיית תקן של הרווח מהשקעה של 1000 ש"ח</a:t>
            </a:r>
            <a:endParaRPr lang="en-GB" sz="4000" dirty="0">
              <a:latin typeface="Arial" panose="020B0604020202020204" pitchFamily="34" charset="0"/>
              <a:cs typeface="Arial" panose="020B0604020202020204" pitchFamily="34" charset="0"/>
            </a:endParaRPr>
          </a:p>
          <a:p>
            <a:pPr marL="0" lvl="0" indent="0">
              <a:buNone/>
            </a:pPr>
            <a:endParaRPr lang="en-GB" dirty="0"/>
          </a:p>
        </p:txBody>
      </p:sp>
      <p:graphicFrame>
        <p:nvGraphicFramePr>
          <p:cNvPr id="9" name="Table 8"/>
          <p:cNvGraphicFramePr>
            <a:graphicFrameLocks noGrp="1"/>
          </p:cNvGraphicFramePr>
          <p:nvPr>
            <p:extLst>
              <p:ext uri="{D42A27DB-BD31-4B8C-83A1-F6EECF244321}">
                <p14:modId xmlns:p14="http://schemas.microsoft.com/office/powerpoint/2010/main" val="3838818396"/>
              </p:ext>
            </p:extLst>
          </p:nvPr>
        </p:nvGraphicFramePr>
        <p:xfrm>
          <a:off x="1043609" y="2780928"/>
          <a:ext cx="7488830" cy="1201774"/>
        </p:xfrm>
        <a:graphic>
          <a:graphicData uri="http://schemas.openxmlformats.org/drawingml/2006/table">
            <a:tbl>
              <a:tblPr rtl="1" firstRow="1" firstCol="1" lastRow="1" lastCol="1" bandRow="1" bandCol="1">
                <a:tableStyleId>{5940675A-B579-460E-94D1-54222C63F5DA}</a:tableStyleId>
              </a:tblPr>
              <a:tblGrid>
                <a:gridCol w="1234879">
                  <a:extLst>
                    <a:ext uri="{9D8B030D-6E8A-4147-A177-3AD203B41FA5}">
                      <a16:colId xmlns:a16="http://schemas.microsoft.com/office/drawing/2014/main" val="20000"/>
                    </a:ext>
                  </a:extLst>
                </a:gridCol>
                <a:gridCol w="1786843">
                  <a:extLst>
                    <a:ext uri="{9D8B030D-6E8A-4147-A177-3AD203B41FA5}">
                      <a16:colId xmlns:a16="http://schemas.microsoft.com/office/drawing/2014/main" val="20001"/>
                    </a:ext>
                  </a:extLst>
                </a:gridCol>
                <a:gridCol w="1489036">
                  <a:extLst>
                    <a:ext uri="{9D8B030D-6E8A-4147-A177-3AD203B41FA5}">
                      <a16:colId xmlns:a16="http://schemas.microsoft.com/office/drawing/2014/main" val="20002"/>
                    </a:ext>
                  </a:extLst>
                </a:gridCol>
                <a:gridCol w="1489036">
                  <a:extLst>
                    <a:ext uri="{9D8B030D-6E8A-4147-A177-3AD203B41FA5}">
                      <a16:colId xmlns:a16="http://schemas.microsoft.com/office/drawing/2014/main" val="20003"/>
                    </a:ext>
                  </a:extLst>
                </a:gridCol>
                <a:gridCol w="1489036">
                  <a:extLst>
                    <a:ext uri="{9D8B030D-6E8A-4147-A177-3AD203B41FA5}">
                      <a16:colId xmlns:a16="http://schemas.microsoft.com/office/drawing/2014/main" val="20004"/>
                    </a:ext>
                  </a:extLst>
                </a:gridCol>
              </a:tblGrid>
              <a:tr h="432048">
                <a:tc>
                  <a:txBody>
                    <a:bodyPr/>
                    <a:lstStyle/>
                    <a:p>
                      <a:pPr algn="ctr" rtl="1">
                        <a:spcAft>
                          <a:spcPts val="0"/>
                        </a:spcAft>
                      </a:pPr>
                      <a:r>
                        <a:rPr lang="he-IL" sz="1200" b="1" dirty="0">
                          <a:effectLst/>
                        </a:rPr>
                        <a:t>מצב נתון</a:t>
                      </a:r>
                      <a:endParaRPr lang="en-GB" sz="12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b="1" dirty="0">
                          <a:effectLst/>
                        </a:rPr>
                        <a:t>הסתברות למצב הנתון</a:t>
                      </a:r>
                      <a:endParaRPr lang="en-GB" sz="12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b="1" dirty="0">
                          <a:effectLst/>
                        </a:rPr>
                        <a:t>מנייה א</a:t>
                      </a:r>
                      <a:endParaRPr lang="en-GB" sz="12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b="1" dirty="0">
                          <a:effectLst/>
                        </a:rPr>
                        <a:t>מנייה ב</a:t>
                      </a:r>
                      <a:endParaRPr lang="en-GB" sz="1200" b="1"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b="1" dirty="0">
                          <a:effectLst/>
                          <a:latin typeface="Times New Roman" panose="02020603050405020304" pitchFamily="18" charset="0"/>
                          <a:ea typeface="Times New Roman" panose="02020603050405020304" pitchFamily="18" charset="0"/>
                        </a:rPr>
                        <a:t>מנייה ג</a:t>
                      </a:r>
                      <a:endParaRPr lang="en-GB" sz="1200" b="1"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84863">
                <a:tc>
                  <a:txBody>
                    <a:bodyPr/>
                    <a:lstStyle/>
                    <a:p>
                      <a:pPr algn="ctr" rtl="1">
                        <a:spcAft>
                          <a:spcPts val="0"/>
                        </a:spcAft>
                      </a:pPr>
                      <a:r>
                        <a:rPr lang="he-IL" sz="1200">
                          <a:effectLst/>
                        </a:rPr>
                        <a:t>מלחמה</a:t>
                      </a:r>
                      <a:endParaRPr lang="en-GB"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a:effectLst/>
                        </a:rPr>
                        <a:t>0.4</a:t>
                      </a:r>
                      <a:endParaRPr lang="en-GB"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a:effectLst/>
                        </a:rPr>
                        <a:t>% 20</a:t>
                      </a:r>
                      <a:endParaRPr lang="en-GB"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dirty="0">
                          <a:effectLst/>
                        </a:rPr>
                        <a:t>% 10</a:t>
                      </a:r>
                      <a:endParaRPr lang="en-GB"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en-US" sz="1200" dirty="0">
                          <a:effectLst/>
                          <a:latin typeface="Times New Roman" panose="02020603050405020304" pitchFamily="18" charset="0"/>
                          <a:ea typeface="Times New Roman" panose="02020603050405020304" pitchFamily="18" charset="0"/>
                        </a:rPr>
                        <a:t>12%</a:t>
                      </a:r>
                      <a:endParaRPr lang="en-GB"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84863">
                <a:tc>
                  <a:txBody>
                    <a:bodyPr/>
                    <a:lstStyle/>
                    <a:p>
                      <a:pPr algn="ctr" rtl="1">
                        <a:spcAft>
                          <a:spcPts val="0"/>
                        </a:spcAft>
                      </a:pPr>
                      <a:r>
                        <a:rPr lang="he-IL" sz="1200">
                          <a:effectLst/>
                        </a:rPr>
                        <a:t>שלום</a:t>
                      </a:r>
                      <a:endParaRPr lang="en-GB"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a:effectLst/>
                        </a:rPr>
                        <a:t>0.6</a:t>
                      </a:r>
                      <a:endParaRPr lang="en-GB"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a:effectLst/>
                        </a:rPr>
                        <a:t>% 40</a:t>
                      </a:r>
                      <a:endParaRPr lang="en-GB"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he-IL" sz="1200" dirty="0">
                          <a:effectLst/>
                        </a:rPr>
                        <a:t>% 25</a:t>
                      </a:r>
                      <a:endParaRPr lang="en-GB"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rtl="1">
                        <a:spcAft>
                          <a:spcPts val="0"/>
                        </a:spcAft>
                      </a:pPr>
                      <a:r>
                        <a:rPr lang="en-US" sz="1200" dirty="0">
                          <a:effectLst/>
                          <a:latin typeface="Times New Roman" panose="02020603050405020304" pitchFamily="18" charset="0"/>
                          <a:ea typeface="Times New Roman" panose="02020603050405020304" pitchFamily="18" charset="0"/>
                        </a:rPr>
                        <a:t>12%</a:t>
                      </a:r>
                      <a:endParaRPr lang="en-GB" sz="12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883813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a:t>שאלה מבחינה (תשס"ז מועד א)</a:t>
            </a:r>
          </a:p>
        </p:txBody>
      </p:sp>
      <p:sp>
        <p:nvSpPr>
          <p:cNvPr id="3" name="Content Placeholder 2"/>
          <p:cNvSpPr>
            <a:spLocks noGrp="1"/>
          </p:cNvSpPr>
          <p:nvPr>
            <p:ph idx="1"/>
          </p:nvPr>
        </p:nvSpPr>
        <p:spPr/>
        <p:txBody>
          <a:bodyPr/>
          <a:lstStyle/>
          <a:p>
            <a:r>
              <a:rPr lang="he-IL" dirty="0"/>
              <a:t>בקופסא 5 כדורים</a:t>
            </a:r>
            <a:r>
              <a:rPr lang="en-US" dirty="0"/>
              <a:t>,</a:t>
            </a:r>
            <a:r>
              <a:rPr lang="he-IL" dirty="0"/>
              <a:t> מהם 3 לבנים ו 2 שחורים</a:t>
            </a:r>
            <a:r>
              <a:rPr lang="en-US" dirty="0"/>
              <a:t>.</a:t>
            </a:r>
            <a:r>
              <a:rPr lang="he-IL" dirty="0"/>
              <a:t> על כל שליפת כדור משלמים 500 ש"ח</a:t>
            </a:r>
            <a:r>
              <a:rPr lang="en-US" dirty="0"/>
              <a:t>.</a:t>
            </a:r>
            <a:r>
              <a:rPr lang="he-IL" dirty="0"/>
              <a:t> שליפת כדור שחור מזכה ב 1000 ש"ח</a:t>
            </a:r>
            <a:r>
              <a:rPr lang="en-US" dirty="0"/>
              <a:t>.</a:t>
            </a:r>
            <a:r>
              <a:rPr lang="he-IL" dirty="0"/>
              <a:t> שחקן שולף כדורים ללא החזרה עד לזכייה(הוצאת כדור שחור)</a:t>
            </a:r>
            <a:r>
              <a:rPr lang="en-US" dirty="0"/>
              <a:t>.</a:t>
            </a:r>
            <a:endParaRPr lang="he-IL" dirty="0"/>
          </a:p>
          <a:p>
            <a:r>
              <a:rPr lang="he-IL" dirty="0"/>
              <a:t>רשמו את פונקציית ההסתברות של מספר הקלפים הלבנים הנשלפים</a:t>
            </a:r>
            <a:r>
              <a:rPr lang="en-US" dirty="0"/>
              <a:t>.</a:t>
            </a:r>
            <a:endParaRPr lang="he-IL" dirty="0"/>
          </a:p>
          <a:p>
            <a:r>
              <a:rPr lang="he-IL" dirty="0"/>
              <a:t>רשמו את תוחלת הזכייה ואת השונות שלה</a:t>
            </a:r>
            <a:r>
              <a:rPr lang="en-US"/>
              <a:t>.</a:t>
            </a:r>
            <a:endParaRPr lang="he-IL" dirty="0"/>
          </a:p>
        </p:txBody>
      </p:sp>
    </p:spTree>
    <p:extLst>
      <p:ext uri="{BB962C8B-B14F-4D97-AF65-F5344CB8AC3E}">
        <p14:creationId xmlns:p14="http://schemas.microsoft.com/office/powerpoint/2010/main" val="2062829567"/>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התאמה אישית 1">
      <a:majorFont>
        <a:latin typeface="Tahoma"/>
        <a:ea typeface=""/>
        <a:cs typeface="Tahoma"/>
      </a:majorFont>
      <a:minorFont>
        <a:latin typeface="Tahoma"/>
        <a:ea typeface=""/>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6207</TotalTime>
  <Words>937</Words>
  <Application>Microsoft Office PowerPoint</Application>
  <PresentationFormat>‫הצגה על המסך (4:3)</PresentationFormat>
  <Paragraphs>109</Paragraphs>
  <Slides>17</Slides>
  <Notes>1</Notes>
  <HiddenSlides>2</HiddenSlides>
  <MMClips>0</MMClips>
  <ScaleCrop>false</ScaleCrop>
  <HeadingPairs>
    <vt:vector size="8" baseType="variant">
      <vt:variant>
        <vt:lpstr>גופנים בשימוש</vt:lpstr>
      </vt:variant>
      <vt:variant>
        <vt:i4>5</vt:i4>
      </vt:variant>
      <vt:variant>
        <vt:lpstr>ערכת נושא</vt:lpstr>
      </vt:variant>
      <vt:variant>
        <vt:i4>1</vt:i4>
      </vt:variant>
      <vt:variant>
        <vt:lpstr>שרתי OLE מוטבעים</vt:lpstr>
      </vt:variant>
      <vt:variant>
        <vt:i4>1</vt:i4>
      </vt:variant>
      <vt:variant>
        <vt:lpstr>כותרות שקופיות</vt:lpstr>
      </vt:variant>
      <vt:variant>
        <vt:i4>17</vt:i4>
      </vt:variant>
    </vt:vector>
  </HeadingPairs>
  <TitlesOfParts>
    <vt:vector size="24" baseType="lpstr">
      <vt:lpstr>Arial</vt:lpstr>
      <vt:lpstr>Calibri</vt:lpstr>
      <vt:lpstr>Constantia</vt:lpstr>
      <vt:lpstr>Tahoma</vt:lpstr>
      <vt:lpstr>Times New Roman</vt:lpstr>
      <vt:lpstr>ערכת נושא Office</vt:lpstr>
      <vt:lpstr>Equation</vt:lpstr>
      <vt:lpstr>מבוא לסטטיסטיקה והסתברות</vt:lpstr>
      <vt:lpstr>מצגת של PowerPoint‏</vt:lpstr>
      <vt:lpstr>שאלה 2 </vt:lpstr>
      <vt:lpstr>מצגת של PowerPoint‏</vt:lpstr>
      <vt:lpstr>מצגת של PowerPoint‏</vt:lpstr>
      <vt:lpstr>מצגת של PowerPoint‏</vt:lpstr>
      <vt:lpstr>מצגת של PowerPoint‏</vt:lpstr>
      <vt:lpstr>תרגיל:</vt:lpstr>
      <vt:lpstr>תרגיל מבחינה</vt:lpstr>
      <vt:lpstr>משתנה מקרי בדיד:</vt:lpstr>
      <vt:lpstr>מצגת של PowerPoint‏</vt:lpstr>
      <vt:lpstr>התוחלת של משתנה מקרי בדיד</vt:lpstr>
      <vt:lpstr>תרגיל</vt:lpstr>
      <vt:lpstr>מצגת של PowerPoint‏</vt:lpstr>
      <vt:lpstr>שאלה 5 </vt:lpstr>
      <vt:lpstr>שאלה 6</vt:lpstr>
      <vt:lpstr>שאלה מבחינה (תשס"ז מועד א)</vt:lpstr>
    </vt:vector>
  </TitlesOfParts>
  <Company>Your Company Name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סטטיסטיקה ב' - תרגיל</dc:title>
  <dc:creator>Yaara</dc:creator>
  <cp:lastModifiedBy>Nimrod Haim</cp:lastModifiedBy>
  <cp:revision>144</cp:revision>
  <dcterms:created xsi:type="dcterms:W3CDTF">2011-10-31T22:07:50Z</dcterms:created>
  <dcterms:modified xsi:type="dcterms:W3CDTF">2023-08-09T10:25:06Z</dcterms:modified>
</cp:coreProperties>
</file>