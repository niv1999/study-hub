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99" r:id="rId3"/>
    <p:sldId id="398" r:id="rId4"/>
    <p:sldId id="387" r:id="rId5"/>
    <p:sldId id="388" r:id="rId6"/>
    <p:sldId id="389" r:id="rId7"/>
    <p:sldId id="399" r:id="rId8"/>
    <p:sldId id="390" r:id="rId9"/>
    <p:sldId id="392" r:id="rId10"/>
    <p:sldId id="400" r:id="rId11"/>
    <p:sldId id="402" r:id="rId12"/>
    <p:sldId id="403" r:id="rId13"/>
    <p:sldId id="416" r:id="rId14"/>
    <p:sldId id="417" r:id="rId15"/>
    <p:sldId id="419" r:id="rId16"/>
    <p:sldId id="420" r:id="rId17"/>
    <p:sldId id="410" r:id="rId18"/>
    <p:sldId id="422" r:id="rId19"/>
    <p:sldId id="423" r:id="rId2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  <p:cmAuthor id="1" name="yaara s" initials="ys" lastIdx="1" clrIdx="1">
    <p:extLst>
      <p:ext uri="{19B8F6BF-5375-455C-9EA6-DF929625EA0E}">
        <p15:presenceInfo xmlns:p15="http://schemas.microsoft.com/office/powerpoint/2012/main" userId="yaara 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265" autoAdjust="0"/>
    <p:restoredTop sz="84211" autoAdjust="0"/>
  </p:normalViewPr>
  <p:slideViewPr>
    <p:cSldViewPr>
      <p:cViewPr varScale="1">
        <p:scale>
          <a:sx n="76" d="100"/>
          <a:sy n="76" d="100"/>
        </p:scale>
        <p:origin x="3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2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רווח סמך: אומד לטווח ערכים של הפרמטר. אינו נקודתי ולכן יכול לקחת בחשבון את אקראיות הדגימה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27BA3-C614-434B-993A-3934943AC9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27BA3-C614-434B-993A-3934943AC9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40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 smtClean="0"/>
              <a:t>אמידת סטיית התקן מוסיפה</a:t>
            </a:r>
            <a:r>
              <a:rPr lang="he-IL" baseline="0" dirty="0" smtClean="0"/>
              <a:t> גורם טעות שנובע מהמדגם שנבחר. מסיבה זו ההתפלגות שתתקבל תהיה רחבה יותר – התפלגות </a:t>
            </a:r>
            <a:r>
              <a:rPr lang="en-US" baseline="0" dirty="0" smtClean="0"/>
              <a:t>t</a:t>
            </a:r>
            <a:r>
              <a:rPr lang="he-IL" baseline="0" dirty="0" smtClean="0"/>
              <a:t>. ככל שהמדגם גדל התפלגות זו מתכנסת אל ההתפלגות הנורמלית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27BA3-C614-434B-993A-3934943AC99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3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27BA3-C614-434B-993A-3934943AC9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93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159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200" b="1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latin typeface="Tahoma" pitchFamily="34" charset="0"/>
                <a:cs typeface="Tahoma" pitchFamily="34" charset="0"/>
              </a:defRPr>
            </a:lvl1pPr>
            <a:lvl2pPr>
              <a:lnSpc>
                <a:spcPct val="150000"/>
              </a:lnSpc>
              <a:defRPr sz="2400">
                <a:latin typeface="Tahoma" pitchFamily="34" charset="0"/>
                <a:cs typeface="Tahoma" pitchFamily="34" charset="0"/>
              </a:defRPr>
            </a:lvl2pPr>
            <a:lvl3pPr>
              <a:lnSpc>
                <a:spcPct val="150000"/>
              </a:lnSpc>
              <a:defRPr sz="2400">
                <a:latin typeface="Tahoma" pitchFamily="34" charset="0"/>
                <a:cs typeface="Tahoma" pitchFamily="34" charset="0"/>
              </a:defRPr>
            </a:lvl3pPr>
            <a:lvl4pPr>
              <a:lnSpc>
                <a:spcPct val="150000"/>
              </a:lnSpc>
              <a:defRPr sz="2400">
                <a:latin typeface="Tahoma" pitchFamily="34" charset="0"/>
                <a:cs typeface="Tahoma" pitchFamily="34" charset="0"/>
              </a:defRPr>
            </a:lvl4pPr>
            <a:lvl5pPr>
              <a:lnSpc>
                <a:spcPct val="150000"/>
              </a:lnSpc>
              <a:defRPr sz="2400"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208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539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046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887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6807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061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280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482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603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88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12/20/2015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C7988-AF6B-4986-95B0-21938EC971A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C3E87-99E1-4B6C-9B9D-634DEA2899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55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3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Document1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08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491880" y="4051912"/>
            <a:ext cx="395536" cy="385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39952" y="3789040"/>
            <a:ext cx="46602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56016" y="4437112"/>
            <a:ext cx="360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pPr algn="ctr"/>
            <a:r>
              <a:rPr lang="he-IL" b="1" dirty="0" smtClean="0"/>
              <a:t>רווח סמך</a:t>
            </a:r>
            <a:endParaRPr lang="en-US" b="1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6886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he-IL" sz="2400" b="1" u="sng" dirty="0" smtClean="0"/>
          </a:p>
          <a:p>
            <a:pPr>
              <a:lnSpc>
                <a:spcPct val="150000"/>
              </a:lnSpc>
            </a:pPr>
            <a:r>
              <a:rPr lang="he-IL" sz="2400" b="1" u="sng" dirty="0" smtClean="0"/>
              <a:t>רווח סמך:</a:t>
            </a:r>
            <a:r>
              <a:rPr lang="he-IL" sz="2400" dirty="0" smtClean="0"/>
              <a:t> אומד לטווח ערכים של הפרמטר</a:t>
            </a:r>
          </a:p>
          <a:p>
            <a:pPr>
              <a:lnSpc>
                <a:spcPct val="150000"/>
              </a:lnSpc>
            </a:pPr>
            <a:r>
              <a:rPr lang="he-IL" sz="2400" b="1" u="sng" dirty="0" smtClean="0"/>
              <a:t>רמת סמך</a:t>
            </a:r>
            <a:r>
              <a:rPr lang="he-IL" sz="2400" b="1" dirty="0" smtClean="0"/>
              <a:t>: </a:t>
            </a:r>
            <a:r>
              <a:rPr lang="he-IL" sz="2400" dirty="0" smtClean="0"/>
              <a:t>ההסתברות שהרווח כולל את הפרמטר</a:t>
            </a:r>
          </a:p>
          <a:p>
            <a:pPr>
              <a:lnSpc>
                <a:spcPct val="150000"/>
              </a:lnSpc>
            </a:pPr>
            <a:r>
              <a:rPr lang="he-IL" sz="2400" b="1" u="sng" dirty="0" smtClean="0"/>
              <a:t>רווח סמך עבור </a:t>
            </a:r>
            <a:r>
              <a:rPr lang="en-US" sz="2400" b="1" u="sng" dirty="0" smtClean="0"/>
              <a:t>μ</a:t>
            </a:r>
            <a:r>
              <a:rPr lang="he-IL" sz="2400" b="1" u="sng" dirty="0" smtClean="0"/>
              <a:t> כאשר  </a:t>
            </a:r>
            <a:r>
              <a:rPr lang="en-US" sz="2400" b="1" u="sng" dirty="0" smtClean="0"/>
              <a:t>σ</a:t>
            </a:r>
            <a:r>
              <a:rPr lang="he-IL" sz="2400" b="1" u="sng" dirty="0" smtClean="0"/>
              <a:t> ידועה:</a:t>
            </a:r>
          </a:p>
          <a:p>
            <a:pPr>
              <a:lnSpc>
                <a:spcPct val="150000"/>
              </a:lnSpc>
              <a:buNone/>
            </a:pPr>
            <a:r>
              <a:rPr lang="he-IL" sz="2400" b="1" dirty="0" smtClean="0"/>
              <a:t> 	</a:t>
            </a:r>
          </a:p>
          <a:p>
            <a:pPr>
              <a:lnSpc>
                <a:spcPct val="150000"/>
              </a:lnSpc>
              <a:buNone/>
            </a:pPr>
            <a:r>
              <a:rPr lang="he-IL" sz="2400" b="1" dirty="0" smtClean="0">
                <a:solidFill>
                  <a:srgbClr val="FF0000"/>
                </a:solidFill>
              </a:rPr>
              <a:t>		</a:t>
            </a:r>
            <a:r>
              <a:rPr lang="en-US" sz="2400" b="1" dirty="0" smtClean="0">
                <a:solidFill>
                  <a:srgbClr val="FF0000"/>
                </a:solidFill>
              </a:rPr>
              <a:t>A</a:t>
            </a:r>
            <a:r>
              <a:rPr lang="he-IL" sz="2400" b="1" dirty="0" smtClean="0">
                <a:solidFill>
                  <a:srgbClr val="FF0000"/>
                </a:solidFill>
              </a:rPr>
              <a:t>- מרווח הדיוק:</a:t>
            </a:r>
          </a:p>
          <a:p>
            <a:pPr>
              <a:lnSpc>
                <a:spcPct val="150000"/>
              </a:lnSpc>
              <a:buNone/>
            </a:pPr>
            <a:endParaRPr lang="he-IL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he-IL" sz="2400" b="1" dirty="0" smtClean="0">
              <a:solidFill>
                <a:srgbClr val="FF0000"/>
              </a:solidFill>
            </a:endParaRPr>
          </a:p>
        </p:txBody>
      </p:sp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763588" y="2781300"/>
          <a:ext cx="25034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0" name="Equation" r:id="rId4" imgW="914400" imgH="228600" progId="Equation.3">
                  <p:embed/>
                </p:oleObj>
              </mc:Choice>
              <mc:Fallback>
                <p:oleObj name="Equation" r:id="rId4" imgW="914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781300"/>
                        <a:ext cx="2503487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0" y="15176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3" algn="l"/>
              </a:tabLst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2771800" y="3701873"/>
          <a:ext cx="2016224" cy="116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1" name="Equation" r:id="rId6" imgW="723600" imgH="419040" progId="Equation.3">
                  <p:embed/>
                </p:oleObj>
              </mc:Choice>
              <mc:Fallback>
                <p:oleObj name="Equation" r:id="rId6" imgW="723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701873"/>
                        <a:ext cx="2016224" cy="116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27984" y="5301208"/>
            <a:ext cx="252028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פונקציה של רמת הסמך. ככל שרמת הסמך קטנה (</a:t>
            </a:r>
            <a:r>
              <a:rPr lang="en-US" dirty="0" smtClean="0"/>
              <a:t>Z</a:t>
            </a:r>
            <a:r>
              <a:rPr lang="he-IL" dirty="0" smtClean="0"/>
              <a:t> קטן), מרווח הדיוק קטן.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555776" y="5301208"/>
            <a:ext cx="18002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ככל שסטיית התקן קטנה, מרווח הדיוק קטן.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0" y="5301208"/>
            <a:ext cx="252028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ככל שגודל המדגם גדל, מרווח הדיוק קטן. </a:t>
            </a:r>
          </a:p>
          <a:p>
            <a:endParaRPr lang="he-IL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4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 animBg="1"/>
      <p:bldP spid="10" grpId="0" animBg="1"/>
      <p:bldP spid="17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572000" y="4051912"/>
            <a:ext cx="21602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045993" y="3789040"/>
            <a:ext cx="39401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92080" y="4437112"/>
            <a:ext cx="28803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5527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e-IL" sz="2800" b="1" u="sng" dirty="0" smtClean="0"/>
              <a:t>רווח סמך עבור </a:t>
            </a:r>
            <a:r>
              <a:rPr lang="en-US" sz="2800" b="1" u="sng" dirty="0" smtClean="0"/>
              <a:t>μ</a:t>
            </a:r>
            <a:r>
              <a:rPr lang="he-IL" sz="2800" b="1" u="sng" dirty="0" smtClean="0"/>
              <a:t> כאשר  </a:t>
            </a:r>
            <a:r>
              <a:rPr lang="en-US" sz="2800" b="1" u="sng" dirty="0" smtClean="0"/>
              <a:t>σ</a:t>
            </a:r>
            <a:r>
              <a:rPr lang="he-IL" sz="2800" b="1" u="sng" dirty="0" smtClean="0"/>
              <a:t> </a:t>
            </a:r>
            <a:r>
              <a:rPr lang="he-IL" sz="2800" b="1" u="sng" dirty="0" smtClean="0">
                <a:solidFill>
                  <a:srgbClr val="00B050"/>
                </a:solidFill>
              </a:rPr>
              <a:t>לא ידועה:</a:t>
            </a:r>
          </a:p>
          <a:p>
            <a:pPr>
              <a:lnSpc>
                <a:spcPct val="150000"/>
              </a:lnSpc>
              <a:buNone/>
            </a:pPr>
            <a:r>
              <a:rPr lang="he-IL" sz="2400" dirty="0" smtClean="0"/>
              <a:t>   מכיוון שלא ידועה סטיית התקן באוכלוסייה, נשתמש בנתוני המדגם כדי לאמוד אותה:</a:t>
            </a:r>
            <a:r>
              <a:rPr lang="he-IL" sz="2400" b="1" dirty="0" smtClean="0"/>
              <a:t> 	</a:t>
            </a:r>
          </a:p>
          <a:p>
            <a:pPr>
              <a:lnSpc>
                <a:spcPct val="150000"/>
              </a:lnSpc>
              <a:buNone/>
            </a:pPr>
            <a:r>
              <a:rPr lang="he-IL" sz="2400" b="1" dirty="0" smtClean="0">
                <a:solidFill>
                  <a:srgbClr val="FF0000"/>
                </a:solidFill>
              </a:rPr>
              <a:t>    		</a:t>
            </a:r>
          </a:p>
          <a:p>
            <a:pPr>
              <a:lnSpc>
                <a:spcPct val="150000"/>
              </a:lnSpc>
              <a:buNone/>
            </a:pPr>
            <a:endParaRPr lang="he-IL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	A</a:t>
            </a:r>
            <a:r>
              <a:rPr lang="he-IL" sz="2400" b="1" dirty="0" smtClean="0">
                <a:solidFill>
                  <a:srgbClr val="FF0000"/>
                </a:solidFill>
              </a:rPr>
              <a:t>- מרווח הדיוק:</a:t>
            </a:r>
          </a:p>
          <a:p>
            <a:pPr>
              <a:lnSpc>
                <a:spcPct val="150000"/>
              </a:lnSpc>
              <a:buNone/>
            </a:pPr>
            <a:endParaRPr lang="he-IL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he-IL" sz="2400" b="1" dirty="0" smtClean="0">
              <a:solidFill>
                <a:srgbClr val="FF0000"/>
              </a:solidFill>
            </a:endParaRPr>
          </a:p>
        </p:txBody>
      </p:sp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0" y="15176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363" algn="l"/>
              </a:tabLst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2080" y="5301208"/>
            <a:ext cx="252028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פונקציה של רמת הסמך. ככל שרמת הסמך קטנה (</a:t>
            </a:r>
            <a:r>
              <a:rPr lang="en-US" dirty="0" smtClean="0"/>
              <a:t>t</a:t>
            </a:r>
            <a:r>
              <a:rPr lang="he-IL" dirty="0" smtClean="0"/>
              <a:t> קטן), מרווח הדיוק קטן.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5301208"/>
            <a:ext cx="18002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ככל שסטיית התקן קטנה, מרווח הדיוק קטן.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67544" y="5301208"/>
            <a:ext cx="2916832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 smtClean="0"/>
              <a:t>ככל שגודל המדגם גדל, מרווח הדיוק קטן (גם בצורה ישירה וגם בעקיפין בשל הקטנת ערך  </a:t>
            </a:r>
            <a:r>
              <a:rPr lang="en-US" dirty="0" smtClean="0"/>
              <a:t>t</a:t>
            </a:r>
            <a:r>
              <a:rPr lang="he-IL" dirty="0" smtClean="0"/>
              <a:t>). </a:t>
            </a:r>
            <a:endParaRPr lang="en-US" dirty="0"/>
          </a:p>
        </p:txBody>
      </p:sp>
      <p:graphicFrame>
        <p:nvGraphicFramePr>
          <p:cNvPr id="198661" name="Object 5"/>
          <p:cNvGraphicFramePr>
            <a:graphicFrameLocks noChangeAspect="1"/>
          </p:cNvGraphicFramePr>
          <p:nvPr>
            <p:extLst/>
          </p:nvPr>
        </p:nvGraphicFramePr>
        <p:xfrm>
          <a:off x="1543050" y="1573213"/>
          <a:ext cx="2274888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6" name="Equation" r:id="rId4" imgW="1130040" imgH="507960" progId="Equation.3">
                  <p:embed/>
                </p:oleObj>
              </mc:Choice>
              <mc:Fallback>
                <p:oleObj name="Equation" r:id="rId4" imgW="11300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1573213"/>
                        <a:ext cx="2274888" cy="12700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3848720" y="3702347"/>
          <a:ext cx="18034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7" name="Equation" r:id="rId6" imgW="647640" imgH="419040" progId="Equation.3">
                  <p:embed/>
                </p:oleObj>
              </mc:Choice>
              <mc:Fallback>
                <p:oleObj name="Equation" r:id="rId6" imgW="64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720" y="3702347"/>
                        <a:ext cx="18034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6612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 animBg="1"/>
      <p:bldP spid="10" grpId="0" animBg="1"/>
      <p:bldP spid="17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683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l="11610" t="13461" r="10133" b="9537"/>
          <a:stretch/>
        </p:blipFill>
        <p:spPr bwMode="auto">
          <a:xfrm>
            <a:off x="323528" y="116632"/>
            <a:ext cx="8617732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10201" t="56820" r="22093" b="26086"/>
          <a:stretch/>
        </p:blipFill>
        <p:spPr>
          <a:xfrm>
            <a:off x="611560" y="5733256"/>
            <a:ext cx="7272808" cy="1008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75856" y="515719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456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-36512" y="44624"/>
            <a:ext cx="9144000" cy="66967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800" b="1" u="sng" dirty="0" smtClean="0"/>
              <a:t>שאלה </a:t>
            </a:r>
            <a:r>
              <a:rPr lang="en-US" sz="2800" b="1" u="sng" dirty="0" smtClean="0"/>
              <a:t>1</a:t>
            </a:r>
            <a:endParaRPr lang="he-IL" sz="2800" b="1" u="sng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/>
              <a:t>א. עבור מדגם בגודל 5, מהו ערך </a:t>
            </a:r>
            <a:r>
              <a:rPr lang="en-US" sz="2800" b="1" dirty="0" err="1" smtClean="0"/>
              <a:t>t</a:t>
            </a:r>
            <a:r>
              <a:rPr lang="en-US" sz="2800" b="1" baseline="-25000" dirty="0" err="1"/>
              <a:t>c</a:t>
            </a:r>
            <a:r>
              <a:rPr lang="he-IL" sz="2800" b="1" dirty="0" smtClean="0"/>
              <a:t> עבורו השטח בין </a:t>
            </a:r>
            <a:r>
              <a:rPr lang="en-US" sz="2800" b="1" dirty="0" err="1" smtClean="0"/>
              <a:t>t</a:t>
            </a:r>
            <a:r>
              <a:rPr lang="en-US" sz="2800" b="1" baseline="-25000" dirty="0" err="1"/>
              <a:t>c</a:t>
            </a:r>
            <a:r>
              <a:rPr lang="he-IL" sz="2800" b="1" dirty="0" smtClean="0"/>
              <a:t> ו-</a:t>
            </a:r>
            <a:r>
              <a:rPr lang="en-US" sz="2800" b="1" dirty="0" err="1" smtClean="0"/>
              <a:t>t</a:t>
            </a:r>
            <a:r>
              <a:rPr lang="en-US" sz="2800" b="1" baseline="-25000" dirty="0" err="1" smtClean="0"/>
              <a:t>c</a:t>
            </a:r>
            <a:r>
              <a:rPr lang="he-IL" sz="2800" b="1" dirty="0" smtClean="0"/>
              <a:t>- שווה ל-90%?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b="1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800" b="1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/>
              <a:t>ב. </a:t>
            </a:r>
            <a:r>
              <a:rPr lang="he-IL" sz="2800" b="1" dirty="0"/>
              <a:t>עבור מדגם בגודל </a:t>
            </a:r>
            <a:r>
              <a:rPr lang="he-IL" sz="2800" b="1" dirty="0" smtClean="0"/>
              <a:t>25</a:t>
            </a:r>
            <a:r>
              <a:rPr lang="he-IL" sz="2800" b="1" dirty="0"/>
              <a:t>, מהו ערך </a:t>
            </a:r>
            <a:r>
              <a:rPr lang="en-US" sz="2800" b="1" dirty="0" err="1"/>
              <a:t>t</a:t>
            </a:r>
            <a:r>
              <a:rPr lang="en-US" sz="2800" b="1" baseline="-25000" dirty="0" err="1"/>
              <a:t>c</a:t>
            </a:r>
            <a:r>
              <a:rPr lang="he-IL" sz="2800" b="1" dirty="0"/>
              <a:t> עבורו השטח בין </a:t>
            </a:r>
            <a:r>
              <a:rPr lang="en-US" sz="2800" b="1" dirty="0" err="1"/>
              <a:t>t</a:t>
            </a:r>
            <a:r>
              <a:rPr lang="en-US" sz="2800" b="1" baseline="-25000" dirty="0" err="1"/>
              <a:t>c</a:t>
            </a:r>
            <a:r>
              <a:rPr lang="he-IL" sz="2800" b="1" dirty="0"/>
              <a:t> ו-</a:t>
            </a:r>
            <a:r>
              <a:rPr lang="en-US" sz="2800" b="1" dirty="0" err="1"/>
              <a:t>t</a:t>
            </a:r>
            <a:r>
              <a:rPr lang="en-US" sz="2800" b="1" baseline="-25000" dirty="0" err="1"/>
              <a:t>c</a:t>
            </a:r>
            <a:r>
              <a:rPr lang="he-IL" sz="2800" b="1" dirty="0"/>
              <a:t>- שווה ל-90%?</a:t>
            </a:r>
          </a:p>
          <a:p>
            <a:pPr marL="0" indent="0">
              <a:lnSpc>
                <a:spcPct val="150000"/>
              </a:lnSpc>
              <a:buNone/>
            </a:pPr>
            <a:endParaRPr lang="he-IL" sz="2800" b="1" dirty="0"/>
          </a:p>
          <a:p>
            <a:pPr marL="0" indent="0">
              <a:lnSpc>
                <a:spcPct val="150000"/>
              </a:lnSpc>
              <a:buNone/>
            </a:pPr>
            <a:endParaRPr lang="he-IL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204865"/>
            <a:ext cx="3672408" cy="13090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5144245"/>
            <a:ext cx="3168352" cy="159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6512" y="-27384"/>
            <a:ext cx="9144000" cy="66967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u="sng" dirty="0" smtClean="0"/>
              <a:t>שאלה </a:t>
            </a:r>
            <a:r>
              <a:rPr lang="en-US" sz="2600" b="1" u="sng" dirty="0" smtClean="0"/>
              <a:t>2</a:t>
            </a:r>
            <a:endParaRPr lang="he-IL" sz="2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 smtClean="0"/>
              <a:t>במדגם של נתוני משקל נלקחו 6 נבדקים והתקבלו התוצאות הבאות: 77, 80, 55, 85, 71, 52 </a:t>
            </a:r>
          </a:p>
          <a:p>
            <a:pPr marL="0" indent="0">
              <a:lnSpc>
                <a:spcPct val="150000"/>
              </a:lnSpc>
              <a:buNone/>
            </a:pPr>
            <a:endParaRPr lang="he-IL" sz="2600" dirty="0" smtClean="0"/>
          </a:p>
          <a:p>
            <a:pPr marL="0" lvl="0" indent="0">
              <a:lnSpc>
                <a:spcPct val="150000"/>
              </a:lnSpc>
              <a:buNone/>
            </a:pPr>
            <a:r>
              <a:rPr lang="he-IL" sz="2600" b="1" dirty="0" smtClean="0"/>
              <a:t>א. חשבו ממוצע וסטיית תקן מדגמיים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he-IL" sz="2600" b="1" dirty="0" smtClean="0"/>
              <a:t>ב. חשבו אומדן לממוצע ולסטיית התקן באוכלוסייה על סמך נתוני המדגם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he-IL" sz="2600" b="1" dirty="0" smtClean="0"/>
              <a:t>ג. בהנחה שמשקל באוכלוסייה מתפלג נורמלית, בנו רווח סמך לממוצע המשקל באוכלוסיה ברמת ביטחון של 90%, עפי נתוני המדגם</a:t>
            </a:r>
            <a:endParaRPr lang="en-US" sz="2600" b="1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8620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39141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u="sng" dirty="0" smtClean="0"/>
              <a:t>שאלה</a:t>
            </a:r>
            <a:r>
              <a:rPr lang="en-US" b="1" u="sng" dirty="0" smtClean="0"/>
              <a:t>3 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במחקר שבו נבחנה ההוצאה הכספית החודשית על מזון השתתפו 61 משפחות והתקבלו התוצאות הבאות: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 smtClean="0"/>
          </a:p>
          <a:p>
            <a:pPr marL="0" lvl="0" indent="0">
              <a:lnSpc>
                <a:spcPct val="150000"/>
              </a:lnSpc>
              <a:buNone/>
            </a:pPr>
            <a:endParaRPr lang="he-IL" b="1" dirty="0" smtClean="0"/>
          </a:p>
          <a:p>
            <a:pPr marL="0" lvl="0" indent="0">
              <a:lnSpc>
                <a:spcPct val="150000"/>
              </a:lnSpc>
              <a:buNone/>
            </a:pPr>
            <a:r>
              <a:rPr lang="he-IL" b="1" dirty="0" smtClean="0"/>
              <a:t>בנו רווח בר-סמך ברמת סמך של 95% לתוחלת ההוצאה החודשית על מזון</a:t>
            </a:r>
            <a:endParaRPr lang="en-US" b="1" dirty="0" smtClean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156731"/>
              </p:ext>
            </p:extLst>
          </p:nvPr>
        </p:nvGraphicFramePr>
        <p:xfrm>
          <a:off x="1547664" y="3429000"/>
          <a:ext cx="6421384" cy="10109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61384"/>
                <a:gridCol w="972000"/>
                <a:gridCol w="972000"/>
                <a:gridCol w="972000"/>
                <a:gridCol w="972000"/>
                <a:gridCol w="972000"/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הוצאה חודשית (₪)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1500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2000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2500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3000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3500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מס' משפחות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9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32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39141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u="sng" dirty="0" smtClean="0"/>
              <a:t>שאלה </a:t>
            </a:r>
            <a:r>
              <a:rPr lang="en-US" b="1" u="sng" dirty="0" smtClean="0"/>
              <a:t>4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 smtClean="0"/>
              <a:t>במדגם מקרי של </a:t>
            </a:r>
            <a:r>
              <a:rPr lang="en-US" sz="2400" dirty="0" smtClean="0"/>
              <a:t>21</a:t>
            </a:r>
            <a:r>
              <a:rPr lang="he-IL" sz="2400" dirty="0" smtClean="0"/>
              <a:t> שוודים נמצא גובה ממוצע של 185.2 ס"מ וסטיית תקן (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n-1</a:t>
            </a:r>
            <a:r>
              <a:rPr lang="he-IL" sz="2400" dirty="0" smtClean="0"/>
              <a:t>) של 5 ס"מ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he-IL" sz="2400" b="1" dirty="0" smtClean="0"/>
              <a:t>א. בנו רווח בר-סמך ברמת סמך של 99% לתוחלת הגובה בשוודיה</a:t>
            </a:r>
            <a:endParaRPr lang="en-US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400" b="1" dirty="0"/>
              <a:t>ב. במדגם דומה שנערך בגרמניה נמצא ממוצע גובה של 184 ס"מ. חוקר טוען שברמת מובהקות של 1% יש הבדלי גובה בין גרמניה ושוודיה. האם טענתו נכונה? </a:t>
            </a:r>
            <a:endParaRPr lang="en-US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400" b="1" dirty="0"/>
              <a:t>ג. האם ניתן היה לקבל את טענת החוקר ברמת מובהקות זהה (1%) אם הוא היה טוען שתוחלת הגובה בגרמניה נמוכה יותר מאשר בשוודיה? </a:t>
            </a:r>
          </a:p>
          <a:p>
            <a:pPr marL="0" lvl="0" indent="0">
              <a:lnSpc>
                <a:spcPct val="150000"/>
              </a:lnSpc>
              <a:buNone/>
            </a:pPr>
            <a:endParaRPr lang="en-US" sz="2400" b="1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08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39141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u="sng" dirty="0" smtClean="0"/>
              <a:t>שאלה 5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 smtClean="0"/>
              <a:t>במדגם של 35 מטופלים נמצא שחומר הומיאופתי הפחית את לחץ הדם הסיסטולי ב-18 נקודות בממוצע, עם סטיית תקן 5. ידוע שפלסבו מוריד את הערך הנ"ל ב-15 נקודות. </a:t>
            </a:r>
            <a:endParaRPr lang="en-US" sz="2600" dirty="0" smtClean="0"/>
          </a:p>
          <a:p>
            <a:pPr marL="0" indent="0">
              <a:lnSpc>
                <a:spcPct val="150000"/>
              </a:lnSpc>
              <a:buNone/>
            </a:pPr>
            <a:endParaRPr lang="he-IL" sz="2600" dirty="0" smtClean="0"/>
          </a:p>
          <a:p>
            <a:pPr marL="0" lvl="0" indent="0">
              <a:lnSpc>
                <a:spcPct val="150000"/>
              </a:lnSpc>
              <a:buNone/>
            </a:pPr>
            <a:r>
              <a:rPr lang="he-IL" sz="2600" b="1" dirty="0" smtClean="0"/>
              <a:t>האם ניתן לומר ברמת מובהקות של 5% שהטיפול ההומיאופתי יעיל יותר מפלסבו בהורדת לחץ דם?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5370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39141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u="sng" dirty="0" smtClean="0"/>
              <a:t>שאלה </a:t>
            </a:r>
            <a:r>
              <a:rPr lang="en-US" b="1" u="sng" dirty="0" smtClean="0"/>
              <a:t>6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/>
              <a:t>ידוע שהטמפרטורה בת"א ב</a:t>
            </a:r>
            <a:r>
              <a:rPr lang="he-IL" sz="2600" dirty="0" smtClean="0"/>
              <a:t>קיץ מתפלגת </a:t>
            </a:r>
            <a:r>
              <a:rPr lang="he-IL" sz="2600" dirty="0"/>
              <a:t>נורמלית. מטאורולוג מדד את הטמפרטורה ב- 9 ימים בקיץ </a:t>
            </a:r>
            <a:r>
              <a:rPr lang="he-IL" sz="2600" dirty="0" smtClean="0"/>
              <a:t>2015 וקיבל </a:t>
            </a:r>
            <a:r>
              <a:rPr lang="he-IL" sz="2600" dirty="0"/>
              <a:t>את המדגם </a:t>
            </a:r>
            <a:r>
              <a:rPr lang="he-IL" sz="2600" dirty="0" smtClean="0"/>
              <a:t>הבא (במעלות צלזיוס): 26, </a:t>
            </a:r>
            <a:r>
              <a:rPr lang="he-IL" sz="2600" dirty="0"/>
              <a:t>30, 32, 27, 30, 28, 35, 29, 33.</a:t>
            </a:r>
          </a:p>
          <a:p>
            <a:pPr marL="0" indent="0">
              <a:lnSpc>
                <a:spcPct val="150000"/>
              </a:lnSpc>
              <a:buNone/>
            </a:pPr>
            <a:endParaRPr lang="he-IL" sz="26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 smtClean="0"/>
              <a:t>א. מצא רווח </a:t>
            </a:r>
            <a:r>
              <a:rPr lang="he-IL" sz="2600" dirty="0"/>
              <a:t>סמך לתוחלת הטמפרטורה ברמת סמך של 95</a:t>
            </a:r>
            <a:r>
              <a:rPr lang="he-IL" sz="2600" dirty="0" smtClean="0"/>
              <a:t>%.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 smtClean="0"/>
              <a:t>ב. חוקר טוען שבשל ההתחממות הגלובלית, תוחלת הטמפרטורה ב-2015 גבוהה מזו של שנת 2000, שהייתה 28 מעלות. האם טענתו של החוקר נכונה ברמת מובהקות של 5%?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1535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143000"/>
          </a:xfrm>
        </p:spPr>
        <p:txBody>
          <a:bodyPr>
            <a:noAutofit/>
          </a:bodyPr>
          <a:lstStyle/>
          <a:p>
            <a:r>
              <a:rPr lang="he-IL" b="1" dirty="0" smtClean="0"/>
              <a:t>שיטות א-פרמטריות</a:t>
            </a:r>
            <a:br>
              <a:rPr lang="he-IL" b="1" dirty="0" smtClean="0"/>
            </a:br>
            <a:endParaRPr lang="he-I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he-IL" b="1" dirty="0" smtClean="0"/>
              <a:t>משמשות במקרים הבאים: </a:t>
            </a:r>
          </a:p>
          <a:p>
            <a:pPr lvl="1">
              <a:lnSpc>
                <a:spcPct val="200000"/>
              </a:lnSpc>
            </a:pPr>
            <a:r>
              <a:rPr lang="he-IL" dirty="0" smtClean="0"/>
              <a:t> לא ניתן להניח נורמליות</a:t>
            </a:r>
          </a:p>
          <a:p>
            <a:pPr lvl="1">
              <a:lnSpc>
                <a:spcPct val="200000"/>
              </a:lnSpc>
            </a:pPr>
            <a:r>
              <a:rPr lang="he-IL" dirty="0" smtClean="0"/>
              <a:t>משתנים מסוג שם או סדר</a:t>
            </a:r>
          </a:p>
        </p:txBody>
      </p:sp>
    </p:spTree>
    <p:extLst>
      <p:ext uri="{BB962C8B-B14F-4D97-AF65-F5344CB8AC3E}">
        <p14:creationId xmlns:p14="http://schemas.microsoft.com/office/powerpoint/2010/main" val="370200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Autofit/>
          </a:bodyPr>
          <a:lstStyle/>
          <a:p>
            <a:r>
              <a:rPr lang="he-IL" b="1" dirty="0" smtClean="0"/>
              <a:t>מבחן </a:t>
            </a:r>
            <a:r>
              <a:rPr lang="el-G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r>
              <a:rPr lang="en-US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he-I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712968" cy="499715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he-IL" sz="2400" dirty="0" smtClean="0"/>
              <a:t>סטטיסטי המבחן:</a:t>
            </a:r>
          </a:p>
          <a:p>
            <a:pPr>
              <a:lnSpc>
                <a:spcPct val="200000"/>
              </a:lnSpc>
            </a:pPr>
            <a:r>
              <a:rPr lang="he-IL" sz="2400" dirty="0" smtClean="0"/>
              <a:t>מאפשר בדיקה של:</a:t>
            </a:r>
          </a:p>
          <a:p>
            <a:pPr lvl="1">
              <a:lnSpc>
                <a:spcPct val="200000"/>
              </a:lnSpc>
            </a:pPr>
            <a:r>
              <a:rPr lang="he-IL" sz="2000" b="1" dirty="0" smtClean="0"/>
              <a:t>טיב התאמה – </a:t>
            </a:r>
            <a:r>
              <a:rPr lang="he-IL" sz="2000" dirty="0" smtClean="0"/>
              <a:t>השוואת </a:t>
            </a:r>
            <a:r>
              <a:rPr lang="he-IL" sz="2000" dirty="0"/>
              <a:t>הפרופורציות של תכונה מסוימת באוכלוסייה להסתברויות </a:t>
            </a:r>
            <a:r>
              <a:rPr lang="he-IL" sz="2000" dirty="0" smtClean="0"/>
              <a:t>נתונות, או השוואת </a:t>
            </a:r>
            <a:r>
              <a:rPr lang="he-IL" sz="2000" dirty="0"/>
              <a:t>הפרופורציות של תכונה בשתי אוכלוסיות </a:t>
            </a:r>
            <a:r>
              <a:rPr lang="he-IL" sz="2000" dirty="0" smtClean="0"/>
              <a:t>שונות</a:t>
            </a:r>
          </a:p>
          <a:p>
            <a:pPr lvl="1">
              <a:lnSpc>
                <a:spcPct val="200000"/>
              </a:lnSpc>
            </a:pPr>
            <a:r>
              <a:rPr lang="he-IL" sz="2000" b="1" dirty="0" smtClean="0"/>
              <a:t>אי תלות – </a:t>
            </a:r>
            <a:r>
              <a:rPr lang="he-IL" sz="2000" dirty="0" smtClean="0"/>
              <a:t>בדיקת התלות (קשר) של </a:t>
            </a:r>
            <a:r>
              <a:rPr lang="he-IL" sz="2000" dirty="0"/>
              <a:t>שתי תכונות באוכלוסייה</a:t>
            </a:r>
            <a:endParaRPr lang="he-IL" sz="2000" dirty="0" smtClean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712031"/>
              </p:ext>
            </p:extLst>
          </p:nvPr>
        </p:nvGraphicFramePr>
        <p:xfrm>
          <a:off x="2483768" y="1628800"/>
          <a:ext cx="3752163" cy="994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8" name="Equation" r:id="rId3" imgW="1828800" imgH="482400" progId="Equation.3">
                  <p:embed/>
                </p:oleObj>
              </mc:Choice>
              <mc:Fallback>
                <p:oleObj name="Equation" r:id="rId3" imgW="1828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628800"/>
                        <a:ext cx="3752163" cy="99466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215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6936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he-IL" b="1" u="sng" dirty="0" smtClean="0"/>
              <a:t>שאלה 7</a:t>
            </a:r>
          </a:p>
          <a:p>
            <a:pPr marL="0" indent="0">
              <a:buNone/>
            </a:pPr>
            <a:r>
              <a:rPr lang="he-IL" dirty="0" smtClean="0"/>
              <a:t>בחירת מגמות בבי"ס תיכוניים בישראל מתפלגת עפ"י הפירוט הבא:</a:t>
            </a:r>
          </a:p>
          <a:p>
            <a:pPr marL="0" indent="0">
              <a:buNone/>
            </a:pPr>
            <a:endParaRPr lang="he-IL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b="1" dirty="0">
                <a:solidFill>
                  <a:prstClr val="black"/>
                </a:solidFill>
                <a:ea typeface="Tahoma" panose="020B0604030504040204" pitchFamily="34" charset="0"/>
              </a:rPr>
              <a:t>מגמה		אחוז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כימיה		30%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מתמטיקה	50</a:t>
            </a: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%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שפות		10%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ביולוגיה		10%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 smtClean="0"/>
              <a:t>בכדי להשוות את בחירת המגמות בישראל לזו שבסינגפור, נדגמו 200 תלמידים מבי"ס בסינגפור ונמצאו התוצאות הבאות: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he-IL" b="1" dirty="0" smtClean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b="1" dirty="0" smtClean="0">
                <a:solidFill>
                  <a:prstClr val="black"/>
                </a:solidFill>
                <a:ea typeface="Tahoma" panose="020B0604030504040204" pitchFamily="34" charset="0"/>
              </a:rPr>
              <a:t>מגמה</a:t>
            </a:r>
            <a:r>
              <a:rPr lang="he-IL" b="1" dirty="0">
                <a:solidFill>
                  <a:prstClr val="black"/>
                </a:solidFill>
                <a:ea typeface="Tahoma" panose="020B0604030504040204" pitchFamily="34" charset="0"/>
              </a:rPr>
              <a:t>		</a:t>
            </a:r>
            <a:r>
              <a:rPr lang="he-IL" b="1" dirty="0" smtClean="0">
                <a:solidFill>
                  <a:prstClr val="black"/>
                </a:solidFill>
                <a:ea typeface="Tahoma" panose="020B0604030504040204" pitchFamily="34" charset="0"/>
              </a:rPr>
              <a:t>מס' תלמידים</a:t>
            </a:r>
            <a:endParaRPr lang="he-IL" b="1" dirty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כימיה		</a:t>
            </a: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40</a:t>
            </a:r>
            <a:endParaRPr lang="he-IL" dirty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מתמטיקה</a:t>
            </a: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	</a:t>
            </a: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90</a:t>
            </a:r>
            <a:endParaRPr lang="he-IL" dirty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שפות		</a:t>
            </a: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60</a:t>
            </a:r>
            <a:endParaRPr lang="he-IL" dirty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  <a:ea typeface="Tahoma" panose="020B0604030504040204" pitchFamily="34" charset="0"/>
              </a:rPr>
              <a:t>ביולוגיה		</a:t>
            </a:r>
            <a:r>
              <a:rPr lang="he-IL" dirty="0" smtClean="0">
                <a:solidFill>
                  <a:prstClr val="black"/>
                </a:solidFill>
                <a:ea typeface="Tahoma" panose="020B0604030504040204" pitchFamily="34" charset="0"/>
              </a:rPr>
              <a:t>10</a:t>
            </a:r>
            <a:endParaRPr lang="he-IL" dirty="0">
              <a:solidFill>
                <a:prstClr val="black"/>
              </a:solidFill>
              <a:ea typeface="Tahoma" panose="020B0604030504040204" pitchFamily="34" charset="0"/>
            </a:endParaRP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 smtClean="0"/>
              <a:t>האם בחירת המגמות בסינגפור שונה מזו שבישראל ברמת מובהקות של 5%?</a:t>
            </a:r>
          </a:p>
          <a:p>
            <a:pPr marL="0" indent="0">
              <a:buNone/>
            </a:pPr>
            <a:endParaRPr lang="he-IL" dirty="0" smtClean="0"/>
          </a:p>
        </p:txBody>
      </p:sp>
    </p:spTree>
    <p:extLst>
      <p:ext uri="{BB962C8B-B14F-4D97-AF65-F5344CB8AC3E}">
        <p14:creationId xmlns:p14="http://schemas.microsoft.com/office/powerpoint/2010/main" val="226781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693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e-IL" b="1" u="sng" dirty="0" smtClean="0"/>
              <a:t>שאלה 8</a:t>
            </a:r>
          </a:p>
          <a:p>
            <a:pPr>
              <a:buNone/>
            </a:pPr>
            <a:r>
              <a:rPr lang="he-IL" dirty="0"/>
              <a:t>שלושה מטבעות הוטלו </a:t>
            </a:r>
            <a:r>
              <a:rPr lang="he-IL" dirty="0" smtClean="0"/>
              <a:t>150 </a:t>
            </a:r>
            <a:r>
              <a:rPr lang="he-IL" dirty="0"/>
              <a:t>פעם. התקבלו התוצאות הבאות:</a:t>
            </a:r>
          </a:p>
          <a:p>
            <a:pPr>
              <a:buNone/>
            </a:pPr>
            <a:endParaRPr lang="he-IL" dirty="0" smtClean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en-US" b="1" u="sng" dirty="0"/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endParaRPr lang="he-IL" b="1" u="sng" dirty="0" smtClean="0"/>
          </a:p>
          <a:p>
            <a:pPr>
              <a:buNone/>
            </a:pPr>
            <a:r>
              <a:rPr lang="he-IL" dirty="0"/>
              <a:t>ברמת בטחון של 95%, האם ניתן לומר שהמטבעות אינם הוגנים?</a:t>
            </a:r>
          </a:p>
          <a:p>
            <a:pPr>
              <a:buNone/>
            </a:pPr>
            <a:endParaRPr lang="he-IL" b="1" u="sng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62102"/>
              </p:ext>
            </p:extLst>
          </p:nvPr>
        </p:nvGraphicFramePr>
        <p:xfrm>
          <a:off x="1835696" y="1916832"/>
          <a:ext cx="62646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939"/>
                <a:gridCol w="1252939"/>
                <a:gridCol w="1252939"/>
                <a:gridCol w="1252939"/>
                <a:gridCol w="1252939"/>
              </a:tblGrid>
              <a:tr h="370840"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0 פלי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1 פלי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2 פלי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3 פלי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תוצאה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30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60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50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10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sz="2400" dirty="0" smtClean="0"/>
                        <a:t>שכיחות</a:t>
                      </a:r>
                      <a:endParaRPr lang="en-GB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86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693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e-IL" b="1" u="sng" dirty="0" smtClean="0"/>
              <a:t>שאלה </a:t>
            </a:r>
            <a:r>
              <a:rPr lang="en-US" b="1" u="sng" dirty="0" smtClean="0"/>
              <a:t>9</a:t>
            </a:r>
            <a:endParaRPr lang="he-IL" b="1" u="sng" dirty="0" smtClean="0"/>
          </a:p>
          <a:p>
            <a:pPr marL="0" indent="0">
              <a:buNone/>
            </a:pPr>
            <a:r>
              <a:rPr lang="he-IL" dirty="0" smtClean="0"/>
              <a:t>חוקר רצה לבדוק קשר בין מין לעישון. מה תהיה החלטתו ברמת ביטחון של 95%, עפ"י תוצאות המדגם הבאות: </a:t>
            </a:r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15147"/>
              </p:ext>
            </p:extLst>
          </p:nvPr>
        </p:nvGraphicFramePr>
        <p:xfrm>
          <a:off x="2627784" y="2060848"/>
          <a:ext cx="4464495" cy="3024336"/>
        </p:xfrm>
        <a:graphic>
          <a:graphicData uri="http://schemas.openxmlformats.org/drawingml/2006/table">
            <a:tbl>
              <a:tblPr rtl="1"/>
              <a:tblGrid>
                <a:gridCol w="1488165"/>
                <a:gridCol w="1488165"/>
                <a:gridCol w="1488165"/>
              </a:tblGrid>
              <a:tr h="867831"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2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מעשנים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2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לא </a:t>
                      </a:r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מעשנים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0605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נשים 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35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59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גברים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2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  <a:endParaRPr lang="he-IL" sz="2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67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9"/>
            <a:ext cx="8229600" cy="439248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he-IL" sz="2800" b="1" u="sng" dirty="0" smtClean="0"/>
              <a:t>שאלה </a:t>
            </a:r>
            <a:r>
              <a:rPr lang="en-US" sz="2800" b="1" u="sng" dirty="0" smtClean="0"/>
              <a:t>10</a:t>
            </a:r>
            <a:endParaRPr lang="he-IL" sz="2800" b="1" u="sng" dirty="0" smtClean="0"/>
          </a:p>
          <a:p>
            <a:pPr marL="0" indent="0" eaLnBrk="1" hangingPunct="1">
              <a:buFontTx/>
              <a:buNone/>
            </a:pPr>
            <a:r>
              <a:rPr lang="he-IL" dirty="0" smtClean="0"/>
              <a:t>מכונה מייצרת נורות במארזים של 4 נורות בקופסה. טענת המהנדסים היא שמספר הפגומים למארז שונה</a:t>
            </a:r>
            <a:r>
              <a:rPr lang="he-IL" b="1" dirty="0" smtClean="0"/>
              <a:t> </a:t>
            </a:r>
            <a:r>
              <a:rPr lang="he-IL" dirty="0" smtClean="0"/>
              <a:t>מהתפלגות פואסונית (</a:t>
            </a:r>
            <a:r>
              <a:rPr lang="he-IL" dirty="0" smtClean="0">
                <a:sym typeface="Symbol" pitchFamily="18" charset="2"/>
              </a:rPr>
              <a:t></a:t>
            </a:r>
            <a:r>
              <a:rPr lang="en-US" dirty="0" smtClean="0">
                <a:sym typeface="Symbol" pitchFamily="18" charset="2"/>
              </a:rPr>
              <a:t>1=</a:t>
            </a:r>
            <a:r>
              <a:rPr lang="he-IL" dirty="0" smtClean="0">
                <a:sym typeface="Symbol" pitchFamily="18" charset="2"/>
              </a:rPr>
              <a:t>). להלן התוצאות שהתקבלו בפועל על 400 קופסאות: </a:t>
            </a:r>
            <a:endParaRPr lang="he-IL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he-IL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he-IL" dirty="0" smtClean="0"/>
              <a:t>מס' פגומים למוצר	0	1	2	3	4	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he-IL" dirty="0" smtClean="0"/>
              <a:t>מס' קופסאות		150	140	80	20	10	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he-IL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he-IL" dirty="0" smtClean="0"/>
              <a:t>ברמת מובהקות 5%, האם טענת המהנדסים נכונה?</a:t>
            </a:r>
            <a:endParaRPr lang="en-US" dirty="0" smtClean="0"/>
          </a:p>
        </p:txBody>
      </p:sp>
      <p:graphicFrame>
        <p:nvGraphicFramePr>
          <p:cNvPr id="3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369195"/>
              </p:ext>
            </p:extLst>
          </p:nvPr>
        </p:nvGraphicFramePr>
        <p:xfrm>
          <a:off x="842947" y="4869160"/>
          <a:ext cx="7848872" cy="166572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פואסון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  <a:sym typeface="Symbol"/>
                        </a:rPr>
                        <a:t>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663731"/>
              </p:ext>
            </p:extLst>
          </p:nvPr>
        </p:nvGraphicFramePr>
        <p:xfrm>
          <a:off x="6387563" y="6253312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2" name="Equation" r:id="rId4" imgW="660113" imgH="203112" progId="Equation.3">
                  <p:embed/>
                </p:oleObj>
              </mc:Choice>
              <mc:Fallback>
                <p:oleObj name="Equation" r:id="rId4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7563" y="6253312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085002"/>
              </p:ext>
            </p:extLst>
          </p:nvPr>
        </p:nvGraphicFramePr>
        <p:xfrm>
          <a:off x="5235435" y="5805264"/>
          <a:ext cx="792088" cy="72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3" name="Equation" r:id="rId6" imgW="457200" imgH="419100" progId="Equation.3">
                  <p:embed/>
                </p:oleObj>
              </mc:Choice>
              <mc:Fallback>
                <p:oleObj name="Equation" r:id="rId6" imgW="45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435" y="5805264"/>
                        <a:ext cx="792088" cy="726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180907"/>
              </p:ext>
            </p:extLst>
          </p:nvPr>
        </p:nvGraphicFramePr>
        <p:xfrm>
          <a:off x="1995075" y="6021289"/>
          <a:ext cx="64807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4" name="Equation" r:id="rId8" imgW="126780" imgH="164814" progId="Equation.3">
                  <p:embed/>
                </p:oleObj>
              </mc:Choice>
              <mc:Fallback>
                <p:oleObj name="Equation" r:id="rId8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075" y="6021289"/>
                        <a:ext cx="648071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641371"/>
              </p:ext>
            </p:extLst>
          </p:nvPr>
        </p:nvGraphicFramePr>
        <p:xfrm>
          <a:off x="4011299" y="5997155"/>
          <a:ext cx="648271" cy="4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5" name="Equation" r:id="rId10" imgW="126780" imgH="164814" progId="Equation.3">
                  <p:embed/>
                </p:oleObj>
              </mc:Choice>
              <mc:Fallback>
                <p:oleObj name="Equation" r:id="rId10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299" y="5997155"/>
                        <a:ext cx="648271" cy="432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514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229600" cy="612067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he-IL" sz="2800" b="1" u="sng" dirty="0" smtClean="0"/>
              <a:t>שאלה 11</a:t>
            </a:r>
          </a:p>
          <a:p>
            <a:pPr marL="0" indent="0">
              <a:buNone/>
            </a:pPr>
            <a:r>
              <a:rPr lang="he-IL" dirty="0"/>
              <a:t>להלן נתונים על צבע שיער ואיזור מגורים של 210 תלמידות שנדגמו מקרית</a:t>
            </a:r>
            <a:r>
              <a:rPr lang="he-IL" dirty="0" smtClean="0"/>
              <a:t>:</a:t>
            </a:r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האם ברמת ביטחון של 99% קיים </a:t>
            </a:r>
            <a:r>
              <a:rPr lang="he-IL" dirty="0"/>
              <a:t>קשר בין צבע השיער לאזור המגורים?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 smtClean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153167"/>
              </p:ext>
            </p:extLst>
          </p:nvPr>
        </p:nvGraphicFramePr>
        <p:xfrm>
          <a:off x="1259632" y="2420888"/>
          <a:ext cx="7162800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42" name="Document" r:id="rId4" imgW="5911527" imgH="1856957" progId="Word.Document.12">
                  <p:embed/>
                </p:oleObj>
              </mc:Choice>
              <mc:Fallback>
                <p:oleObj name="Document" r:id="rId4" imgW="5911527" imgH="18569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9632" y="2420888"/>
                        <a:ext cx="7162800" cy="268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679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229600" cy="6120679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he-IL" sz="2800" b="1" u="sng" dirty="0" smtClean="0"/>
              <a:t>שאלה 12</a:t>
            </a:r>
          </a:p>
          <a:p>
            <a:pPr marL="0" indent="0">
              <a:buNone/>
            </a:pPr>
            <a:r>
              <a:rPr lang="he-IL" dirty="0" smtClean="0"/>
              <a:t>רוצים </a:t>
            </a:r>
            <a:r>
              <a:rPr lang="he-IL" dirty="0"/>
              <a:t>לבדוק את הטענה שהציונים במבחן בסטטיסטיקה ב גבוהים מאשר בסטטיסטיקה א. </a:t>
            </a: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נלקחו 6 </a:t>
            </a:r>
            <a:r>
              <a:rPr lang="he-IL" dirty="0"/>
              <a:t>סטודנטים שסיימו את סטטיסטיקה ב. עבור כל סטודנט נבדק מה הציון בסטטיסטיקה א ומה הציון בסטטיסטיקה ב. להלן התוצאות שהתקבלו </a:t>
            </a:r>
            <a:r>
              <a:rPr lang="he-IL" dirty="0" smtClean="0"/>
              <a:t>: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 smtClean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 smtClean="0"/>
              <a:t>בידקו את הטענה ברמת </a:t>
            </a:r>
            <a:r>
              <a:rPr lang="he-IL" dirty="0"/>
              <a:t>מובהקות של </a:t>
            </a:r>
            <a:r>
              <a:rPr lang="he-IL" dirty="0" smtClean="0"/>
              <a:t>5% </a:t>
            </a:r>
            <a:r>
              <a:rPr lang="he-IL" dirty="0"/>
              <a:t>.</a:t>
            </a: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31595"/>
              </p:ext>
            </p:extLst>
          </p:nvPr>
        </p:nvGraphicFramePr>
        <p:xfrm>
          <a:off x="2051720" y="4077072"/>
          <a:ext cx="4464498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83"/>
                <a:gridCol w="744083"/>
                <a:gridCol w="744083"/>
                <a:gridCol w="744083"/>
                <a:gridCol w="744083"/>
                <a:gridCol w="744083"/>
              </a:tblGrid>
              <a:tr h="607847">
                <a:tc>
                  <a:txBody>
                    <a:bodyPr/>
                    <a:lstStyle/>
                    <a:p>
                      <a:r>
                        <a:rPr lang="he-IL" dirty="0" smtClean="0"/>
                        <a:t>93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78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79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85</a:t>
                      </a:r>
                      <a:endParaRPr lang="en-GB" dirty="0"/>
                    </a:p>
                  </a:txBody>
                  <a:tcPr/>
                </a:tc>
              </a:tr>
              <a:tr h="616289">
                <a:tc>
                  <a:txBody>
                    <a:bodyPr/>
                    <a:lstStyle/>
                    <a:p>
                      <a:r>
                        <a:rPr lang="he-IL" dirty="0" smtClean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95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81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40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4228</TotalTime>
  <Words>851</Words>
  <Application>Microsoft Office PowerPoint</Application>
  <PresentationFormat>On-screen Show (4:3)</PresentationFormat>
  <Paragraphs>170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Symbol</vt:lpstr>
      <vt:lpstr>Tahoma</vt:lpstr>
      <vt:lpstr>Times New Roman</vt:lpstr>
      <vt:lpstr>ערכת נושא Office</vt:lpstr>
      <vt:lpstr>1_ערכת נושא Office</vt:lpstr>
      <vt:lpstr>Equation</vt:lpstr>
      <vt:lpstr>Document</vt:lpstr>
      <vt:lpstr>מבוא לסטטיסטיקה והסתברות</vt:lpstr>
      <vt:lpstr>רווח סמך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שיטות א-פרמטריות </vt:lpstr>
      <vt:lpstr>מבחן χ2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AmirA18</cp:lastModifiedBy>
  <cp:revision>131</cp:revision>
  <dcterms:created xsi:type="dcterms:W3CDTF">2011-10-31T22:07:50Z</dcterms:created>
  <dcterms:modified xsi:type="dcterms:W3CDTF">2015-12-20T12:19:02Z</dcterms:modified>
</cp:coreProperties>
</file>