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 id="2147483660" r:id="rId2"/>
  </p:sldMasterIdLst>
  <p:notesMasterIdLst>
    <p:notesMasterId r:id="rId26"/>
  </p:notesMasterIdLst>
  <p:sldIdLst>
    <p:sldId id="299" r:id="rId3"/>
    <p:sldId id="348" r:id="rId4"/>
    <p:sldId id="347" r:id="rId5"/>
    <p:sldId id="320" r:id="rId6"/>
    <p:sldId id="322" r:id="rId7"/>
    <p:sldId id="327" r:id="rId8"/>
    <p:sldId id="340" r:id="rId9"/>
    <p:sldId id="388" r:id="rId10"/>
    <p:sldId id="352" r:id="rId11"/>
    <p:sldId id="353" r:id="rId12"/>
    <p:sldId id="357" r:id="rId13"/>
    <p:sldId id="362" r:id="rId14"/>
    <p:sldId id="366" r:id="rId15"/>
    <p:sldId id="368" r:id="rId16"/>
    <p:sldId id="370" r:id="rId17"/>
    <p:sldId id="376" r:id="rId18"/>
    <p:sldId id="387" r:id="rId19"/>
    <p:sldId id="385" r:id="rId20"/>
    <p:sldId id="380" r:id="rId21"/>
    <p:sldId id="386" r:id="rId22"/>
    <p:sldId id="382" r:id="rId23"/>
    <p:sldId id="389" r:id="rId24"/>
    <p:sldId id="390" r:id="rId25"/>
  </p:sldIdLst>
  <p:sldSz cx="9144000" cy="6858000" type="screen4x3"/>
  <p:notesSz cx="6858000" cy="9144000"/>
  <p:defaultText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aara" initials="Y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ללא סגנון, רשת טבלה">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ללא סגנון, ללא רשת">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סגנון בהיר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C4B1156A-380E-4F78-BDF5-A606A8083BF9}" styleName="סגנון ביניים 4 - הדגשה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7417" autoAdjust="0"/>
    <p:restoredTop sz="84211" autoAdjust="0"/>
  </p:normalViewPr>
  <p:slideViewPr>
    <p:cSldViewPr>
      <p:cViewPr varScale="1">
        <p:scale>
          <a:sx n="73" d="100"/>
          <a:sy n="73" d="100"/>
        </p:scale>
        <p:origin x="1416"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עליונה 1"/>
          <p:cNvSpPr>
            <a:spLocks noGrp="1"/>
          </p:cNvSpPr>
          <p:nvPr>
            <p:ph type="hdr" sz="quarter"/>
          </p:nvPr>
        </p:nvSpPr>
        <p:spPr>
          <a:xfrm>
            <a:off x="3886200" y="0"/>
            <a:ext cx="2971800" cy="457200"/>
          </a:xfrm>
          <a:prstGeom prst="rect">
            <a:avLst/>
          </a:prstGeom>
        </p:spPr>
        <p:txBody>
          <a:bodyPr vert="horz" lIns="91440" tIns="45720" rIns="91440" bIns="45720" rtlCol="1"/>
          <a:lstStyle>
            <a:lvl1pPr algn="r">
              <a:defRPr sz="1200"/>
            </a:lvl1pPr>
          </a:lstStyle>
          <a:p>
            <a:endParaRPr lang="en-US"/>
          </a:p>
        </p:txBody>
      </p:sp>
      <p:sp>
        <p:nvSpPr>
          <p:cNvPr id="3" name="מציין מיקום של תאריך 2"/>
          <p:cNvSpPr>
            <a:spLocks noGrp="1"/>
          </p:cNvSpPr>
          <p:nvPr>
            <p:ph type="dt" idx="1"/>
          </p:nvPr>
        </p:nvSpPr>
        <p:spPr>
          <a:xfrm>
            <a:off x="1588" y="0"/>
            <a:ext cx="2971800" cy="457200"/>
          </a:xfrm>
          <a:prstGeom prst="rect">
            <a:avLst/>
          </a:prstGeom>
        </p:spPr>
        <p:txBody>
          <a:bodyPr vert="horz" lIns="91440" tIns="45720" rIns="91440" bIns="45720" rtlCol="1"/>
          <a:lstStyle>
            <a:lvl1pPr algn="l">
              <a:defRPr sz="1200"/>
            </a:lvl1pPr>
          </a:lstStyle>
          <a:p>
            <a:fld id="{CEBD65CB-48E8-480E-A0E5-0F4F671C7C4B}" type="datetimeFigureOut">
              <a:rPr lang="en-US" smtClean="0"/>
              <a:pPr/>
              <a:t>8/15/2016</a:t>
            </a:fld>
            <a:endParaRPr lang="en-US"/>
          </a:p>
        </p:txBody>
      </p:sp>
      <p:sp>
        <p:nvSpPr>
          <p:cNvPr id="4" name="מציין מיקום של תמונת שקופית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1" anchor="ctr"/>
          <a:lstStyle/>
          <a:p>
            <a:endParaRPr lang="en-US"/>
          </a:p>
        </p:txBody>
      </p:sp>
      <p:sp>
        <p:nvSpPr>
          <p:cNvPr id="5" name="מציין מיקום של הערות 4"/>
          <p:cNvSpPr>
            <a:spLocks noGrp="1"/>
          </p:cNvSpPr>
          <p:nvPr>
            <p:ph type="body" sz="quarter" idx="3"/>
          </p:nvPr>
        </p:nvSpPr>
        <p:spPr>
          <a:xfrm>
            <a:off x="685800" y="4343400"/>
            <a:ext cx="5486400" cy="4114800"/>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6" name="מציין מיקום של כותרת תחתונה 5"/>
          <p:cNvSpPr>
            <a:spLocks noGrp="1"/>
          </p:cNvSpPr>
          <p:nvPr>
            <p:ph type="ftr" sz="quarter" idx="4"/>
          </p:nvPr>
        </p:nvSpPr>
        <p:spPr>
          <a:xfrm>
            <a:off x="3886200" y="8685213"/>
            <a:ext cx="2971800" cy="457200"/>
          </a:xfrm>
          <a:prstGeom prst="rect">
            <a:avLst/>
          </a:prstGeom>
        </p:spPr>
        <p:txBody>
          <a:bodyPr vert="horz" lIns="91440" tIns="45720" rIns="91440" bIns="45720" rtlCol="1" anchor="b"/>
          <a:lstStyle>
            <a:lvl1pPr algn="r">
              <a:defRPr sz="1200"/>
            </a:lvl1pPr>
          </a:lstStyle>
          <a:p>
            <a:endParaRPr lang="en-US"/>
          </a:p>
        </p:txBody>
      </p:sp>
      <p:sp>
        <p:nvSpPr>
          <p:cNvPr id="7" name="מציין מיקום של מספר שקופית 6"/>
          <p:cNvSpPr>
            <a:spLocks noGrp="1"/>
          </p:cNvSpPr>
          <p:nvPr>
            <p:ph type="sldNum" sz="quarter" idx="5"/>
          </p:nvPr>
        </p:nvSpPr>
        <p:spPr>
          <a:xfrm>
            <a:off x="1588" y="8685213"/>
            <a:ext cx="2971800" cy="457200"/>
          </a:xfrm>
          <a:prstGeom prst="rect">
            <a:avLst/>
          </a:prstGeom>
        </p:spPr>
        <p:txBody>
          <a:bodyPr vert="horz" lIns="91440" tIns="45720" rIns="91440" bIns="45720" rtlCol="1" anchor="b"/>
          <a:lstStyle>
            <a:lvl1pPr algn="l">
              <a:defRPr sz="1200"/>
            </a:lvl1pPr>
          </a:lstStyle>
          <a:p>
            <a:fld id="{5763812F-8A06-48A8-8436-7483109B6D13}" type="slidenum">
              <a:rPr lang="en-US" smtClean="0"/>
              <a:pPr/>
              <a:t>‹#›</a:t>
            </a:fld>
            <a:endParaRPr lang="en-US"/>
          </a:p>
        </p:txBody>
      </p:sp>
    </p:spTree>
    <p:extLst>
      <p:ext uri="{BB962C8B-B14F-4D97-AF65-F5344CB8AC3E}">
        <p14:creationId xmlns:p14="http://schemas.microsoft.com/office/powerpoint/2010/main" val="3940925828"/>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r>
              <a:rPr lang="he-IL" dirty="0" smtClean="0"/>
              <a:t>התפלגות </a:t>
            </a:r>
            <a:r>
              <a:rPr lang="he-IL" dirty="0" err="1" smtClean="0"/>
              <a:t>פואסון</a:t>
            </a:r>
            <a:r>
              <a:rPr lang="he-IL" baseline="0" dirty="0" smtClean="0"/>
              <a:t> - </a:t>
            </a:r>
            <a:r>
              <a:rPr lang="he-IL" sz="1200" kern="1200" dirty="0" smtClean="0">
                <a:solidFill>
                  <a:schemeClr val="tx1"/>
                </a:solidFill>
                <a:latin typeface="+mn-lt"/>
                <a:ea typeface="+mn-ea"/>
                <a:cs typeface="+mn-cs"/>
              </a:rPr>
              <a:t>נוצרת כאשר סופרים אירועים שמתרחשים בפרק זמן נתון</a:t>
            </a:r>
          </a:p>
          <a:p>
            <a:r>
              <a:rPr lang="he-IL" sz="1200" kern="1200" dirty="0" smtClean="0">
                <a:solidFill>
                  <a:schemeClr val="tx1"/>
                </a:solidFill>
                <a:latin typeface="+mn-lt"/>
                <a:ea typeface="+mn-ea"/>
                <a:cs typeface="+mn-cs"/>
              </a:rPr>
              <a:t>התפלגות מעריכית – מתאימה </a:t>
            </a:r>
            <a:r>
              <a:rPr lang="he-IL" sz="1200" kern="1200" dirty="0" err="1" smtClean="0">
                <a:solidFill>
                  <a:schemeClr val="tx1"/>
                </a:solidFill>
                <a:latin typeface="+mn-lt"/>
                <a:ea typeface="+mn-ea"/>
                <a:cs typeface="+mn-cs"/>
              </a:rPr>
              <a:t>למדל</a:t>
            </a:r>
            <a:r>
              <a:rPr lang="he-IL" sz="1200" kern="1200" dirty="0" smtClean="0">
                <a:solidFill>
                  <a:schemeClr val="tx1"/>
                </a:solidFill>
                <a:latin typeface="+mn-lt"/>
                <a:ea typeface="+mn-ea"/>
                <a:cs typeface="+mn-cs"/>
              </a:rPr>
              <a:t> את הזמן הבין מופעי</a:t>
            </a:r>
            <a:r>
              <a:rPr lang="he-IL" sz="1200" kern="1200" baseline="0" dirty="0" smtClean="0">
                <a:solidFill>
                  <a:schemeClr val="tx1"/>
                </a:solidFill>
                <a:latin typeface="+mn-lt"/>
                <a:ea typeface="+mn-ea"/>
                <a:cs typeface="+mn-cs"/>
              </a:rPr>
              <a:t> בין האירועים</a:t>
            </a:r>
            <a:endParaRPr lang="en-US" dirty="0"/>
          </a:p>
        </p:txBody>
      </p:sp>
      <p:sp>
        <p:nvSpPr>
          <p:cNvPr id="4" name="מציין מיקום של מספר שקופית 3"/>
          <p:cNvSpPr>
            <a:spLocks noGrp="1"/>
          </p:cNvSpPr>
          <p:nvPr>
            <p:ph type="sldNum" sz="quarter" idx="10"/>
          </p:nvPr>
        </p:nvSpPr>
        <p:spPr/>
        <p:txBody>
          <a:bodyPr/>
          <a:lstStyle/>
          <a:p>
            <a:fld id="{5763812F-8A06-48A8-8436-7483109B6D13}" type="slidenum">
              <a:rPr lang="en-US" smtClean="0"/>
              <a:pPr/>
              <a:t>6</a:t>
            </a:fld>
            <a:endParaRPr lang="en-US"/>
          </a:p>
        </p:txBody>
      </p:sp>
    </p:spTree>
    <p:extLst>
      <p:ext uri="{BB962C8B-B14F-4D97-AF65-F5344CB8AC3E}">
        <p14:creationId xmlns:p14="http://schemas.microsoft.com/office/powerpoint/2010/main" val="3821449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r>
              <a:rPr lang="he-IL" dirty="0" smtClean="0"/>
              <a:t>התפלגות </a:t>
            </a:r>
            <a:r>
              <a:rPr lang="he-IL" dirty="0" err="1" smtClean="0"/>
              <a:t>פואסון</a:t>
            </a:r>
            <a:r>
              <a:rPr lang="he-IL" baseline="0" dirty="0" smtClean="0"/>
              <a:t> - </a:t>
            </a:r>
            <a:r>
              <a:rPr lang="he-IL" sz="1200" kern="1200" dirty="0" smtClean="0">
                <a:solidFill>
                  <a:schemeClr val="tx1"/>
                </a:solidFill>
                <a:latin typeface="+mn-lt"/>
                <a:ea typeface="+mn-ea"/>
                <a:cs typeface="+mn-cs"/>
              </a:rPr>
              <a:t>נוצרת כאשר סופרים אירועים שמתרחשים בפרק זמן נתון</a:t>
            </a:r>
          </a:p>
          <a:p>
            <a:r>
              <a:rPr lang="he-IL" sz="1200" kern="1200" dirty="0" smtClean="0">
                <a:solidFill>
                  <a:schemeClr val="tx1"/>
                </a:solidFill>
                <a:latin typeface="+mn-lt"/>
                <a:ea typeface="+mn-ea"/>
                <a:cs typeface="+mn-cs"/>
              </a:rPr>
              <a:t>התפלגות מעריכית – מתאימה </a:t>
            </a:r>
            <a:r>
              <a:rPr lang="he-IL" sz="1200" kern="1200" dirty="0" err="1" smtClean="0">
                <a:solidFill>
                  <a:schemeClr val="tx1"/>
                </a:solidFill>
                <a:latin typeface="+mn-lt"/>
                <a:ea typeface="+mn-ea"/>
                <a:cs typeface="+mn-cs"/>
              </a:rPr>
              <a:t>למדל</a:t>
            </a:r>
            <a:r>
              <a:rPr lang="he-IL" sz="1200" kern="1200" dirty="0" smtClean="0">
                <a:solidFill>
                  <a:schemeClr val="tx1"/>
                </a:solidFill>
                <a:latin typeface="+mn-lt"/>
                <a:ea typeface="+mn-ea"/>
                <a:cs typeface="+mn-cs"/>
              </a:rPr>
              <a:t> את הזמן הבין מופעי</a:t>
            </a:r>
            <a:r>
              <a:rPr lang="he-IL" sz="1200" kern="1200" baseline="0" dirty="0" smtClean="0">
                <a:solidFill>
                  <a:schemeClr val="tx1"/>
                </a:solidFill>
                <a:latin typeface="+mn-lt"/>
                <a:ea typeface="+mn-ea"/>
                <a:cs typeface="+mn-cs"/>
              </a:rPr>
              <a:t> בין האירועים</a:t>
            </a:r>
            <a:endParaRPr lang="en-US" dirty="0"/>
          </a:p>
        </p:txBody>
      </p:sp>
      <p:sp>
        <p:nvSpPr>
          <p:cNvPr id="4" name="מציין מיקום של מספר שקופית 3"/>
          <p:cNvSpPr>
            <a:spLocks noGrp="1"/>
          </p:cNvSpPr>
          <p:nvPr>
            <p:ph type="sldNum" sz="quarter" idx="10"/>
          </p:nvPr>
        </p:nvSpPr>
        <p:spPr/>
        <p:txBody>
          <a:bodyPr/>
          <a:lstStyle/>
          <a:p>
            <a:fld id="{5763812F-8A06-48A8-8436-7483109B6D13}" type="slidenum">
              <a:rPr lang="en-US" smtClean="0"/>
              <a:pPr/>
              <a:t>7</a:t>
            </a:fld>
            <a:endParaRPr lang="en-US"/>
          </a:p>
        </p:txBody>
      </p:sp>
    </p:spTree>
    <p:extLst>
      <p:ext uri="{BB962C8B-B14F-4D97-AF65-F5344CB8AC3E}">
        <p14:creationId xmlns:p14="http://schemas.microsoft.com/office/powerpoint/2010/main" val="2246562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r>
              <a:rPr lang="he-IL" dirty="0" smtClean="0"/>
              <a:t>רווח סמך: אומד לטווח ערכים של הפרמטר. אינו נקודתי ולכן יכול לקחת בחשבון את אקראיות הדגימה</a:t>
            </a:r>
            <a:endParaRPr lang="en-US" dirty="0"/>
          </a:p>
        </p:txBody>
      </p:sp>
      <p:sp>
        <p:nvSpPr>
          <p:cNvPr id="4" name="מציין מיקום של מספר שקופית 3"/>
          <p:cNvSpPr>
            <a:spLocks noGrp="1"/>
          </p:cNvSpPr>
          <p:nvPr>
            <p:ph type="sldNum" sz="quarter" idx="10"/>
          </p:nvPr>
        </p:nvSpPr>
        <p:spPr/>
        <p:txBody>
          <a:bodyPr/>
          <a:lstStyle/>
          <a:p>
            <a:fld id="{97D27BA3-C614-434B-993A-3934943AC999}" type="slidenum">
              <a:rPr lang="en-US" smtClean="0"/>
              <a:pPr/>
              <a:t>9</a:t>
            </a:fld>
            <a:endParaRPr lang="en-US"/>
          </a:p>
        </p:txBody>
      </p:sp>
    </p:spTree>
    <p:extLst>
      <p:ext uri="{BB962C8B-B14F-4D97-AF65-F5344CB8AC3E}">
        <p14:creationId xmlns:p14="http://schemas.microsoft.com/office/powerpoint/2010/main" val="22819878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מציין מיקום של תמונת שקופית 1"/>
          <p:cNvSpPr>
            <a:spLocks noGrp="1" noRot="1" noChangeAspect="1"/>
          </p:cNvSpPr>
          <p:nvPr>
            <p:ph type="sldImg"/>
          </p:nvPr>
        </p:nvSpPr>
        <p:spPr/>
      </p:sp>
      <p:sp>
        <p:nvSpPr>
          <p:cNvPr id="3" name="מציין מיקום של הערות 2"/>
          <p:cNvSpPr>
            <a:spLocks noGrp="1"/>
          </p:cNvSpPr>
          <p:nvPr>
            <p:ph type="body" idx="1"/>
          </p:nvPr>
        </p:nvSpPr>
        <p:spPr/>
        <p:txBody>
          <a:bodyPr>
            <a:normAutofit/>
          </a:bodyPr>
          <a:lstStyle/>
          <a:p>
            <a:r>
              <a:rPr lang="en-US" dirty="0" err="1" smtClean="0"/>
              <a:t>x~N</a:t>
            </a:r>
            <a:r>
              <a:rPr lang="en-US" dirty="0" smtClean="0"/>
              <a:t>(</a:t>
            </a:r>
            <a:r>
              <a:rPr lang="el-GR" dirty="0" smtClean="0"/>
              <a:t>μ</a:t>
            </a:r>
            <a:r>
              <a:rPr lang="en-US" dirty="0" smtClean="0"/>
              <a:t>,400)</a:t>
            </a:r>
            <a:endParaRPr lang="en-US" dirty="0"/>
          </a:p>
        </p:txBody>
      </p:sp>
      <p:sp>
        <p:nvSpPr>
          <p:cNvPr id="4" name="מציין מיקום של מספר שקופית 3"/>
          <p:cNvSpPr>
            <a:spLocks noGrp="1"/>
          </p:cNvSpPr>
          <p:nvPr>
            <p:ph type="sldNum" sz="quarter" idx="10"/>
          </p:nvPr>
        </p:nvSpPr>
        <p:spPr/>
        <p:txBody>
          <a:bodyPr/>
          <a:lstStyle/>
          <a:p>
            <a:fld id="{97D27BA3-C614-434B-993A-3934943AC999}" type="slidenum">
              <a:rPr lang="en-US" smtClean="0"/>
              <a:pPr/>
              <a:t>12</a:t>
            </a:fld>
            <a:endParaRPr lang="en-US"/>
          </a:p>
        </p:txBody>
      </p:sp>
    </p:spTree>
    <p:extLst>
      <p:ext uri="{BB962C8B-B14F-4D97-AF65-F5344CB8AC3E}">
        <p14:creationId xmlns:p14="http://schemas.microsoft.com/office/powerpoint/2010/main" val="705403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en-US"/>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p:txBody>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8/15/2016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7" name="מציין מיקום של תאריך 6"/>
          <p:cNvSpPr>
            <a:spLocks noGrp="1"/>
          </p:cNvSpPr>
          <p:nvPr>
            <p:ph type="dt" sz="half" idx="10"/>
          </p:nvPr>
        </p:nvSpPr>
        <p:spPr/>
        <p:txBody>
          <a:bodyPr/>
          <a:lstStyle/>
          <a:p>
            <a:fld id="{33537C78-363E-4A5D-BEBD-B88A33B7E228}" type="datetimeFigureOut">
              <a:rPr lang="en-US" smtClean="0"/>
              <a:pPr/>
              <a:t>8/15/2016</a:t>
            </a:fld>
            <a:endParaRPr lang="en-US"/>
          </a:p>
        </p:txBody>
      </p:sp>
      <p:sp>
        <p:nvSpPr>
          <p:cNvPr id="8" name="מציין מיקום של כותרת תחתונה 7"/>
          <p:cNvSpPr>
            <a:spLocks noGrp="1"/>
          </p:cNvSpPr>
          <p:nvPr>
            <p:ph type="ftr" sz="quarter" idx="11"/>
          </p:nvPr>
        </p:nvSpPr>
        <p:spPr/>
        <p:txBody>
          <a:bodyPr/>
          <a:lstStyle/>
          <a:p>
            <a:endParaRPr lang="en-US"/>
          </a:p>
        </p:txBody>
      </p:sp>
      <p:sp>
        <p:nvSpPr>
          <p:cNvPr id="9" name="מציין מיקום של מספר שקופית 8"/>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תאריך 2"/>
          <p:cNvSpPr>
            <a:spLocks noGrp="1"/>
          </p:cNvSpPr>
          <p:nvPr>
            <p:ph type="dt" sz="half" idx="10"/>
          </p:nvPr>
        </p:nvSpPr>
        <p:spPr/>
        <p:txBody>
          <a:bodyPr/>
          <a:lstStyle/>
          <a:p>
            <a:fld id="{33537C78-363E-4A5D-BEBD-B88A33B7E228}" type="datetimeFigureOut">
              <a:rPr lang="en-US" smtClean="0"/>
              <a:pPr/>
              <a:t>8/15/2016</a:t>
            </a:fld>
            <a:endParaRPr lang="en-US"/>
          </a:p>
        </p:txBody>
      </p:sp>
      <p:sp>
        <p:nvSpPr>
          <p:cNvPr id="4" name="מציין מיקום של כותרת תחתונה 3"/>
          <p:cNvSpPr>
            <a:spLocks noGrp="1"/>
          </p:cNvSpPr>
          <p:nvPr>
            <p:ph type="ftr" sz="quarter" idx="11"/>
          </p:nvPr>
        </p:nvSpPr>
        <p:spPr/>
        <p:txBody>
          <a:bodyPr/>
          <a:lstStyle/>
          <a:p>
            <a:endParaRPr lang="en-US"/>
          </a:p>
        </p:txBody>
      </p:sp>
      <p:sp>
        <p:nvSpPr>
          <p:cNvPr id="5" name="מציין מיקום של מספר שקופית 4"/>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3537C78-363E-4A5D-BEBD-B88A33B7E228}" type="datetimeFigureOut">
              <a:rPr lang="en-US" smtClean="0"/>
              <a:pPr/>
              <a:t>8/15/2016</a:t>
            </a:fld>
            <a:endParaRPr lang="en-US"/>
          </a:p>
        </p:txBody>
      </p:sp>
      <p:sp>
        <p:nvSpPr>
          <p:cNvPr id="3" name="מציין מיקום של כותרת תחתונה 2"/>
          <p:cNvSpPr>
            <a:spLocks noGrp="1"/>
          </p:cNvSpPr>
          <p:nvPr>
            <p:ph type="ftr" sz="quarter" idx="11"/>
          </p:nvPr>
        </p:nvSpPr>
        <p:spPr/>
        <p:txBody>
          <a:bodyPr/>
          <a:lstStyle/>
          <a:p>
            <a:endParaRPr lang="en-US"/>
          </a:p>
        </p:txBody>
      </p:sp>
      <p:sp>
        <p:nvSpPr>
          <p:cNvPr id="4" name="מציין מיקום של מספר שקופית 3"/>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8/15/2016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en-US"/>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pPr/>
              <a:t>8/15/2016</a:t>
            </a:fld>
            <a:endParaRPr lang="en-US"/>
          </a:p>
        </p:txBody>
      </p:sp>
      <p:sp>
        <p:nvSpPr>
          <p:cNvPr id="6" name="מציין מיקום של כותרת תחתונה 5"/>
          <p:cNvSpPr>
            <a:spLocks noGrp="1"/>
          </p:cNvSpPr>
          <p:nvPr>
            <p:ph type="ftr" sz="quarter" idx="11"/>
          </p:nvPr>
        </p:nvSpPr>
        <p:spPr/>
        <p:txBody>
          <a:bodyPr/>
          <a:lstStyle/>
          <a:p>
            <a:endParaRPr lang="en-US"/>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11"/>
          </p:nvPr>
        </p:nvSpPr>
        <p:spPr/>
        <p:txBody>
          <a:bodyPr/>
          <a:lstStyle/>
          <a:p>
            <a:endParaRPr lang="en-US"/>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p:cNvSpPr>
            <a:spLocks noGrp="1"/>
          </p:cNvSpPr>
          <p:nvPr>
            <p:ph type="ctrTitle"/>
          </p:nvPr>
        </p:nvSpPr>
        <p:spPr>
          <a:xfrm>
            <a:off x="685800" y="2130425"/>
            <a:ext cx="7772400" cy="1470025"/>
          </a:xfrm>
        </p:spPr>
        <p:txBody>
          <a:bodyPr/>
          <a:lstStyle/>
          <a:p>
            <a:r>
              <a:rPr lang="he-IL" smtClean="0"/>
              <a:t>לחץ כדי לערוך סגנון כותרת של תבנית בסיס</a:t>
            </a:r>
            <a:endParaRPr lang="en-US"/>
          </a:p>
        </p:txBody>
      </p:sp>
      <p:sp>
        <p:nvSpPr>
          <p:cNvPr id="3" name="כותרת משנה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he-IL" smtClean="0"/>
              <a:t>לחץ כדי לערוך סגנון כותרת משנה של תבנית בסיס</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en-US">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3092705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p:cNvSpPr>
            <a:spLocks noGrp="1"/>
          </p:cNvSpPr>
          <p:nvPr>
            <p:ph type="title" hasCustomPrompt="1"/>
          </p:nvPr>
        </p:nvSpPr>
        <p:spPr>
          <a:xfrm>
            <a:off x="457200" y="274638"/>
            <a:ext cx="8229600" cy="994122"/>
          </a:xfrm>
        </p:spPr>
        <p:txBody>
          <a:bodyPr anchor="t">
            <a:normAutofit/>
          </a:bodyPr>
          <a:lstStyle>
            <a:lvl1pPr algn="r">
              <a:defRPr sz="2800" b="1" u="sng"/>
            </a:lvl1pPr>
          </a:lstStyle>
          <a:p>
            <a:r>
              <a:rPr lang="he-IL" dirty="0" smtClean="0"/>
              <a:t>לחץ כדי לערוך סגנון כותרת של תבנית בסיס</a:t>
            </a:r>
            <a:br>
              <a:rPr lang="he-IL" dirty="0" smtClean="0"/>
            </a:br>
            <a:endParaRPr lang="en-US" dirty="0"/>
          </a:p>
        </p:txBody>
      </p:sp>
      <p:sp>
        <p:nvSpPr>
          <p:cNvPr id="3" name="מציין מיקום תוכן 2"/>
          <p:cNvSpPr>
            <a:spLocks noGrp="1"/>
          </p:cNvSpPr>
          <p:nvPr>
            <p:ph idx="1"/>
          </p:nvPr>
        </p:nvSpPr>
        <p:spPr>
          <a:xfrm>
            <a:off x="457200" y="1268760"/>
            <a:ext cx="8229600" cy="5087591"/>
          </a:xfrm>
        </p:spPr>
        <p:txBody>
          <a:bodyPr>
            <a:normAutofit/>
          </a:bodyPr>
          <a:lstStyle>
            <a:lvl1pPr>
              <a:lnSpc>
                <a:spcPct val="150000"/>
              </a:lnSpc>
              <a:defRPr sz="2600"/>
            </a:lvl1pPr>
            <a:lvl2pPr>
              <a:lnSpc>
                <a:spcPct val="150000"/>
              </a:lnSpc>
              <a:defRPr sz="2600"/>
            </a:lvl2pPr>
            <a:lvl3pPr>
              <a:lnSpc>
                <a:spcPct val="150000"/>
              </a:lnSpc>
              <a:defRPr sz="2600"/>
            </a:lvl3pPr>
            <a:lvl4pPr>
              <a:lnSpc>
                <a:spcPct val="150000"/>
              </a:lnSpc>
              <a:defRPr sz="2600"/>
            </a:lvl4pPr>
            <a:lvl5pPr>
              <a:lnSpc>
                <a:spcPct val="150000"/>
              </a:lnSpc>
              <a:defRPr sz="2600"/>
            </a:lvl5pPr>
          </a:lstStyle>
          <a:p>
            <a:pPr lvl="0"/>
            <a:r>
              <a:rPr lang="he-IL" dirty="0" smtClean="0"/>
              <a:t>לחץ כדי לערוך סגנונות טקסט של תבנית בסיס</a:t>
            </a:r>
          </a:p>
          <a:p>
            <a:pPr lvl="1"/>
            <a:r>
              <a:rPr lang="he-IL" dirty="0" smtClean="0"/>
              <a:t>רמה שנייה</a:t>
            </a:r>
          </a:p>
          <a:p>
            <a:pPr lvl="2"/>
            <a:r>
              <a:rPr lang="he-IL" dirty="0" smtClean="0"/>
              <a:t>רמה שלישית</a:t>
            </a:r>
          </a:p>
          <a:p>
            <a:pPr lvl="3"/>
            <a:r>
              <a:rPr lang="he-IL" dirty="0" smtClean="0"/>
              <a:t>רמה רביעית</a:t>
            </a:r>
          </a:p>
          <a:p>
            <a:pPr lvl="4"/>
            <a:r>
              <a:rPr lang="he-IL" dirty="0" smtClean="0"/>
              <a:t>רמה חמישית</a:t>
            </a:r>
            <a:endParaRPr lang="en-US" dirty="0"/>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en-US">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75398187"/>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p:cNvSpPr>
            <a:spLocks noGrp="1"/>
          </p:cNvSpPr>
          <p:nvPr>
            <p:ph type="title"/>
          </p:nvPr>
        </p:nvSpPr>
        <p:spPr>
          <a:xfrm>
            <a:off x="722313" y="4406900"/>
            <a:ext cx="7772400" cy="1362075"/>
          </a:xfrm>
        </p:spPr>
        <p:txBody>
          <a:bodyPr anchor="t"/>
          <a:lstStyle>
            <a:lvl1pPr algn="r">
              <a:defRPr sz="4000" b="1" cap="all"/>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he-IL" smtClean="0"/>
              <a:t>לחץ כדי לערוך סגנונות טקסט של תבנית בסיס</a:t>
            </a:r>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en-US">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288693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תוכן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תוכן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en-US">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40315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lvl1pPr>
              <a:defRPr/>
            </a:lvl1p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4" name="מציין מיקום תוכן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5" name="מציין מיקום טקסט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smtClean="0"/>
              <a:t>לחץ כדי לערוך סגנונות טקסט של תבנית בסיס</a:t>
            </a:r>
          </a:p>
        </p:txBody>
      </p:sp>
      <p:sp>
        <p:nvSpPr>
          <p:cNvPr id="6" name="מציין מיקום תוכן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7" name="מציין מיקום של תאריך 6"/>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8" name="מציין מיקום של כותרת תחתונה 7"/>
          <p:cNvSpPr>
            <a:spLocks noGrp="1"/>
          </p:cNvSpPr>
          <p:nvPr>
            <p:ph type="ftr" sz="quarter" idx="11"/>
          </p:nvPr>
        </p:nvSpPr>
        <p:spPr/>
        <p:txBody>
          <a:bodyPr/>
          <a:lstStyle/>
          <a:p>
            <a:endParaRPr lang="en-US">
              <a:solidFill>
                <a:prstClr val="black">
                  <a:tint val="75000"/>
                </a:prstClr>
              </a:solidFill>
            </a:endParaRPr>
          </a:p>
        </p:txBody>
      </p:sp>
      <p:sp>
        <p:nvSpPr>
          <p:cNvPr id="9" name="מציין מיקום של מספר שקופית 8"/>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20885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4638"/>
            <a:ext cx="8229600" cy="5890666"/>
          </a:xfrm>
        </p:spPr>
        <p:txBody>
          <a:bodyPr anchor="t">
            <a:normAutofit/>
          </a:bodyPr>
          <a:lstStyle>
            <a:lvl1pPr algn="r">
              <a:defRPr sz="2800" b="1"/>
            </a:lvl1pPr>
          </a:lstStyle>
          <a:p>
            <a:r>
              <a:rPr lang="he-IL" dirty="0" smtClean="0"/>
              <a:t>לחץ כדי לערוך סגנון כותרת של תבנית בסיס</a:t>
            </a:r>
            <a:endParaRPr lang="en-US" dirty="0"/>
          </a:p>
        </p:txBody>
      </p:sp>
      <p:sp>
        <p:nvSpPr>
          <p:cNvPr id="3" name="מציין מיקום של תאריך 2"/>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4" name="מציין מיקום של כותרת תחתונה 3"/>
          <p:cNvSpPr>
            <a:spLocks noGrp="1"/>
          </p:cNvSpPr>
          <p:nvPr>
            <p:ph type="ftr" sz="quarter" idx="11"/>
          </p:nvPr>
        </p:nvSpPr>
        <p:spPr/>
        <p:txBody>
          <a:bodyPr/>
          <a:lstStyle/>
          <a:p>
            <a:endParaRPr lang="en-US">
              <a:solidFill>
                <a:prstClr val="black">
                  <a:tint val="75000"/>
                </a:prstClr>
              </a:solidFill>
            </a:endParaRPr>
          </a:p>
        </p:txBody>
      </p:sp>
      <p:sp>
        <p:nvSpPr>
          <p:cNvPr id="5" name="מציין מיקום של מספר שקופית 4"/>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425045"/>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3" name="מציין מיקום של כותרת תחתונה 2"/>
          <p:cNvSpPr>
            <a:spLocks noGrp="1"/>
          </p:cNvSpPr>
          <p:nvPr>
            <p:ph type="ftr" sz="quarter" idx="11"/>
          </p:nvPr>
        </p:nvSpPr>
        <p:spPr/>
        <p:txBody>
          <a:bodyPr/>
          <a:lstStyle/>
          <a:p>
            <a:endParaRPr lang="en-US">
              <a:solidFill>
                <a:prstClr val="black">
                  <a:tint val="75000"/>
                </a:prstClr>
              </a:solidFill>
            </a:endParaRPr>
          </a:p>
        </p:txBody>
      </p:sp>
      <p:sp>
        <p:nvSpPr>
          <p:cNvPr id="4" name="מציין מיקום של מספר שקופית 3"/>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3770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457200" y="273050"/>
            <a:ext cx="3008313" cy="1162050"/>
          </a:xfrm>
        </p:spPr>
        <p:txBody>
          <a:bodyPr anchor="b"/>
          <a:lstStyle>
            <a:lvl1pPr algn="r">
              <a:defRPr sz="2000" b="1"/>
            </a:lvl1pPr>
          </a:lstStyle>
          <a:p>
            <a:r>
              <a:rPr lang="he-IL" smtClean="0"/>
              <a:t>לחץ כדי לערוך סגנון כותרת של תבנית בסיס</a:t>
            </a:r>
            <a:endParaRPr lang="en-US"/>
          </a:p>
        </p:txBody>
      </p:sp>
      <p:sp>
        <p:nvSpPr>
          <p:cNvPr id="3" name="מציין מיקום תוכן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טקסט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en-US">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975957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p:cNvSpPr>
            <a:spLocks noGrp="1"/>
          </p:cNvSpPr>
          <p:nvPr>
            <p:ph type="title"/>
          </p:nvPr>
        </p:nvSpPr>
        <p:spPr>
          <a:xfrm>
            <a:off x="1792288" y="4800600"/>
            <a:ext cx="5486400" cy="566738"/>
          </a:xfrm>
        </p:spPr>
        <p:txBody>
          <a:bodyPr anchor="b"/>
          <a:lstStyle>
            <a:lvl1pPr algn="r">
              <a:defRPr sz="2000" b="1"/>
            </a:lvl1pPr>
          </a:lstStyle>
          <a:p>
            <a:r>
              <a:rPr lang="he-IL" smtClean="0"/>
              <a:t>לחץ כדי לערוך סגנון כותרת של תבנית בסיס</a:t>
            </a:r>
            <a:endParaRPr lang="en-US"/>
          </a:p>
        </p:txBody>
      </p:sp>
      <p:sp>
        <p:nvSpPr>
          <p:cNvPr id="3" name="מציין מיקום של תמונה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מציין מיקום טקסט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smtClean="0"/>
              <a:t>לחץ כדי לערוך סגנונות טקסט של תבנית בסיס</a:t>
            </a:r>
          </a:p>
        </p:txBody>
      </p:sp>
      <p:sp>
        <p:nvSpPr>
          <p:cNvPr id="5" name="מציין מיקום של תאריך 4"/>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6" name="מציין מיקום של כותרת תחתונה 5"/>
          <p:cNvSpPr>
            <a:spLocks noGrp="1"/>
          </p:cNvSpPr>
          <p:nvPr>
            <p:ph type="ftr" sz="quarter" idx="11"/>
          </p:nvPr>
        </p:nvSpPr>
        <p:spPr/>
        <p:txBody>
          <a:bodyPr/>
          <a:lstStyle/>
          <a:p>
            <a:endParaRPr lang="en-US">
              <a:solidFill>
                <a:prstClr val="black">
                  <a:tint val="75000"/>
                </a:prstClr>
              </a:solidFill>
            </a:endParaRPr>
          </a:p>
        </p:txBody>
      </p:sp>
      <p:sp>
        <p:nvSpPr>
          <p:cNvPr id="7" name="מציין מיקום של מספר שקופית 6"/>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861383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en-US">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14198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p:cNvSpPr>
            <a:spLocks noGrp="1"/>
          </p:cNvSpPr>
          <p:nvPr>
            <p:ph type="title" orient="vert"/>
          </p:nvPr>
        </p:nvSpPr>
        <p:spPr>
          <a:xfrm>
            <a:off x="6629400" y="274638"/>
            <a:ext cx="2057400" cy="5851525"/>
          </a:xfrm>
        </p:spPr>
        <p:txBody>
          <a:bodyPr vert="eaVert"/>
          <a:lstStyle/>
          <a:p>
            <a:r>
              <a:rPr lang="he-IL" smtClean="0"/>
              <a:t>לחץ כדי לערוך סגנון כותרת של תבנית בסיס</a:t>
            </a:r>
            <a:endParaRPr lang="en-US"/>
          </a:p>
        </p:txBody>
      </p:sp>
      <p:sp>
        <p:nvSpPr>
          <p:cNvPr id="3" name="מציין מיקום של טקסט אנכי 2"/>
          <p:cNvSpPr>
            <a:spLocks noGrp="1"/>
          </p:cNvSpPr>
          <p:nvPr>
            <p:ph type="body" orient="vert" idx="1"/>
          </p:nvPr>
        </p:nvSpPr>
        <p:spPr>
          <a:xfrm>
            <a:off x="457200" y="274638"/>
            <a:ext cx="6019800" cy="5851525"/>
          </a:xfrm>
        </p:spPr>
        <p:txBody>
          <a:bodyPr vert="eaVert"/>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10"/>
          </p:nvPr>
        </p:nvSpPr>
        <p:spPr/>
        <p:txBody>
          <a:body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11"/>
          </p:nvPr>
        </p:nvSpPr>
        <p:spPr/>
        <p:txBody>
          <a:bodyPr/>
          <a:lstStyle/>
          <a:p>
            <a:endParaRPr lang="en-US">
              <a:solidFill>
                <a:prstClr val="black">
                  <a:tint val="75000"/>
                </a:prstClr>
              </a:solidFill>
            </a:endParaRPr>
          </a:p>
        </p:txBody>
      </p:sp>
      <p:sp>
        <p:nvSpPr>
          <p:cNvPr id="6" name="מציין מיקום של מספר שקופית 5"/>
          <p:cNvSpPr>
            <a:spLocks noGrp="1"/>
          </p:cNvSpPr>
          <p:nvPr>
            <p:ph type="sldNum" sz="quarter" idx="12"/>
          </p:nvPr>
        </p:nvSpPr>
        <p:spPr/>
        <p:txBody>
          <a:body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55764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smtClean="0"/>
              <a:t>לחץ כדי לערוך סגנון כותרת של תבנית בסיס</a:t>
            </a:r>
            <a:endParaRPr lang="en-US"/>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3537C78-363E-4A5D-BEBD-B88A33B7E228}" type="datetimeFigureOut">
              <a:rPr lang="en-US" smtClean="0"/>
              <a:pPr/>
              <a:t>8/15/2016</a:t>
            </a:fld>
            <a:endParaRPr lang="en-US"/>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705051C5-77F0-490C-8AFB-03AE9C3F43D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מציין מיקום של כותרת 1"/>
          <p:cNvSpPr>
            <a:spLocks noGrp="1"/>
          </p:cNvSpPr>
          <p:nvPr>
            <p:ph type="title"/>
          </p:nvPr>
        </p:nvSpPr>
        <p:spPr>
          <a:xfrm>
            <a:off x="457200" y="274638"/>
            <a:ext cx="8229600" cy="1143000"/>
          </a:xfrm>
          <a:prstGeom prst="rect">
            <a:avLst/>
          </a:prstGeom>
        </p:spPr>
        <p:txBody>
          <a:bodyPr vert="horz" lIns="91440" tIns="45720" rIns="91440" bIns="45720" rtlCol="1" anchor="ctr">
            <a:normAutofit/>
          </a:bodyPr>
          <a:lstStyle/>
          <a:p>
            <a:r>
              <a:rPr lang="he-IL" dirty="0" smtClean="0"/>
              <a:t>לחץ כדי לערוך סגנון כותרת של תבנית בסיס</a:t>
            </a:r>
            <a:endParaRPr lang="en-US" dirty="0"/>
          </a:p>
        </p:txBody>
      </p:sp>
      <p:sp>
        <p:nvSpPr>
          <p:cNvPr id="3" name="מציין מיקום טקסט 2"/>
          <p:cNvSpPr>
            <a:spLocks noGrp="1"/>
          </p:cNvSpPr>
          <p:nvPr>
            <p:ph type="body" idx="1"/>
          </p:nvPr>
        </p:nvSpPr>
        <p:spPr>
          <a:xfrm>
            <a:off x="457200" y="1600200"/>
            <a:ext cx="8229600" cy="4525963"/>
          </a:xfrm>
          <a:prstGeom prst="rect">
            <a:avLst/>
          </a:prstGeom>
        </p:spPr>
        <p:txBody>
          <a:bodyPr vert="horz" lIns="91440" tIns="45720" rIns="91440" bIns="45720" rtlCol="1">
            <a:normAutofit/>
          </a:bodyPr>
          <a:lstStyle/>
          <a:p>
            <a:pPr lvl="0"/>
            <a:r>
              <a:rPr lang="he-IL" smtClean="0"/>
              <a:t>לחץ כדי לערוך סגנונות טקסט של תבנית בסיס</a:t>
            </a:r>
          </a:p>
          <a:p>
            <a:pPr lvl="1"/>
            <a:r>
              <a:rPr lang="he-IL" smtClean="0"/>
              <a:t>רמה שנייה</a:t>
            </a:r>
          </a:p>
          <a:p>
            <a:pPr lvl="2"/>
            <a:r>
              <a:rPr lang="he-IL" smtClean="0"/>
              <a:t>רמה שלישית</a:t>
            </a:r>
          </a:p>
          <a:p>
            <a:pPr lvl="3"/>
            <a:r>
              <a:rPr lang="he-IL" smtClean="0"/>
              <a:t>רמה רביעית</a:t>
            </a:r>
          </a:p>
          <a:p>
            <a:pPr lvl="4"/>
            <a:r>
              <a:rPr lang="he-IL" smtClean="0"/>
              <a:t>רמה חמישית</a:t>
            </a:r>
            <a:endParaRPr lang="en-US"/>
          </a:p>
        </p:txBody>
      </p:sp>
      <p:sp>
        <p:nvSpPr>
          <p:cNvPr id="4" name="מציין מיקום של תאריך 3"/>
          <p:cNvSpPr>
            <a:spLocks noGrp="1"/>
          </p:cNvSpPr>
          <p:nvPr>
            <p:ph type="dt" sz="half" idx="2"/>
          </p:nvPr>
        </p:nvSpPr>
        <p:spPr>
          <a:xfrm>
            <a:off x="6553200" y="6356350"/>
            <a:ext cx="21336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33537C78-363E-4A5D-BEBD-B88A33B7E228}" type="datetimeFigureOut">
              <a:rPr lang="en-US" smtClean="0">
                <a:solidFill>
                  <a:prstClr val="black">
                    <a:tint val="75000"/>
                  </a:prstClr>
                </a:solidFill>
              </a:rPr>
              <a:pPr/>
              <a:t>8/15/2016</a:t>
            </a:fld>
            <a:endParaRPr lang="en-US">
              <a:solidFill>
                <a:prstClr val="black">
                  <a:tint val="75000"/>
                </a:prstClr>
              </a:solidFill>
            </a:endParaRPr>
          </a:p>
        </p:txBody>
      </p:sp>
      <p:sp>
        <p:nvSpPr>
          <p:cNvPr id="5" name="מציין מיקום של כותרת תחתונה 4"/>
          <p:cNvSpPr>
            <a:spLocks noGrp="1"/>
          </p:cNvSpPr>
          <p:nvPr>
            <p:ph type="ftr" sz="quarter" idx="3"/>
          </p:nvPr>
        </p:nvSpPr>
        <p:spPr>
          <a:xfrm>
            <a:off x="3124200" y="6356350"/>
            <a:ext cx="28956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מציין מיקום של מספר שקופית 5"/>
          <p:cNvSpPr>
            <a:spLocks noGrp="1"/>
          </p:cNvSpPr>
          <p:nvPr>
            <p:ph type="sldNum" sz="quarter" idx="4"/>
          </p:nvPr>
        </p:nvSpPr>
        <p:spPr>
          <a:xfrm>
            <a:off x="457200" y="6356350"/>
            <a:ext cx="21336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705051C5-77F0-490C-8AFB-03AE9C3F43D2}"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904949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txStyles>
    <p:titleStyle>
      <a:lvl1pPr algn="ctr" defTabSz="914400" rtl="1" eaLnBrk="1" latinLnBrk="0" hangingPunct="1">
        <a:spcBef>
          <a:spcPct val="0"/>
        </a:spcBef>
        <a:buNone/>
        <a:defRPr sz="4400" kern="1200">
          <a:solidFill>
            <a:schemeClr val="tx1"/>
          </a:solidFill>
          <a:latin typeface="+mj-lt"/>
          <a:ea typeface="+mj-ea"/>
          <a:cs typeface="+mj-cs"/>
        </a:defRPr>
      </a:lvl1pPr>
    </p:titleStyle>
    <p:bodyStyle>
      <a:lvl1pPr marL="342900" indent="-342900" algn="r" defTabSz="914400" rtl="1"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r" defTabSz="914400" rtl="1"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r" defTabSz="914400" rtl="1"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r" defTabSz="914400" rtl="1"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he-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6.wmf"/><Relationship Id="rId2" Type="http://schemas.openxmlformats.org/officeDocument/2006/relationships/slideLayout" Target="../slideLayouts/slideLayout13.xml"/><Relationship Id="rId1" Type="http://schemas.openxmlformats.org/officeDocument/2006/relationships/vmlDrawing" Target="../drawings/vmlDrawing3.vml"/><Relationship Id="rId6" Type="http://schemas.openxmlformats.org/officeDocument/2006/relationships/oleObject" Target="../embeddings/oleObject4.bin"/><Relationship Id="rId5" Type="http://schemas.openxmlformats.org/officeDocument/2006/relationships/image" Target="../media/image5.w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5.bin"/><Relationship Id="rId7" Type="http://schemas.openxmlformats.org/officeDocument/2006/relationships/oleObject" Target="../embeddings/oleObject7.bin"/><Relationship Id="rId2" Type="http://schemas.openxmlformats.org/officeDocument/2006/relationships/slideLayout" Target="../slideLayouts/slideLayout13.xml"/><Relationship Id="rId1" Type="http://schemas.openxmlformats.org/officeDocument/2006/relationships/vmlDrawing" Target="../drawings/vmlDrawing4.vml"/><Relationship Id="rId6" Type="http://schemas.openxmlformats.org/officeDocument/2006/relationships/image" Target="../media/image8.wmf"/><Relationship Id="rId5" Type="http://schemas.openxmlformats.org/officeDocument/2006/relationships/oleObject" Target="../embeddings/oleObject6.bin"/><Relationship Id="rId4" Type="http://schemas.openxmlformats.org/officeDocument/2006/relationships/image" Target="../media/image7.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image" Target="../media/image11.wmf"/><Relationship Id="rId5" Type="http://schemas.openxmlformats.org/officeDocument/2006/relationships/oleObject" Target="../embeddings/oleObject9.bin"/><Relationship Id="rId4" Type="http://schemas.openxmlformats.org/officeDocument/2006/relationships/image" Target="../media/image10.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ctrTitle"/>
          </p:nvPr>
        </p:nvSpPr>
        <p:spPr>
          <a:xfrm>
            <a:off x="683568" y="836712"/>
            <a:ext cx="7772400" cy="1470025"/>
          </a:xfrm>
        </p:spPr>
        <p:txBody>
          <a:bodyPr>
            <a:normAutofit fontScale="90000"/>
          </a:bodyPr>
          <a:lstStyle/>
          <a:p>
            <a:r>
              <a:rPr lang="he-IL" sz="5200" b="1" u="sng" dirty="0" smtClean="0">
                <a:solidFill>
                  <a:schemeClr val="accent4"/>
                </a:solidFill>
                <a:latin typeface="Tahoma" pitchFamily="34" charset="0"/>
                <a:cs typeface="Tahoma" pitchFamily="34" charset="0"/>
              </a:rPr>
              <a:t>מבוא לסטטיסטיקה והסתברות</a:t>
            </a:r>
            <a:endParaRPr lang="en-US" sz="5200" b="1" u="sng" dirty="0">
              <a:solidFill>
                <a:schemeClr val="accent4"/>
              </a:solidFill>
              <a:latin typeface="Tahoma" pitchFamily="34" charset="0"/>
              <a:cs typeface="Tahoma" pitchFamily="34" charset="0"/>
            </a:endParaRPr>
          </a:p>
        </p:txBody>
      </p:sp>
      <p:sp>
        <p:nvSpPr>
          <p:cNvPr id="3" name="כותרת משנה 2"/>
          <p:cNvSpPr>
            <a:spLocks noGrp="1"/>
          </p:cNvSpPr>
          <p:nvPr>
            <p:ph type="subTitle" idx="1"/>
          </p:nvPr>
        </p:nvSpPr>
        <p:spPr>
          <a:xfrm>
            <a:off x="1331640" y="2900536"/>
            <a:ext cx="6400800" cy="1752600"/>
          </a:xfrm>
        </p:spPr>
        <p:txBody>
          <a:bodyPr>
            <a:normAutofit/>
          </a:bodyPr>
          <a:lstStyle/>
          <a:p>
            <a:r>
              <a:rPr lang="he-IL" sz="3600" b="1" dirty="0" smtClean="0">
                <a:solidFill>
                  <a:schemeClr val="tx1"/>
                </a:solidFill>
                <a:latin typeface="Tahoma" pitchFamily="34" charset="0"/>
                <a:cs typeface="Tahoma" pitchFamily="34" charset="0"/>
              </a:rPr>
              <a:t>תרגיל 07</a:t>
            </a:r>
            <a:endParaRPr lang="en-US" sz="3600" b="1" dirty="0">
              <a:solidFill>
                <a:schemeClr val="tx1"/>
              </a:solidFill>
              <a:latin typeface="Tahoma" pitchFamily="34" charset="0"/>
              <a:cs typeface="Tahoma" pitchFamily="34" charset="0"/>
            </a:endParaRPr>
          </a:p>
        </p:txBody>
      </p:sp>
    </p:spTree>
    <p:extLst>
      <p:ext uri="{BB962C8B-B14F-4D97-AF65-F5344CB8AC3E}">
        <p14:creationId xmlns:p14="http://schemas.microsoft.com/office/powerpoint/2010/main" val="247473441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normAutofit/>
          </a:bodyPr>
          <a:lstStyle/>
          <a:p>
            <a:r>
              <a:rPr lang="he-IL" sz="3200" b="1" u="sng" dirty="0" smtClean="0"/>
              <a:t>הסקה סטטיסטית</a:t>
            </a:r>
            <a:endParaRPr lang="en-US" sz="3200" b="1" u="sng" dirty="0"/>
          </a:p>
        </p:txBody>
      </p:sp>
      <p:sp>
        <p:nvSpPr>
          <p:cNvPr id="3" name="מציין מיקום תוכן 2"/>
          <p:cNvSpPr>
            <a:spLocks noGrp="1"/>
          </p:cNvSpPr>
          <p:nvPr>
            <p:ph idx="1"/>
          </p:nvPr>
        </p:nvSpPr>
        <p:spPr/>
        <p:txBody>
          <a:bodyPr>
            <a:noAutofit/>
          </a:bodyPr>
          <a:lstStyle/>
          <a:p>
            <a:pPr>
              <a:lnSpc>
                <a:spcPct val="150000"/>
              </a:lnSpc>
            </a:pPr>
            <a:r>
              <a:rPr lang="he-IL" sz="2400" b="1" u="sng" dirty="0" smtClean="0"/>
              <a:t>אוכלוסייה</a:t>
            </a:r>
            <a:r>
              <a:rPr lang="he-IL" sz="2400" dirty="0" smtClean="0"/>
              <a:t>: כלל הפריטים לגביהם אנו שואלים שאלה מסוימת</a:t>
            </a:r>
            <a:endParaRPr lang="en-US" sz="2400" dirty="0" smtClean="0"/>
          </a:p>
          <a:p>
            <a:pPr>
              <a:lnSpc>
                <a:spcPct val="150000"/>
              </a:lnSpc>
            </a:pPr>
            <a:r>
              <a:rPr lang="he-IL" sz="2400" b="1" u="sng" dirty="0" smtClean="0"/>
              <a:t>פרמטר</a:t>
            </a:r>
            <a:r>
              <a:rPr lang="he-IL" sz="2400" dirty="0" smtClean="0"/>
              <a:t>: גודל קבוע המאפיין את האוכלוסייה. מחושב ע"ס נתוני האוכלוסייה ומהווה את אחד המאפיינים שלה (למשל, </a:t>
            </a:r>
            <a:r>
              <a:rPr lang="en-US" sz="2400" dirty="0" smtClean="0"/>
              <a:t>ρ, σ, μ</a:t>
            </a:r>
            <a:r>
              <a:rPr lang="he-IL" sz="2400" dirty="0" smtClean="0"/>
              <a:t>).</a:t>
            </a:r>
            <a:endParaRPr lang="en-US" sz="2400" dirty="0" smtClean="0"/>
          </a:p>
          <a:p>
            <a:pPr>
              <a:lnSpc>
                <a:spcPct val="150000"/>
              </a:lnSpc>
            </a:pPr>
            <a:r>
              <a:rPr lang="he-IL" sz="2400" b="1" u="sng" dirty="0" smtClean="0"/>
              <a:t>סטטיסטי</a:t>
            </a:r>
            <a:r>
              <a:rPr lang="he-IL" sz="2400" dirty="0" smtClean="0"/>
              <a:t>: ביטוי מתמטי של תצפיות מחושב ע"ס נתוני המדגם (למשל</a:t>
            </a:r>
            <a:r>
              <a:rPr lang="en-US" sz="2400" dirty="0" smtClean="0"/>
              <a:t> </a:t>
            </a:r>
            <a:r>
              <a:rPr lang="he-IL" sz="2400" dirty="0" smtClean="0"/>
              <a:t>          ). </a:t>
            </a:r>
          </a:p>
          <a:p>
            <a:pPr>
              <a:lnSpc>
                <a:spcPct val="150000"/>
              </a:lnSpc>
            </a:pPr>
            <a:endParaRPr lang="en-US" sz="2400" dirty="0" smtClean="0"/>
          </a:p>
          <a:p>
            <a:pPr>
              <a:lnSpc>
                <a:spcPct val="150000"/>
              </a:lnSpc>
            </a:pPr>
            <a:endParaRPr lang="en-US" sz="2400" dirty="0"/>
          </a:p>
        </p:txBody>
      </p:sp>
      <p:sp>
        <p:nvSpPr>
          <p:cNvPr id="614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61443" name="Object 3"/>
          <p:cNvGraphicFramePr>
            <a:graphicFrameLocks noChangeAspect="1"/>
          </p:cNvGraphicFramePr>
          <p:nvPr>
            <p:extLst>
              <p:ext uri="{D42A27DB-BD31-4B8C-83A1-F6EECF244321}">
                <p14:modId xmlns:p14="http://schemas.microsoft.com/office/powerpoint/2010/main" val="1024740491"/>
              </p:ext>
            </p:extLst>
          </p:nvPr>
        </p:nvGraphicFramePr>
        <p:xfrm>
          <a:off x="5219700" y="5229225"/>
          <a:ext cx="981075" cy="461963"/>
        </p:xfrm>
        <a:graphic>
          <a:graphicData uri="http://schemas.openxmlformats.org/presentationml/2006/ole">
            <mc:AlternateContent xmlns:mc="http://schemas.openxmlformats.org/markup-compatibility/2006">
              <mc:Choice xmlns:v="urn:schemas-microsoft-com:vml" Requires="v">
                <p:oleObj spid="_x0000_s77840" name="Equation" r:id="rId3" imgW="431640" imgH="203040" progId="Equation.3">
                  <p:embed/>
                </p:oleObj>
              </mc:Choice>
              <mc:Fallback>
                <p:oleObj name="Equation" r:id="rId3" imgW="431640" imgH="2030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9700" y="5229225"/>
                        <a:ext cx="981075"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40143165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he-IL" sz="3200" b="1" u="sng" dirty="0" smtClean="0"/>
              <a:t>משפט הגבול המרכזי</a:t>
            </a:r>
            <a:endParaRPr lang="en-GB" sz="3200" b="1" u="sng" dirty="0"/>
          </a:p>
        </p:txBody>
      </p:sp>
      <p:sp>
        <p:nvSpPr>
          <p:cNvPr id="3" name="Content Placeholder 2"/>
          <p:cNvSpPr>
            <a:spLocks noGrp="1"/>
          </p:cNvSpPr>
          <p:nvPr>
            <p:ph idx="1"/>
          </p:nvPr>
        </p:nvSpPr>
        <p:spPr/>
        <p:txBody>
          <a:bodyPr>
            <a:normAutofit/>
          </a:bodyPr>
          <a:lstStyle/>
          <a:p>
            <a:pPr lvl="0">
              <a:lnSpc>
                <a:spcPct val="150000"/>
              </a:lnSpc>
            </a:pPr>
            <a:r>
              <a:rPr lang="he-IL" sz="2600" u="sng" dirty="0" smtClean="0">
                <a:solidFill>
                  <a:srgbClr val="000000"/>
                </a:solidFill>
                <a:latin typeface="+mj-lt"/>
                <a:cs typeface="+mj-cs"/>
              </a:rPr>
              <a:t>התפלגות הדגימה </a:t>
            </a:r>
            <a:r>
              <a:rPr lang="he-IL" sz="2600" dirty="0" smtClean="0">
                <a:solidFill>
                  <a:srgbClr val="000000"/>
                </a:solidFill>
                <a:latin typeface="+mj-lt"/>
                <a:cs typeface="+mj-cs"/>
              </a:rPr>
              <a:t>– </a:t>
            </a:r>
            <a:r>
              <a:rPr lang="he-IL" sz="2600" dirty="0"/>
              <a:t>התפלגות תאורטית המבוססת על אינסוף מדגמים בגודל </a:t>
            </a:r>
            <a:r>
              <a:rPr lang="en-US" sz="2600" dirty="0" smtClean="0"/>
              <a:t>n</a:t>
            </a:r>
          </a:p>
          <a:p>
            <a:pPr lvl="0">
              <a:lnSpc>
                <a:spcPct val="150000"/>
              </a:lnSpc>
            </a:pPr>
            <a:r>
              <a:rPr lang="he-IL" sz="2600" b="1" dirty="0" smtClean="0">
                <a:solidFill>
                  <a:srgbClr val="FF0000"/>
                </a:solidFill>
                <a:latin typeface="+mj-lt"/>
                <a:cs typeface="+mj-cs"/>
              </a:rPr>
              <a:t>משפט הגבול המרכזי:</a:t>
            </a:r>
            <a:r>
              <a:rPr lang="he-IL" sz="2600" dirty="0" smtClean="0">
                <a:solidFill>
                  <a:srgbClr val="000000"/>
                </a:solidFill>
                <a:latin typeface="+mj-lt"/>
                <a:cs typeface="+mj-cs"/>
              </a:rPr>
              <a:t> אם</a:t>
            </a:r>
            <a:r>
              <a:rPr lang="en-US" sz="2600" dirty="0">
                <a:solidFill>
                  <a:srgbClr val="000000"/>
                </a:solidFill>
                <a:latin typeface="+mj-lt"/>
                <a:cs typeface="+mj-cs"/>
              </a:rPr>
              <a:t> n </a:t>
            </a:r>
            <a:r>
              <a:rPr lang="he-IL" sz="2600" dirty="0">
                <a:solidFill>
                  <a:srgbClr val="000000"/>
                </a:solidFill>
                <a:latin typeface="+mj-lt"/>
                <a:cs typeface="+mj-cs"/>
              </a:rPr>
              <a:t>גדול </a:t>
            </a:r>
            <a:r>
              <a:rPr lang="he-IL" sz="2600" dirty="0" smtClean="0">
                <a:solidFill>
                  <a:srgbClr val="000000"/>
                </a:solidFill>
                <a:latin typeface="+mj-lt"/>
                <a:cs typeface="+mj-cs"/>
              </a:rPr>
              <a:t>מספיק (</a:t>
            </a:r>
            <a:r>
              <a:rPr lang="en-US" sz="2600" dirty="0" smtClean="0">
                <a:solidFill>
                  <a:srgbClr val="000000"/>
                </a:solidFill>
                <a:latin typeface="+mj-lt"/>
                <a:cs typeface="+mj-cs"/>
              </a:rPr>
              <a:t>(~n&gt;30</a:t>
            </a:r>
            <a:r>
              <a:rPr lang="he-IL" sz="2600" dirty="0" smtClean="0">
                <a:solidFill>
                  <a:srgbClr val="000000"/>
                </a:solidFill>
                <a:latin typeface="+mj-lt"/>
                <a:cs typeface="+mj-cs"/>
              </a:rPr>
              <a:t>, התפלגות </a:t>
            </a:r>
            <a:r>
              <a:rPr lang="he-IL" sz="2600" dirty="0">
                <a:solidFill>
                  <a:srgbClr val="000000"/>
                </a:solidFill>
                <a:latin typeface="+mj-lt"/>
                <a:cs typeface="+mj-cs"/>
              </a:rPr>
              <a:t>הדגימה של</a:t>
            </a:r>
            <a:r>
              <a:rPr lang="en-US" sz="2600" dirty="0">
                <a:solidFill>
                  <a:srgbClr val="000000"/>
                </a:solidFill>
                <a:latin typeface="+mj-lt"/>
                <a:cs typeface="+mj-cs"/>
              </a:rPr>
              <a:t> </a:t>
            </a:r>
            <a:r>
              <a:rPr lang="he-IL" sz="2600" u="sng" dirty="0">
                <a:solidFill>
                  <a:srgbClr val="000000"/>
                </a:solidFill>
                <a:latin typeface="+mj-lt"/>
                <a:cs typeface="+mj-cs"/>
              </a:rPr>
              <a:t>ממוצעים</a:t>
            </a:r>
            <a:r>
              <a:rPr lang="en-US" sz="2600" dirty="0">
                <a:solidFill>
                  <a:srgbClr val="000000"/>
                </a:solidFill>
                <a:latin typeface="+mj-lt"/>
                <a:cs typeface="+mj-cs"/>
              </a:rPr>
              <a:t> </a:t>
            </a:r>
            <a:r>
              <a:rPr lang="he-IL" sz="2600" dirty="0">
                <a:solidFill>
                  <a:srgbClr val="000000"/>
                </a:solidFill>
                <a:latin typeface="+mj-lt"/>
                <a:cs typeface="+mj-cs"/>
              </a:rPr>
              <a:t>תתפלג בקירוב נורמלית ללא קשר לצורת ההתפלגות </a:t>
            </a:r>
            <a:r>
              <a:rPr lang="he-IL" sz="2600" dirty="0" smtClean="0">
                <a:solidFill>
                  <a:srgbClr val="000000"/>
                </a:solidFill>
                <a:latin typeface="+mj-lt"/>
                <a:cs typeface="+mj-cs"/>
              </a:rPr>
              <a:t>המקורית</a:t>
            </a:r>
            <a:r>
              <a:rPr lang="en-US" sz="2600" dirty="0" smtClean="0">
                <a:solidFill>
                  <a:srgbClr val="000000"/>
                </a:solidFill>
                <a:latin typeface="+mj-lt"/>
                <a:cs typeface="+mj-cs"/>
              </a:rPr>
              <a:t>.</a:t>
            </a:r>
            <a:endParaRPr lang="en-US" sz="2600" dirty="0" smtClean="0">
              <a:latin typeface="+mj-lt"/>
              <a:cs typeface="+mj-cs"/>
            </a:endParaRPr>
          </a:p>
          <a:p>
            <a:pPr lvl="0">
              <a:lnSpc>
                <a:spcPct val="150000"/>
              </a:lnSpc>
            </a:pPr>
            <a:r>
              <a:rPr lang="he-IL" sz="2600" dirty="0" smtClean="0">
                <a:latin typeface="+mj-lt"/>
                <a:cs typeface="+mj-cs"/>
              </a:rPr>
              <a:t>בהתפלגות זו מתקיים</a:t>
            </a:r>
            <a:r>
              <a:rPr lang="en-US" sz="2600" dirty="0" smtClean="0">
                <a:latin typeface="+mj-lt"/>
                <a:cs typeface="+mj-cs"/>
              </a:rPr>
              <a:t>:</a:t>
            </a:r>
            <a:r>
              <a:rPr lang="he-IL" sz="2600" dirty="0" smtClean="0">
                <a:latin typeface="+mj-lt"/>
                <a:cs typeface="+mj-cs"/>
              </a:rPr>
              <a:t> </a:t>
            </a:r>
            <a:endParaRPr lang="en-GB" sz="2600" dirty="0">
              <a:latin typeface="+mj-lt"/>
              <a:cs typeface="+mj-cs"/>
            </a:endParaRPr>
          </a:p>
        </p:txBody>
      </p:sp>
      <p:pic>
        <p:nvPicPr>
          <p:cNvPr id="76805" name="Picture 5" descr="http://www.tau.ac.il/~ricardo/mekuvan/lessons/a10/a10.3.files/empty.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7950" y="-98425"/>
            <a:ext cx="9525" cy="20955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9" name="Object 4"/>
          <p:cNvGraphicFramePr>
            <a:graphicFrameLocks noChangeAspect="1"/>
          </p:cNvGraphicFramePr>
          <p:nvPr>
            <p:extLst>
              <p:ext uri="{D42A27DB-BD31-4B8C-83A1-F6EECF244321}">
                <p14:modId xmlns:p14="http://schemas.microsoft.com/office/powerpoint/2010/main" val="3879783697"/>
              </p:ext>
            </p:extLst>
          </p:nvPr>
        </p:nvGraphicFramePr>
        <p:xfrm>
          <a:off x="4574210" y="5373216"/>
          <a:ext cx="3708400" cy="1041400"/>
        </p:xfrm>
        <a:graphic>
          <a:graphicData uri="http://schemas.openxmlformats.org/presentationml/2006/ole">
            <mc:AlternateContent xmlns:mc="http://schemas.openxmlformats.org/markup-compatibility/2006">
              <mc:Choice xmlns:v="urn:schemas-microsoft-com:vml" Requires="v">
                <p:oleObj spid="_x0000_s76820" name="Equation" r:id="rId4" imgW="1473120" imgH="419040" progId="Equation.3">
                  <p:embed/>
                </p:oleObj>
              </mc:Choice>
              <mc:Fallback>
                <p:oleObj name="Equation" r:id="rId4" imgW="1473120" imgH="419040" progId="Equation.3">
                  <p:embed/>
                  <p:pic>
                    <p:nvPicPr>
                      <p:cNvPr id="0" name=""/>
                      <p:cNvPicPr>
                        <a:picLocks noChangeAspect="1" noChangeArrowheads="1"/>
                      </p:cNvPicPr>
                      <p:nvPr/>
                    </p:nvPicPr>
                    <p:blipFill>
                      <a:blip r:embed="rId5"/>
                      <a:srcRect/>
                      <a:stretch>
                        <a:fillRect/>
                      </a:stretch>
                    </p:blipFill>
                    <p:spPr bwMode="auto">
                      <a:xfrm>
                        <a:off x="4574210" y="5373216"/>
                        <a:ext cx="3708400" cy="1041400"/>
                      </a:xfrm>
                      <a:prstGeom prst="rect">
                        <a:avLst/>
                      </a:prstGeom>
                      <a:noFill/>
                      <a:extLst/>
                    </p:spPr>
                  </p:pic>
                </p:oleObj>
              </mc:Fallback>
            </mc:AlternateContent>
          </a:graphicData>
        </a:graphic>
      </p:graphicFrame>
    </p:spTree>
    <p:extLst>
      <p:ext uri="{BB962C8B-B14F-4D97-AF65-F5344CB8AC3E}">
        <p14:creationId xmlns:p14="http://schemas.microsoft.com/office/powerpoint/2010/main" val="63497078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Box 3"/>
          <p:cNvSpPr txBox="1"/>
          <p:nvPr/>
        </p:nvSpPr>
        <p:spPr>
          <a:xfrm>
            <a:off x="35496" y="44624"/>
            <a:ext cx="8892480" cy="584775"/>
          </a:xfrm>
          <a:prstGeom prst="rect">
            <a:avLst/>
          </a:prstGeom>
          <a:noFill/>
        </p:spPr>
        <p:txBody>
          <a:bodyPr wrap="square" rtlCol="1">
            <a:spAutoFit/>
          </a:bodyPr>
          <a:lstStyle/>
          <a:p>
            <a:pPr algn="just"/>
            <a:r>
              <a:rPr lang="he-IL" sz="3200" b="1" u="sng" dirty="0" smtClean="0">
                <a:solidFill>
                  <a:prstClr val="black"/>
                </a:solidFill>
              </a:rPr>
              <a:t>שאלה </a:t>
            </a:r>
            <a:r>
              <a:rPr lang="en-US" sz="3200" b="1" u="sng" dirty="0" smtClean="0">
                <a:solidFill>
                  <a:prstClr val="black"/>
                </a:solidFill>
              </a:rPr>
              <a:t>1</a:t>
            </a:r>
          </a:p>
        </p:txBody>
      </p:sp>
      <p:sp>
        <p:nvSpPr>
          <p:cNvPr id="2355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23556" name="Rectangle 4"/>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28677"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28678" name="Rectangle 6"/>
          <p:cNvSpPr>
            <a:spLocks noChangeArrowheads="1"/>
          </p:cNvSpPr>
          <p:nvPr/>
        </p:nvSpPr>
        <p:spPr bwMode="auto">
          <a:xfrm>
            <a:off x="0" y="2190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he-IL" sz="1100" smtClean="0">
                <a:solidFill>
                  <a:prstClr val="black"/>
                </a:solidFill>
                <a:latin typeface="Calibri" pitchFamily="34" charset="0"/>
                <a:ea typeface="Calibri" pitchFamily="34" charset="0"/>
                <a:cs typeface="Arial" pitchFamily="34" charset="0"/>
              </a:rPr>
              <a:t>  </a:t>
            </a:r>
            <a:endParaRPr lang="he-IL" smtClean="0">
              <a:solidFill>
                <a:prstClr val="black"/>
              </a:solidFill>
              <a:latin typeface="Arial" pitchFamily="34" charset="0"/>
              <a:cs typeface="Arial" pitchFamily="34" charset="0"/>
            </a:endParaRPr>
          </a:p>
        </p:txBody>
      </p:sp>
      <p:sp>
        <p:nvSpPr>
          <p:cNvPr id="28680" name="Rectangle 8"/>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28681" name="Rectangle 9"/>
          <p:cNvSpPr>
            <a:spLocks noChangeArrowheads="1"/>
          </p:cNvSpPr>
          <p:nvPr/>
        </p:nvSpPr>
        <p:spPr bwMode="auto">
          <a:xfrm>
            <a:off x="0" y="21907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r>
              <a:rPr lang="he-IL" sz="1100" smtClean="0">
                <a:solidFill>
                  <a:prstClr val="black"/>
                </a:solidFill>
                <a:latin typeface="Calibri" pitchFamily="34" charset="0"/>
                <a:ea typeface="Calibri" pitchFamily="34" charset="0"/>
                <a:cs typeface="Arial" pitchFamily="34" charset="0"/>
              </a:rPr>
              <a:t>  </a:t>
            </a:r>
            <a:endParaRPr lang="he-IL" smtClean="0">
              <a:solidFill>
                <a:prstClr val="black"/>
              </a:solidFill>
              <a:latin typeface="Arial" pitchFamily="34" charset="0"/>
              <a:cs typeface="Arial" pitchFamily="34" charset="0"/>
            </a:endParaRPr>
          </a:p>
        </p:txBody>
      </p:sp>
      <p:sp>
        <p:nvSpPr>
          <p:cNvPr id="3789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solidFill>
                <a:prstClr val="black"/>
              </a:solidFill>
            </a:endParaRPr>
          </a:p>
        </p:txBody>
      </p:sp>
      <p:sp>
        <p:nvSpPr>
          <p:cNvPr id="21" name="Content Placeholder 20"/>
          <p:cNvSpPr>
            <a:spLocks noGrp="1"/>
          </p:cNvSpPr>
          <p:nvPr>
            <p:ph idx="1"/>
          </p:nvPr>
        </p:nvSpPr>
        <p:spPr>
          <a:xfrm>
            <a:off x="457200" y="803850"/>
            <a:ext cx="8229600" cy="5322313"/>
          </a:xfrm>
        </p:spPr>
        <p:txBody>
          <a:bodyPr>
            <a:normAutofit fontScale="85000" lnSpcReduction="10000"/>
          </a:bodyPr>
          <a:lstStyle/>
          <a:p>
            <a:pPr marL="0" indent="0">
              <a:lnSpc>
                <a:spcPct val="170000"/>
              </a:lnSpc>
              <a:buNone/>
            </a:pPr>
            <a:r>
              <a:rPr lang="he-IL" dirty="0" smtClean="0"/>
              <a:t>ממוצע </a:t>
            </a:r>
            <a:r>
              <a:rPr lang="he-IL" dirty="0"/>
              <a:t>ההוצאה השנתית על </a:t>
            </a:r>
            <a:r>
              <a:rPr lang="he-IL" dirty="0" smtClean="0"/>
              <a:t>שוקולד בישראל הינו 240 ש"ח לאדם, עם סטיית תקן 100. דוגמים מקרית 100 אנשים. </a:t>
            </a:r>
            <a:r>
              <a:rPr lang="he-IL" b="1" dirty="0" smtClean="0"/>
              <a:t>מהי ההסתברות ש:</a:t>
            </a:r>
            <a:endParaRPr lang="he-IL" b="1" dirty="0"/>
          </a:p>
          <a:p>
            <a:pPr marL="0" indent="0">
              <a:lnSpc>
                <a:spcPct val="170000"/>
              </a:lnSpc>
              <a:buNone/>
            </a:pPr>
            <a:r>
              <a:rPr lang="he-IL" b="1" dirty="0" smtClean="0"/>
              <a:t>א.</a:t>
            </a:r>
            <a:r>
              <a:rPr lang="he-IL" b="1" dirty="0"/>
              <a:t>	</a:t>
            </a:r>
            <a:r>
              <a:rPr lang="he-IL" b="1" dirty="0" smtClean="0"/>
              <a:t>ממוצע המדגם גדול מ-260?</a:t>
            </a:r>
            <a:endParaRPr lang="he-IL" b="1" dirty="0"/>
          </a:p>
          <a:p>
            <a:pPr marL="0" indent="0">
              <a:lnSpc>
                <a:spcPct val="170000"/>
              </a:lnSpc>
              <a:buNone/>
            </a:pPr>
            <a:r>
              <a:rPr lang="he-IL" b="1" dirty="0" smtClean="0"/>
              <a:t>ב.</a:t>
            </a:r>
            <a:r>
              <a:rPr lang="he-IL" b="1" dirty="0"/>
              <a:t>	</a:t>
            </a:r>
            <a:r>
              <a:rPr lang="he-IL" b="1" dirty="0" smtClean="0"/>
              <a:t>ממוצע המדגם קטן מ-230 או גדול מ-250?</a:t>
            </a:r>
            <a:endParaRPr lang="he-IL" b="1" dirty="0"/>
          </a:p>
          <a:p>
            <a:pPr marL="0" indent="0">
              <a:lnSpc>
                <a:spcPct val="170000"/>
              </a:lnSpc>
              <a:buNone/>
            </a:pPr>
            <a:r>
              <a:rPr lang="he-IL" b="1" dirty="0" smtClean="0"/>
              <a:t>ג.</a:t>
            </a:r>
            <a:r>
              <a:rPr lang="he-IL" b="1" dirty="0"/>
              <a:t>	מ</a:t>
            </a:r>
            <a:r>
              <a:rPr lang="he-IL" b="1" dirty="0" smtClean="0"/>
              <a:t>הו הממוצע ש-5% מהמדגמים יהיו 	מעליו?</a:t>
            </a:r>
            <a:endParaRPr lang="en-GB" b="1" dirty="0"/>
          </a:p>
        </p:txBody>
      </p:sp>
    </p:spTree>
    <p:extLst>
      <p:ext uri="{BB962C8B-B14F-4D97-AF65-F5344CB8AC3E}">
        <p14:creationId xmlns:p14="http://schemas.microsoft.com/office/powerpoint/2010/main" val="37161929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75457" y="230017"/>
            <a:ext cx="8748464" cy="6093976"/>
          </a:xfrm>
          <a:prstGeom prst="rect">
            <a:avLst/>
          </a:prstGeom>
          <a:noFill/>
        </p:spPr>
        <p:txBody>
          <a:bodyPr wrap="square" rtlCol="1">
            <a:spAutoFit/>
          </a:bodyPr>
          <a:lstStyle/>
          <a:p>
            <a:pPr algn="just">
              <a:lnSpc>
                <a:spcPct val="150000"/>
              </a:lnSpc>
            </a:pPr>
            <a:r>
              <a:rPr lang="he-IL" sz="2600" b="1" u="sng" dirty="0" smtClean="0"/>
              <a:t>שאלה </a:t>
            </a:r>
            <a:r>
              <a:rPr lang="en-US" sz="2600" b="1" u="sng" dirty="0" smtClean="0"/>
              <a:t>2</a:t>
            </a:r>
            <a:endParaRPr lang="he-IL" sz="2600" b="1" u="sng" dirty="0" smtClean="0"/>
          </a:p>
          <a:p>
            <a:pPr algn="just">
              <a:lnSpc>
                <a:spcPct val="150000"/>
              </a:lnSpc>
            </a:pPr>
            <a:r>
              <a:rPr lang="he-IL" sz="2600" dirty="0" smtClean="0"/>
              <a:t>חב' מצהירה כי משקל אריזות הקוטג' שהיא משווקת הינו 120 גרם, עם סטיית תקן של 5%. אורן חושש כי האריזות מכילות משקל קטן יותר מזה עליו מצהירה החברה. הוא דוגם אקראית 9 חבילות קוטג' ומוצא שמשקלן הממוצע הינו 100 גרם. </a:t>
            </a:r>
          </a:p>
          <a:p>
            <a:pPr algn="just">
              <a:lnSpc>
                <a:spcPct val="150000"/>
              </a:lnSpc>
            </a:pPr>
            <a:r>
              <a:rPr lang="he-IL" sz="2600" b="1" dirty="0" smtClean="0"/>
              <a:t>בהנחה שמשקל אריזת קוטג' מתפלג נורמלית, מהי ההסתברות שבמדגם מקרי כמו זה שביצע אורן יתקבל ממוצע נמוך מ-100 גרם?</a:t>
            </a:r>
          </a:p>
          <a:p>
            <a:pPr algn="just">
              <a:lnSpc>
                <a:spcPct val="150000"/>
              </a:lnSpc>
            </a:pPr>
            <a:r>
              <a:rPr lang="he-IL" sz="2600" b="1" dirty="0" smtClean="0"/>
              <a:t>האם חששו של אורן מוצדק?</a:t>
            </a:r>
          </a:p>
        </p:txBody>
      </p:sp>
      <p:pic>
        <p:nvPicPr>
          <p:cNvPr id="74777" name="Picture 25" descr="http://images.nana10.co.il/upload/mediastock/img/11/0/239/2391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457" y="5085184"/>
            <a:ext cx="2160240" cy="1620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88385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4624"/>
            <a:ext cx="8892480" cy="5293757"/>
          </a:xfrm>
          <a:prstGeom prst="rect">
            <a:avLst/>
          </a:prstGeom>
          <a:noFill/>
        </p:spPr>
        <p:txBody>
          <a:bodyPr wrap="square" rtlCol="1">
            <a:spAutoFit/>
          </a:bodyPr>
          <a:lstStyle/>
          <a:p>
            <a:pPr algn="just"/>
            <a:r>
              <a:rPr lang="he-IL" sz="2600" b="1" u="sng" dirty="0" smtClean="0"/>
              <a:t>שאלה 3</a:t>
            </a:r>
          </a:p>
          <a:p>
            <a:pPr>
              <a:lnSpc>
                <a:spcPct val="150000"/>
              </a:lnSpc>
            </a:pPr>
            <a:r>
              <a:rPr lang="he-IL" sz="2600" dirty="0" smtClean="0"/>
              <a:t>לסטודנטית לוקח 30 דקות בממוצע להגיע למכללה עם סטיית תקן של 4 דקות. זמן </a:t>
            </a:r>
            <a:r>
              <a:rPr lang="he-IL" sz="2600" dirty="0"/>
              <a:t>הנסיעה לעבודה מתפלג</a:t>
            </a:r>
          </a:p>
          <a:p>
            <a:pPr>
              <a:lnSpc>
                <a:spcPct val="150000"/>
              </a:lnSpc>
            </a:pPr>
            <a:r>
              <a:rPr lang="he-IL" sz="2600" dirty="0" smtClean="0"/>
              <a:t>נורמאלית. עוקבים אחרי משך הנסיעה שלה במשך 5 ימים.</a:t>
            </a:r>
          </a:p>
          <a:p>
            <a:pPr>
              <a:lnSpc>
                <a:spcPct val="150000"/>
              </a:lnSpc>
            </a:pPr>
            <a:endParaRPr lang="he-IL" sz="2600" dirty="0"/>
          </a:p>
          <a:p>
            <a:pPr>
              <a:lnSpc>
                <a:spcPct val="150000"/>
              </a:lnSpc>
            </a:pPr>
            <a:r>
              <a:rPr lang="he-IL" sz="2600" b="1" dirty="0" smtClean="0"/>
              <a:t>א. מה </a:t>
            </a:r>
            <a:r>
              <a:rPr lang="he-IL" sz="2600" b="1" dirty="0"/>
              <a:t>ההסתברות </a:t>
            </a:r>
            <a:r>
              <a:rPr lang="he-IL" sz="2600" b="1" dirty="0" smtClean="0"/>
              <a:t>שב-3 ימים בלבד משך </a:t>
            </a:r>
            <a:r>
              <a:rPr lang="he-IL" sz="2600" b="1" dirty="0"/>
              <a:t>הנסיעה </a:t>
            </a:r>
            <a:r>
              <a:rPr lang="he-IL" sz="2600" b="1" dirty="0" smtClean="0"/>
              <a:t>יהיה </a:t>
            </a:r>
            <a:r>
              <a:rPr lang="he-IL" sz="2600" b="1" dirty="0"/>
              <a:t>מעל </a:t>
            </a:r>
            <a:r>
              <a:rPr lang="he-IL" sz="2600" b="1" dirty="0" smtClean="0"/>
              <a:t>34 דקות?</a:t>
            </a:r>
            <a:endParaRPr lang="he-IL" sz="2600" b="1" dirty="0"/>
          </a:p>
          <a:p>
            <a:pPr>
              <a:lnSpc>
                <a:spcPct val="150000"/>
              </a:lnSpc>
            </a:pPr>
            <a:r>
              <a:rPr lang="he-IL" sz="2600" b="1" dirty="0" smtClean="0"/>
              <a:t>ב. מהי ההסתברות </a:t>
            </a:r>
            <a:r>
              <a:rPr lang="he-IL" sz="2600" b="1" u="sng" dirty="0" smtClean="0"/>
              <a:t>שממוצע משך הנסיעה ב-5 הימים</a:t>
            </a:r>
            <a:r>
              <a:rPr lang="he-IL" sz="2600" b="1" dirty="0" smtClean="0"/>
              <a:t> יהיה מעל 34 דקות?</a:t>
            </a:r>
          </a:p>
        </p:txBody>
      </p:sp>
    </p:spTree>
    <p:extLst>
      <p:ext uri="{BB962C8B-B14F-4D97-AF65-F5344CB8AC3E}">
        <p14:creationId xmlns:p14="http://schemas.microsoft.com/office/powerpoint/2010/main" val="29154751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4624"/>
            <a:ext cx="8892480" cy="4293483"/>
          </a:xfrm>
          <a:prstGeom prst="rect">
            <a:avLst/>
          </a:prstGeom>
          <a:noFill/>
        </p:spPr>
        <p:txBody>
          <a:bodyPr wrap="square" rtlCol="1">
            <a:spAutoFit/>
          </a:bodyPr>
          <a:lstStyle/>
          <a:p>
            <a:pPr>
              <a:lnSpc>
                <a:spcPct val="150000"/>
              </a:lnSpc>
            </a:pPr>
            <a:r>
              <a:rPr lang="he-IL" sz="2600" b="1" u="sng" dirty="0" smtClean="0"/>
              <a:t>שאלה 4</a:t>
            </a:r>
          </a:p>
          <a:p>
            <a:pPr>
              <a:lnSpc>
                <a:spcPct val="150000"/>
              </a:lnSpc>
            </a:pPr>
            <a:r>
              <a:rPr lang="he-IL" sz="2600" dirty="0" smtClean="0"/>
              <a:t>30% </a:t>
            </a:r>
            <a:r>
              <a:rPr lang="he-IL" sz="2600" dirty="0"/>
              <a:t>מהאוכלוסייה תומכת בהצעת חוק מסוימת. </a:t>
            </a:r>
            <a:r>
              <a:rPr lang="he-IL" sz="2600" dirty="0" smtClean="0"/>
              <a:t>נדגום מהאוכלוסייה 200 </a:t>
            </a:r>
            <a:r>
              <a:rPr lang="he-IL" sz="2600" dirty="0"/>
              <a:t>איש. </a:t>
            </a:r>
            <a:r>
              <a:rPr lang="he-IL" sz="2600" b="1" dirty="0"/>
              <a:t>חשבו את ההסתברויות הבאות</a:t>
            </a:r>
            <a:r>
              <a:rPr lang="he-IL" sz="2600" b="1" dirty="0" smtClean="0"/>
              <a:t>:</a:t>
            </a:r>
          </a:p>
          <a:p>
            <a:pPr>
              <a:lnSpc>
                <a:spcPct val="150000"/>
              </a:lnSpc>
            </a:pPr>
            <a:endParaRPr lang="he-IL" sz="2600" b="1" dirty="0"/>
          </a:p>
          <a:p>
            <a:pPr>
              <a:lnSpc>
                <a:spcPct val="150000"/>
              </a:lnSpc>
            </a:pPr>
            <a:r>
              <a:rPr lang="he-IL" sz="2600" b="1" dirty="0" smtClean="0"/>
              <a:t>א</a:t>
            </a:r>
            <a:r>
              <a:rPr lang="he-IL" sz="2600" b="1" dirty="0"/>
              <a:t>. </a:t>
            </a:r>
            <a:r>
              <a:rPr lang="he-IL" sz="2600" b="1" dirty="0" smtClean="0"/>
              <a:t>לפחות 70 איש יתמכו </a:t>
            </a:r>
            <a:r>
              <a:rPr lang="he-IL" sz="2600" b="1" dirty="0"/>
              <a:t>בהצעת החוק במדגם.</a:t>
            </a:r>
          </a:p>
          <a:p>
            <a:pPr>
              <a:lnSpc>
                <a:spcPct val="150000"/>
              </a:lnSpc>
            </a:pPr>
            <a:r>
              <a:rPr lang="he-IL" sz="2600" b="1" dirty="0"/>
              <a:t>ב. </a:t>
            </a:r>
            <a:r>
              <a:rPr lang="he-IL" sz="2600" b="1" dirty="0" smtClean="0"/>
              <a:t>בין 50 ל-70 איש יתמכו </a:t>
            </a:r>
            <a:r>
              <a:rPr lang="he-IL" sz="2600" b="1" dirty="0"/>
              <a:t>בהצעת החוק במדגם.</a:t>
            </a:r>
          </a:p>
          <a:p>
            <a:pPr>
              <a:lnSpc>
                <a:spcPct val="150000"/>
              </a:lnSpc>
            </a:pPr>
            <a:r>
              <a:rPr lang="he-IL" sz="2600" b="1" dirty="0"/>
              <a:t>ג. </a:t>
            </a:r>
            <a:r>
              <a:rPr lang="he-IL" sz="2600" b="1" dirty="0" smtClean="0"/>
              <a:t>פחות מ </a:t>
            </a:r>
            <a:r>
              <a:rPr lang="he-IL" sz="2600" b="1" dirty="0"/>
              <a:t>– </a:t>
            </a:r>
            <a:r>
              <a:rPr lang="he-IL" sz="2600" b="1" dirty="0" smtClean="0"/>
              <a:t>54 איש </a:t>
            </a:r>
            <a:r>
              <a:rPr lang="he-IL" sz="2600" b="1" dirty="0"/>
              <a:t>יתמכו בהצעת החוק </a:t>
            </a:r>
            <a:r>
              <a:rPr lang="he-IL" sz="2600" b="1" dirty="0" smtClean="0"/>
              <a:t>במדגם.</a:t>
            </a:r>
            <a:endParaRPr lang="he-IL" sz="2600" b="1" u="sng" dirty="0" smtClean="0"/>
          </a:p>
        </p:txBody>
      </p:sp>
    </p:spTree>
    <p:extLst>
      <p:ext uri="{BB962C8B-B14F-4D97-AF65-F5344CB8AC3E}">
        <p14:creationId xmlns:p14="http://schemas.microsoft.com/office/powerpoint/2010/main" val="33182280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dirty="0" smtClean="0"/>
              <a:t>תרגיל</a:t>
            </a:r>
            <a:endParaRPr lang="he-IL" dirty="0"/>
          </a:p>
        </p:txBody>
      </p:sp>
      <p:sp>
        <p:nvSpPr>
          <p:cNvPr id="3" name="Content Placeholder 2"/>
          <p:cNvSpPr>
            <a:spLocks noGrp="1"/>
          </p:cNvSpPr>
          <p:nvPr>
            <p:ph idx="1"/>
          </p:nvPr>
        </p:nvSpPr>
        <p:spPr/>
        <p:txBody>
          <a:bodyPr/>
          <a:lstStyle/>
          <a:p>
            <a:r>
              <a:rPr lang="he-IL" dirty="0" smtClean="0"/>
              <a:t>מוצר מיוצר בשני קווי ייצור</a:t>
            </a:r>
            <a:r>
              <a:rPr lang="en-US" dirty="0" smtClean="0"/>
              <a:t>,</a:t>
            </a:r>
            <a:r>
              <a:rPr lang="he-IL" dirty="0" smtClean="0"/>
              <a:t> הקו החדש –"</a:t>
            </a:r>
            <a:r>
              <a:rPr lang="en-US" dirty="0" smtClean="0"/>
              <a:t>A</a:t>
            </a:r>
            <a:r>
              <a:rPr lang="he-IL" dirty="0" smtClean="0"/>
              <a:t>" והקו הישן-"</a:t>
            </a:r>
            <a:r>
              <a:rPr lang="en-US" dirty="0" smtClean="0"/>
              <a:t>B</a:t>
            </a:r>
            <a:r>
              <a:rPr lang="he-IL" dirty="0" smtClean="0"/>
              <a:t>"</a:t>
            </a:r>
            <a:r>
              <a:rPr lang="en-US" dirty="0" smtClean="0"/>
              <a:t>.</a:t>
            </a:r>
            <a:r>
              <a:rPr lang="he-IL" dirty="0" smtClean="0"/>
              <a:t> 70% מהתוצרת מיוצרת בקו </a:t>
            </a:r>
            <a:r>
              <a:rPr lang="en-US" dirty="0" smtClean="0"/>
              <a:t>.A</a:t>
            </a:r>
            <a:r>
              <a:rPr lang="he-IL" dirty="0" smtClean="0"/>
              <a:t> בסוף יום העבודה נוטלים מדגם אקראי של 40 מוצרים מתוך 300 מוצרים שהם תוצרת של כל היום</a:t>
            </a:r>
            <a:r>
              <a:rPr lang="en-US" dirty="0" smtClean="0"/>
              <a:t>.</a:t>
            </a:r>
            <a:r>
              <a:rPr lang="he-IL" dirty="0" smtClean="0"/>
              <a:t> מה ההסתברות שבמדגם לפחות 14 אך לא יותר מ 30 מוצרים יוצרו בקו ייצור</a:t>
            </a:r>
            <a:r>
              <a:rPr lang="en-US" smtClean="0"/>
              <a:t> A</a:t>
            </a:r>
            <a:endParaRPr lang="he-IL"/>
          </a:p>
        </p:txBody>
      </p:sp>
    </p:spTree>
    <p:extLst>
      <p:ext uri="{BB962C8B-B14F-4D97-AF65-F5344CB8AC3E}">
        <p14:creationId xmlns:p14="http://schemas.microsoft.com/office/powerpoint/2010/main" val="9772734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p:cNvSpPr txBox="1"/>
          <p:nvPr/>
        </p:nvSpPr>
        <p:spPr>
          <a:xfrm>
            <a:off x="3491880" y="4051912"/>
            <a:ext cx="395536" cy="385200"/>
          </a:xfrm>
          <a:prstGeom prst="rect">
            <a:avLst/>
          </a:prstGeom>
        </p:spPr>
        <p:style>
          <a:lnRef idx="1">
            <a:schemeClr val="accent1"/>
          </a:lnRef>
          <a:fillRef idx="2">
            <a:schemeClr val="accent1"/>
          </a:fillRef>
          <a:effectRef idx="1">
            <a:schemeClr val="accent1"/>
          </a:effectRef>
          <a:fontRef idx="minor">
            <a:schemeClr val="dk1"/>
          </a:fontRef>
        </p:style>
        <p:txBody>
          <a:bodyPr wrap="square" rtlCol="1">
            <a:spAutoFit/>
          </a:bodyPr>
          <a:lstStyle/>
          <a:p>
            <a:endParaRPr lang="en-US" dirty="0"/>
          </a:p>
        </p:txBody>
      </p:sp>
      <p:sp>
        <p:nvSpPr>
          <p:cNvPr id="20" name="TextBox 19"/>
          <p:cNvSpPr txBox="1"/>
          <p:nvPr/>
        </p:nvSpPr>
        <p:spPr>
          <a:xfrm>
            <a:off x="4139952" y="3789040"/>
            <a:ext cx="466020" cy="369332"/>
          </a:xfrm>
          <a:prstGeom prst="rect">
            <a:avLst/>
          </a:prstGeom>
        </p:spPr>
        <p:style>
          <a:lnRef idx="1">
            <a:schemeClr val="accent2"/>
          </a:lnRef>
          <a:fillRef idx="2">
            <a:schemeClr val="accent2"/>
          </a:fillRef>
          <a:effectRef idx="1">
            <a:schemeClr val="accent2"/>
          </a:effectRef>
          <a:fontRef idx="minor">
            <a:schemeClr val="dk1"/>
          </a:fontRef>
        </p:style>
        <p:txBody>
          <a:bodyPr wrap="square" rtlCol="1">
            <a:spAutoFit/>
          </a:bodyPr>
          <a:lstStyle/>
          <a:p>
            <a:endParaRPr lang="en-US" dirty="0"/>
          </a:p>
        </p:txBody>
      </p:sp>
      <p:sp>
        <p:nvSpPr>
          <p:cNvPr id="24" name="TextBox 23"/>
          <p:cNvSpPr txBox="1"/>
          <p:nvPr/>
        </p:nvSpPr>
        <p:spPr>
          <a:xfrm>
            <a:off x="4356016" y="4437112"/>
            <a:ext cx="360000" cy="369332"/>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endParaRPr lang="en-US" dirty="0"/>
          </a:p>
        </p:txBody>
      </p:sp>
      <p:sp>
        <p:nvSpPr>
          <p:cNvPr id="2" name="כותרת 1"/>
          <p:cNvSpPr>
            <a:spLocks noGrp="1"/>
          </p:cNvSpPr>
          <p:nvPr>
            <p:ph type="title"/>
          </p:nvPr>
        </p:nvSpPr>
        <p:spPr>
          <a:xfrm>
            <a:off x="457200" y="485800"/>
            <a:ext cx="8229600" cy="1143000"/>
          </a:xfrm>
        </p:spPr>
        <p:txBody>
          <a:bodyPr/>
          <a:lstStyle/>
          <a:p>
            <a:pPr algn="ctr"/>
            <a:r>
              <a:rPr lang="he-IL" b="1" dirty="0" smtClean="0"/>
              <a:t>רווח סמך</a:t>
            </a:r>
            <a:endParaRPr lang="en-US" b="1" dirty="0"/>
          </a:p>
        </p:txBody>
      </p:sp>
      <p:sp>
        <p:nvSpPr>
          <p:cNvPr id="3" name="מציין מיקום תוכן 2"/>
          <p:cNvSpPr>
            <a:spLocks noGrp="1"/>
          </p:cNvSpPr>
          <p:nvPr>
            <p:ph idx="1"/>
          </p:nvPr>
        </p:nvSpPr>
        <p:spPr>
          <a:xfrm>
            <a:off x="0" y="764704"/>
            <a:ext cx="9144000" cy="5688632"/>
          </a:xfrm>
        </p:spPr>
        <p:txBody>
          <a:bodyPr>
            <a:noAutofit/>
          </a:bodyPr>
          <a:lstStyle/>
          <a:p>
            <a:pPr>
              <a:lnSpc>
                <a:spcPct val="150000"/>
              </a:lnSpc>
            </a:pPr>
            <a:endParaRPr lang="he-IL" sz="2400" b="1" u="sng" dirty="0" smtClean="0"/>
          </a:p>
          <a:p>
            <a:pPr>
              <a:lnSpc>
                <a:spcPct val="150000"/>
              </a:lnSpc>
            </a:pPr>
            <a:r>
              <a:rPr lang="he-IL" sz="2400" b="1" u="sng" dirty="0" smtClean="0"/>
              <a:t>רווח סמך:</a:t>
            </a:r>
            <a:r>
              <a:rPr lang="he-IL" sz="2400" dirty="0" smtClean="0"/>
              <a:t> אומד לטווח ערכים של הפרמטר</a:t>
            </a:r>
          </a:p>
          <a:p>
            <a:pPr>
              <a:lnSpc>
                <a:spcPct val="150000"/>
              </a:lnSpc>
            </a:pPr>
            <a:r>
              <a:rPr lang="he-IL" sz="2400" b="1" u="sng" dirty="0" smtClean="0"/>
              <a:t>רמת סמך</a:t>
            </a:r>
            <a:r>
              <a:rPr lang="he-IL" sz="2400" b="1" dirty="0" smtClean="0"/>
              <a:t>: </a:t>
            </a:r>
            <a:r>
              <a:rPr lang="he-IL" sz="2400" dirty="0" smtClean="0"/>
              <a:t>ההסתברות שהרווח כולל את הפרמטר</a:t>
            </a:r>
          </a:p>
          <a:p>
            <a:pPr>
              <a:lnSpc>
                <a:spcPct val="150000"/>
              </a:lnSpc>
            </a:pPr>
            <a:r>
              <a:rPr lang="he-IL" sz="2400" b="1" u="sng" dirty="0" smtClean="0"/>
              <a:t>רווח סמך עבור </a:t>
            </a:r>
            <a:r>
              <a:rPr lang="en-US" sz="2400" b="1" u="sng" dirty="0" smtClean="0"/>
              <a:t>μ</a:t>
            </a:r>
            <a:r>
              <a:rPr lang="he-IL" sz="2400" b="1" u="sng" dirty="0" smtClean="0"/>
              <a:t> כאשר  </a:t>
            </a:r>
            <a:r>
              <a:rPr lang="en-US" sz="2400" b="1" u="sng" dirty="0" smtClean="0"/>
              <a:t>σ</a:t>
            </a:r>
            <a:r>
              <a:rPr lang="he-IL" sz="2400" b="1" u="sng" dirty="0" smtClean="0"/>
              <a:t> ידועה:</a:t>
            </a:r>
          </a:p>
          <a:p>
            <a:pPr>
              <a:lnSpc>
                <a:spcPct val="150000"/>
              </a:lnSpc>
              <a:buNone/>
            </a:pPr>
            <a:r>
              <a:rPr lang="he-IL" sz="2400" b="1" dirty="0" smtClean="0"/>
              <a:t> 	</a:t>
            </a:r>
          </a:p>
          <a:p>
            <a:pPr>
              <a:lnSpc>
                <a:spcPct val="150000"/>
              </a:lnSpc>
              <a:buNone/>
            </a:pPr>
            <a:r>
              <a:rPr lang="he-IL" sz="2400" b="1" dirty="0" smtClean="0">
                <a:solidFill>
                  <a:srgbClr val="FF0000"/>
                </a:solidFill>
              </a:rPr>
              <a:t>		</a:t>
            </a:r>
            <a:r>
              <a:rPr lang="en-US" sz="2400" b="1" dirty="0" smtClean="0">
                <a:solidFill>
                  <a:srgbClr val="FF0000"/>
                </a:solidFill>
              </a:rPr>
              <a:t>A</a:t>
            </a:r>
            <a:r>
              <a:rPr lang="he-IL" sz="2400" b="1" dirty="0" smtClean="0">
                <a:solidFill>
                  <a:srgbClr val="FF0000"/>
                </a:solidFill>
              </a:rPr>
              <a:t>- מרווח הדיוק:</a:t>
            </a:r>
          </a:p>
          <a:p>
            <a:pPr>
              <a:lnSpc>
                <a:spcPct val="150000"/>
              </a:lnSpc>
              <a:buNone/>
            </a:pPr>
            <a:endParaRPr lang="he-IL" sz="2400" b="1" dirty="0" smtClean="0">
              <a:solidFill>
                <a:srgbClr val="FF0000"/>
              </a:solidFill>
            </a:endParaRPr>
          </a:p>
          <a:p>
            <a:pPr>
              <a:lnSpc>
                <a:spcPct val="150000"/>
              </a:lnSpc>
              <a:buNone/>
            </a:pPr>
            <a:endParaRPr lang="he-IL" sz="2400" b="1" dirty="0" smtClean="0">
              <a:solidFill>
                <a:srgbClr val="FF0000"/>
              </a:solidFill>
            </a:endParaRPr>
          </a:p>
        </p:txBody>
      </p:sp>
      <p:sp>
        <p:nvSpPr>
          <p:cNvPr id="61442"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3732" name="Object 4"/>
          <p:cNvGraphicFramePr>
            <a:graphicFrameLocks noChangeAspect="1"/>
          </p:cNvGraphicFramePr>
          <p:nvPr/>
        </p:nvGraphicFramePr>
        <p:xfrm>
          <a:off x="763588" y="2781300"/>
          <a:ext cx="2503487" cy="635000"/>
        </p:xfrm>
        <a:graphic>
          <a:graphicData uri="http://schemas.openxmlformats.org/presentationml/2006/ole">
            <mc:AlternateContent xmlns:mc="http://schemas.openxmlformats.org/markup-compatibility/2006">
              <mc:Choice xmlns:v="urn:schemas-microsoft-com:vml" Requires="v">
                <p:oleObj spid="_x0000_s78870" name="Equation" r:id="rId4" imgW="914400" imgH="228600" progId="Equation.3">
                  <p:embed/>
                </p:oleObj>
              </mc:Choice>
              <mc:Fallback>
                <p:oleObj name="Equation" r:id="rId4" imgW="914400" imgH="2286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3588" y="2781300"/>
                        <a:ext cx="2503487"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735" name="Rectangle 7"/>
          <p:cNvSpPr>
            <a:spLocks noChangeArrowheads="1"/>
          </p:cNvSpPr>
          <p:nvPr/>
        </p:nvSpPr>
        <p:spPr bwMode="auto">
          <a:xfrm>
            <a:off x="0" y="151765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r" defTabSz="914400" rtl="1" eaLnBrk="1" fontAlgn="base" latinLnBrk="0" hangingPunct="1">
              <a:lnSpc>
                <a:spcPct val="100000"/>
              </a:lnSpc>
              <a:spcBef>
                <a:spcPct val="0"/>
              </a:spcBef>
              <a:spcAft>
                <a:spcPct val="0"/>
              </a:spcAft>
              <a:buClrTx/>
              <a:buSzTx/>
              <a:buFontTx/>
              <a:buNone/>
              <a:tabLst>
                <a:tab pos="233363" algn="l"/>
              </a:tabLst>
            </a:pPr>
            <a:endParaRPr kumimoji="0" lang="he-IL"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73733" name="Object 5"/>
          <p:cNvGraphicFramePr>
            <a:graphicFrameLocks noChangeAspect="1"/>
          </p:cNvGraphicFramePr>
          <p:nvPr/>
        </p:nvGraphicFramePr>
        <p:xfrm>
          <a:off x="2771800" y="3701873"/>
          <a:ext cx="2016224" cy="1167287"/>
        </p:xfrm>
        <a:graphic>
          <a:graphicData uri="http://schemas.openxmlformats.org/presentationml/2006/ole">
            <mc:AlternateContent xmlns:mc="http://schemas.openxmlformats.org/markup-compatibility/2006">
              <mc:Choice xmlns:v="urn:schemas-microsoft-com:vml" Requires="v">
                <p:oleObj spid="_x0000_s78871" name="Equation" r:id="rId6" imgW="723600" imgH="419040" progId="Equation.3">
                  <p:embed/>
                </p:oleObj>
              </mc:Choice>
              <mc:Fallback>
                <p:oleObj name="Equation" r:id="rId6" imgW="723600" imgH="41904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71800" y="3701873"/>
                        <a:ext cx="2016224" cy="1167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TextBox 9"/>
          <p:cNvSpPr txBox="1"/>
          <p:nvPr/>
        </p:nvSpPr>
        <p:spPr>
          <a:xfrm>
            <a:off x="4427984" y="5301208"/>
            <a:ext cx="2520280" cy="1200329"/>
          </a:xfrm>
          <a:prstGeom prst="rect">
            <a:avLst/>
          </a:prstGeom>
        </p:spPr>
        <p:style>
          <a:lnRef idx="1">
            <a:schemeClr val="accent1"/>
          </a:lnRef>
          <a:fillRef idx="2">
            <a:schemeClr val="accent1"/>
          </a:fillRef>
          <a:effectRef idx="1">
            <a:schemeClr val="accent1"/>
          </a:effectRef>
          <a:fontRef idx="minor">
            <a:schemeClr val="dk1"/>
          </a:fontRef>
        </p:style>
        <p:txBody>
          <a:bodyPr wrap="square" rtlCol="1">
            <a:spAutoFit/>
          </a:bodyPr>
          <a:lstStyle/>
          <a:p>
            <a:r>
              <a:rPr lang="he-IL" dirty="0" smtClean="0"/>
              <a:t>פונקציה של רמת הסמך. ככל שרמת הסמך קטנה (</a:t>
            </a:r>
            <a:r>
              <a:rPr lang="en-US" dirty="0" smtClean="0"/>
              <a:t>Z</a:t>
            </a:r>
            <a:r>
              <a:rPr lang="he-IL" dirty="0" smtClean="0"/>
              <a:t> קטן), מרווח הדיוק קטן. </a:t>
            </a:r>
            <a:endParaRPr lang="en-US" dirty="0"/>
          </a:p>
        </p:txBody>
      </p:sp>
      <p:sp>
        <p:nvSpPr>
          <p:cNvPr id="17" name="TextBox 16"/>
          <p:cNvSpPr txBox="1"/>
          <p:nvPr/>
        </p:nvSpPr>
        <p:spPr>
          <a:xfrm>
            <a:off x="2555776" y="5301208"/>
            <a:ext cx="1800200" cy="1200329"/>
          </a:xfrm>
          <a:prstGeom prst="rect">
            <a:avLst/>
          </a:prstGeom>
        </p:spPr>
        <p:style>
          <a:lnRef idx="1">
            <a:schemeClr val="accent2"/>
          </a:lnRef>
          <a:fillRef idx="2">
            <a:schemeClr val="accent2"/>
          </a:fillRef>
          <a:effectRef idx="1">
            <a:schemeClr val="accent2"/>
          </a:effectRef>
          <a:fontRef idx="minor">
            <a:schemeClr val="dk1"/>
          </a:fontRef>
        </p:style>
        <p:txBody>
          <a:bodyPr wrap="square" rtlCol="1">
            <a:spAutoFit/>
          </a:bodyPr>
          <a:lstStyle/>
          <a:p>
            <a:r>
              <a:rPr lang="he-IL" dirty="0" smtClean="0"/>
              <a:t>ככל שסטיית התקן קטנה, מרווח הדיוק קטן.</a:t>
            </a:r>
            <a:endParaRPr lang="en-US" dirty="0"/>
          </a:p>
        </p:txBody>
      </p:sp>
      <p:sp>
        <p:nvSpPr>
          <p:cNvPr id="22" name="TextBox 21"/>
          <p:cNvSpPr txBox="1"/>
          <p:nvPr/>
        </p:nvSpPr>
        <p:spPr>
          <a:xfrm>
            <a:off x="0" y="5301208"/>
            <a:ext cx="2520280" cy="1200329"/>
          </a:xfrm>
          <a:prstGeom prst="rect">
            <a:avLst/>
          </a:prstGeom>
        </p:spPr>
        <p:style>
          <a:lnRef idx="1">
            <a:schemeClr val="accent3"/>
          </a:lnRef>
          <a:fillRef idx="2">
            <a:schemeClr val="accent3"/>
          </a:fillRef>
          <a:effectRef idx="1">
            <a:schemeClr val="accent3"/>
          </a:effectRef>
          <a:fontRef idx="minor">
            <a:schemeClr val="dk1"/>
          </a:fontRef>
        </p:style>
        <p:txBody>
          <a:bodyPr wrap="square" rtlCol="1">
            <a:spAutoFit/>
          </a:bodyPr>
          <a:lstStyle/>
          <a:p>
            <a:r>
              <a:rPr lang="he-IL" dirty="0" smtClean="0"/>
              <a:t>ככל שגודל המדגם גדל, מרווח הדיוק קטן. </a:t>
            </a:r>
          </a:p>
          <a:p>
            <a:endParaRPr lang="he-IL" dirty="0" smtClean="0"/>
          </a:p>
          <a:p>
            <a:endParaRPr lang="en-US" dirty="0"/>
          </a:p>
        </p:txBody>
      </p:sp>
    </p:spTree>
    <p:extLst>
      <p:ext uri="{BB962C8B-B14F-4D97-AF65-F5344CB8AC3E}">
        <p14:creationId xmlns:p14="http://schemas.microsoft.com/office/powerpoint/2010/main" val="1368986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4" grpId="0" animBg="1"/>
      <p:bldP spid="10" grpId="0" animBg="1"/>
      <p:bldP spid="17" grpId="0" animBg="1"/>
      <p:bldP spid="2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016" y="44624"/>
            <a:ext cx="8748464" cy="6740307"/>
          </a:xfrm>
          <a:prstGeom prst="rect">
            <a:avLst/>
          </a:prstGeom>
          <a:noFill/>
        </p:spPr>
        <p:txBody>
          <a:bodyPr wrap="square" rtlCol="1">
            <a:spAutoFit/>
          </a:bodyPr>
          <a:lstStyle/>
          <a:p>
            <a:pPr algn="just">
              <a:lnSpc>
                <a:spcPct val="150000"/>
              </a:lnSpc>
            </a:pPr>
            <a:r>
              <a:rPr lang="he-IL" sz="2400" b="1" u="sng" dirty="0" smtClean="0"/>
              <a:t>שאלה 5</a:t>
            </a:r>
          </a:p>
          <a:p>
            <a:pPr>
              <a:lnSpc>
                <a:spcPct val="150000"/>
              </a:lnSpc>
            </a:pPr>
            <a:r>
              <a:rPr lang="he-IL" sz="2400" dirty="0" smtClean="0"/>
              <a:t>חוקר מבקש לאמוד את השפעת שתיית קפה על תוחלת לחץ הדם הסיסטולי של סטודנטים. במדגם מקרי של 400 סטודנטים שותי קפה נמצא ממוצע מדגמי של 130. ידוע כי תוחלת לחץ הדם באוכלוסיה מתפלגת נורמלית עם שונות 121.</a:t>
            </a:r>
            <a:endParaRPr lang="en-US" sz="2400" dirty="0"/>
          </a:p>
          <a:p>
            <a:pPr>
              <a:lnSpc>
                <a:spcPct val="150000"/>
              </a:lnSpc>
            </a:pPr>
            <a:r>
              <a:rPr lang="he-IL" sz="2400" b="1" dirty="0" smtClean="0"/>
              <a:t>א.</a:t>
            </a:r>
            <a:r>
              <a:rPr lang="en-US" sz="2400" b="1" dirty="0" smtClean="0"/>
              <a:t> </a:t>
            </a:r>
            <a:r>
              <a:rPr lang="he-IL" sz="2400" b="1" dirty="0" smtClean="0"/>
              <a:t>מצאו </a:t>
            </a:r>
            <a:r>
              <a:rPr lang="he-IL" sz="2400" b="1" dirty="0"/>
              <a:t>רווח סמך ברמת סמך של 95% לתוחלת לחץ הדם הסיסטולי</a:t>
            </a:r>
            <a:r>
              <a:rPr lang="he-IL" sz="2400" b="1" dirty="0" smtClean="0"/>
              <a:t>.</a:t>
            </a:r>
            <a:endParaRPr lang="en-US" sz="2400" b="1" dirty="0" smtClean="0"/>
          </a:p>
          <a:p>
            <a:pPr>
              <a:lnSpc>
                <a:spcPct val="150000"/>
              </a:lnSpc>
            </a:pPr>
            <a:r>
              <a:rPr lang="he-IL" sz="2400" b="1" dirty="0" smtClean="0"/>
              <a:t>ב.מצאו </a:t>
            </a:r>
            <a:r>
              <a:rPr lang="he-IL" sz="2400" b="1" dirty="0"/>
              <a:t>רווח סמך ברמת סמך של 90% לתוחלת לחץ הדם הסיסטולי</a:t>
            </a:r>
            <a:r>
              <a:rPr lang="he-IL" sz="2400" b="1" dirty="0" smtClean="0"/>
              <a:t>.</a:t>
            </a:r>
            <a:endParaRPr lang="en-US" sz="2400" b="1" dirty="0" smtClean="0"/>
          </a:p>
          <a:p>
            <a:pPr>
              <a:lnSpc>
                <a:spcPct val="150000"/>
              </a:lnSpc>
            </a:pPr>
            <a:r>
              <a:rPr lang="he-IL" sz="2400" b="1" dirty="0"/>
              <a:t>ג. מה יקרה לרווח אם המדגם יקטן לגודל 100 (ללא </a:t>
            </a:r>
            <a:r>
              <a:rPr lang="he-IL" sz="2400" b="1" dirty="0" smtClean="0"/>
              <a:t>שינוי בממוצע </a:t>
            </a:r>
            <a:r>
              <a:rPr lang="he-IL" sz="2400" b="1" dirty="0"/>
              <a:t>המדגמי)?</a:t>
            </a:r>
          </a:p>
          <a:p>
            <a:pPr>
              <a:lnSpc>
                <a:spcPct val="150000"/>
              </a:lnSpc>
            </a:pPr>
            <a:endParaRPr lang="en-US" sz="2400" dirty="0" smtClean="0"/>
          </a:p>
        </p:txBody>
      </p:sp>
    </p:spTree>
    <p:extLst>
      <p:ext uri="{BB962C8B-B14F-4D97-AF65-F5344CB8AC3E}">
        <p14:creationId xmlns:p14="http://schemas.microsoft.com/office/powerpoint/2010/main" val="10125364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016" y="44624"/>
            <a:ext cx="8748464" cy="6186309"/>
          </a:xfrm>
          <a:prstGeom prst="rect">
            <a:avLst/>
          </a:prstGeom>
          <a:noFill/>
        </p:spPr>
        <p:txBody>
          <a:bodyPr wrap="square" rtlCol="1">
            <a:spAutoFit/>
          </a:bodyPr>
          <a:lstStyle/>
          <a:p>
            <a:pPr algn="just">
              <a:lnSpc>
                <a:spcPct val="150000"/>
              </a:lnSpc>
            </a:pPr>
            <a:r>
              <a:rPr lang="he-IL" sz="2400" b="1" u="sng" dirty="0" smtClean="0"/>
              <a:t>שאלה 6 </a:t>
            </a:r>
          </a:p>
          <a:p>
            <a:pPr>
              <a:lnSpc>
                <a:spcPct val="150000"/>
              </a:lnSpc>
            </a:pPr>
            <a:r>
              <a:rPr lang="he-IL" sz="2400" dirty="0" smtClean="0"/>
              <a:t>במדידה שנערכה על מדגם של 16 סטודנטים נמצא שמס' שעות השינה הממוצע הינו 7 שעות בלילה. </a:t>
            </a:r>
            <a:endParaRPr lang="en-US" sz="2400" dirty="0" smtClean="0"/>
          </a:p>
          <a:p>
            <a:pPr>
              <a:lnSpc>
                <a:spcPct val="150000"/>
              </a:lnSpc>
            </a:pPr>
            <a:endParaRPr lang="he-IL" sz="2400" b="1" dirty="0" smtClean="0"/>
          </a:p>
          <a:p>
            <a:pPr>
              <a:lnSpc>
                <a:spcPct val="150000"/>
              </a:lnSpc>
            </a:pPr>
            <a:r>
              <a:rPr lang="he-IL" sz="2400" b="1" dirty="0" smtClean="0"/>
              <a:t>א. </a:t>
            </a:r>
            <a:r>
              <a:rPr lang="he-IL" sz="2400" b="1" dirty="0"/>
              <a:t>ידוע שמס' שעות השינה הממוצע בקרב אוכלוסיית הסטודנטים בישראל מתפלג נורמלית </a:t>
            </a:r>
            <a:r>
              <a:rPr lang="en-US" sz="2400" b="1" dirty="0"/>
              <a:t>N(μ,4)</a:t>
            </a:r>
            <a:r>
              <a:rPr lang="he-IL" sz="2400" b="1" dirty="0"/>
              <a:t>. בנה רווח סמך ברמת בטחון של 90% </a:t>
            </a:r>
            <a:r>
              <a:rPr lang="he-IL" sz="2400" b="1" dirty="0" smtClean="0"/>
              <a:t>לאמידת </a:t>
            </a:r>
            <a:r>
              <a:rPr lang="he-IL" sz="2400" b="1" dirty="0"/>
              <a:t>μ </a:t>
            </a:r>
            <a:endParaRPr lang="he-IL" sz="2400" b="1" dirty="0" smtClean="0"/>
          </a:p>
          <a:p>
            <a:pPr>
              <a:lnSpc>
                <a:spcPct val="150000"/>
              </a:lnSpc>
            </a:pPr>
            <a:endParaRPr lang="he-IL" sz="2400" b="1" dirty="0" smtClean="0"/>
          </a:p>
          <a:p>
            <a:pPr>
              <a:lnSpc>
                <a:spcPct val="150000"/>
              </a:lnSpc>
            </a:pPr>
            <a:r>
              <a:rPr lang="he-IL" sz="2400" b="1" dirty="0"/>
              <a:t>ב. חוקר רוצה להקטין את רווח הסמך המתקבל. מה הכי כדאי לו לעשות?</a:t>
            </a:r>
          </a:p>
          <a:p>
            <a:pPr>
              <a:lnSpc>
                <a:spcPct val="150000"/>
              </a:lnSpc>
            </a:pPr>
            <a:endParaRPr lang="he-IL" sz="2400" dirty="0" smtClean="0"/>
          </a:p>
        </p:txBody>
      </p:sp>
    </p:spTree>
    <p:extLst>
      <p:ext uri="{BB962C8B-B14F-4D97-AF65-F5344CB8AC3E}">
        <p14:creationId xmlns:p14="http://schemas.microsoft.com/office/powerpoint/2010/main" val="72838021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44016" y="95135"/>
            <a:ext cx="8748464" cy="5632311"/>
          </a:xfrm>
          <a:prstGeom prst="rect">
            <a:avLst/>
          </a:prstGeom>
          <a:noFill/>
        </p:spPr>
        <p:txBody>
          <a:bodyPr wrap="square" rtlCol="1">
            <a:spAutoFit/>
          </a:bodyPr>
          <a:lstStyle/>
          <a:p>
            <a:pPr algn="just">
              <a:lnSpc>
                <a:spcPct val="150000"/>
              </a:lnSpc>
            </a:pPr>
            <a:r>
              <a:rPr lang="he-IL" sz="2400" b="1" u="sng" dirty="0" smtClean="0"/>
              <a:t>שאלה 7</a:t>
            </a:r>
          </a:p>
          <a:p>
            <a:pPr algn="just">
              <a:lnSpc>
                <a:spcPct val="150000"/>
              </a:lnSpc>
            </a:pPr>
            <a:r>
              <a:rPr lang="he-IL" sz="2400" dirty="0" smtClean="0"/>
              <a:t>תכולת הנוזל בקרטוני חלב מתפלגת נורמלית עם סטיית תקן של 20 מ"ל. נדגמו 100 קרטונים ונמצא ממוצע של 1000 מ"ל. </a:t>
            </a:r>
          </a:p>
          <a:p>
            <a:pPr algn="just">
              <a:lnSpc>
                <a:spcPct val="150000"/>
              </a:lnSpc>
            </a:pPr>
            <a:endParaRPr lang="he-IL" sz="2400" dirty="0" smtClean="0"/>
          </a:p>
          <a:p>
            <a:pPr algn="just">
              <a:lnSpc>
                <a:spcPct val="150000"/>
              </a:lnSpc>
            </a:pPr>
            <a:r>
              <a:rPr lang="he-IL" sz="2400" b="1" dirty="0" smtClean="0"/>
              <a:t>א. בנה רווח סמך לאמידת μ ברמת מובהקות של 0.1.</a:t>
            </a:r>
          </a:p>
          <a:p>
            <a:pPr algn="just">
              <a:lnSpc>
                <a:spcPct val="150000"/>
              </a:lnSpc>
            </a:pPr>
            <a:r>
              <a:rPr lang="he-IL" sz="2400" b="1" dirty="0"/>
              <a:t>ב. חוקר מחשב רווח סמך ע"ס אותם נתונים אך ברמת מובהקות של 0.2. האם ממוצע של 1,004 מ"ל יהיה בתוך רווח הסמך שהוא ייחשב</a:t>
            </a:r>
            <a:r>
              <a:rPr lang="he-IL" sz="2400" b="1" dirty="0" smtClean="0"/>
              <a:t>?</a:t>
            </a:r>
            <a:r>
              <a:rPr lang="he-IL" sz="2400" b="1" dirty="0"/>
              <a:t> </a:t>
            </a:r>
            <a:endParaRPr lang="he-IL" sz="2400" b="1" dirty="0" smtClean="0"/>
          </a:p>
          <a:p>
            <a:pPr algn="just">
              <a:lnSpc>
                <a:spcPct val="150000"/>
              </a:lnSpc>
            </a:pPr>
            <a:r>
              <a:rPr lang="he-IL" sz="2400" b="1" dirty="0" smtClean="0"/>
              <a:t>ג</a:t>
            </a:r>
            <a:r>
              <a:rPr lang="he-IL" sz="2400" b="1" dirty="0"/>
              <a:t>. האם ממוצע של 999 מ"ל יהיה בתוך רווח הסמך שהוא </a:t>
            </a:r>
            <a:r>
              <a:rPr lang="he-IL" sz="2400" b="1" dirty="0" smtClean="0"/>
              <a:t>ייחשב?</a:t>
            </a:r>
            <a:endParaRPr lang="he-IL" sz="2400" dirty="0" smtClean="0"/>
          </a:p>
        </p:txBody>
      </p:sp>
    </p:spTree>
    <p:extLst>
      <p:ext uri="{BB962C8B-B14F-4D97-AF65-F5344CB8AC3E}">
        <p14:creationId xmlns:p14="http://schemas.microsoft.com/office/powerpoint/2010/main" val="41994325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39141"/>
            <a:ext cx="9144000" cy="6126163"/>
          </a:xfrm>
        </p:spPr>
        <p:txBody>
          <a:bodyPr>
            <a:noAutofit/>
          </a:bodyPr>
          <a:lstStyle/>
          <a:p>
            <a:pPr marL="0" indent="0">
              <a:lnSpc>
                <a:spcPct val="170000"/>
              </a:lnSpc>
              <a:buNone/>
            </a:pPr>
            <a:r>
              <a:rPr lang="he-IL" b="1" u="sng" dirty="0" smtClean="0"/>
              <a:t>שאלה 8</a:t>
            </a:r>
            <a:endParaRPr lang="he-IL" dirty="0" smtClean="0"/>
          </a:p>
          <a:p>
            <a:pPr marL="0" indent="0">
              <a:lnSpc>
                <a:spcPct val="170000"/>
              </a:lnSpc>
              <a:buNone/>
            </a:pPr>
            <a:r>
              <a:rPr lang="he-IL" dirty="0" smtClean="0"/>
              <a:t>חוקרים בנו רווח סמך לגיל הממוצע של התחלת לימודים לתואר ראשון. הם בחנו מדגם של 400 סטודנטים וקיבלו רווח סמך של (</a:t>
            </a:r>
            <a:r>
              <a:rPr lang="en-US" dirty="0" smtClean="0"/>
              <a:t>22.804,23.196</a:t>
            </a:r>
            <a:r>
              <a:rPr lang="he-IL" dirty="0" smtClean="0"/>
              <a:t>). ידוע שסטיית התקן באוכלוסייה הינה שנתיים. </a:t>
            </a:r>
          </a:p>
          <a:p>
            <a:pPr marL="0" indent="0">
              <a:lnSpc>
                <a:spcPct val="170000"/>
              </a:lnSpc>
              <a:buNone/>
            </a:pPr>
            <a:r>
              <a:rPr lang="he-IL" b="1" dirty="0" smtClean="0"/>
              <a:t>א. מהו הממוצע המדגמי שהתקבל ומהו מרווח הדיוק?</a:t>
            </a:r>
          </a:p>
          <a:p>
            <a:pPr marL="0" indent="0">
              <a:lnSpc>
                <a:spcPct val="170000"/>
              </a:lnSpc>
              <a:buNone/>
            </a:pPr>
            <a:r>
              <a:rPr lang="he-IL" b="1" dirty="0"/>
              <a:t>ב. מהי רמת הסמך על פיה חושב הרווח?</a:t>
            </a:r>
          </a:p>
          <a:p>
            <a:pPr marL="0" indent="0">
              <a:lnSpc>
                <a:spcPct val="170000"/>
              </a:lnSpc>
              <a:buNone/>
            </a:pPr>
            <a:endParaRPr lang="he-IL" b="1" dirty="0" smtClean="0"/>
          </a:p>
          <a:p>
            <a:pPr marL="0" indent="0">
              <a:lnSpc>
                <a:spcPct val="170000"/>
              </a:lnSpc>
              <a:buNone/>
            </a:pPr>
            <a:endParaRPr lang="en-US" dirty="0" smtClean="0"/>
          </a:p>
          <a:p>
            <a:pPr marL="0" indent="0">
              <a:lnSpc>
                <a:spcPct val="170000"/>
              </a:lnSpc>
              <a:buNone/>
            </a:pPr>
            <a:r>
              <a:rPr lang="he-IL" dirty="0" smtClean="0"/>
              <a:t> </a:t>
            </a:r>
            <a:endParaRPr lang="en-US" dirty="0"/>
          </a:p>
        </p:txBody>
      </p:sp>
    </p:spTree>
    <p:extLst>
      <p:ext uri="{BB962C8B-B14F-4D97-AF65-F5344CB8AC3E}">
        <p14:creationId xmlns:p14="http://schemas.microsoft.com/office/powerpoint/2010/main" val="373367679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0"/>
            <a:ext cx="9144000" cy="7101408"/>
          </a:xfrm>
        </p:spPr>
        <p:txBody>
          <a:bodyPr>
            <a:noAutofit/>
          </a:bodyPr>
          <a:lstStyle/>
          <a:p>
            <a:pPr marL="0" indent="0">
              <a:lnSpc>
                <a:spcPct val="170000"/>
              </a:lnSpc>
              <a:buNone/>
            </a:pPr>
            <a:r>
              <a:rPr lang="he-IL" b="1" u="sng" dirty="0" smtClean="0"/>
              <a:t>שאלה 9</a:t>
            </a:r>
            <a:endParaRPr lang="he-IL" dirty="0" smtClean="0"/>
          </a:p>
          <a:p>
            <a:pPr marL="0" indent="0">
              <a:lnSpc>
                <a:spcPct val="170000"/>
              </a:lnSpc>
              <a:buNone/>
            </a:pPr>
            <a:r>
              <a:rPr lang="he-IL" dirty="0" smtClean="0"/>
              <a:t>ידוע שאורך החיים של רכיב אלקטרוני כלשהו מתפלג נורמלית עם שונות 16.</a:t>
            </a:r>
          </a:p>
          <a:p>
            <a:pPr marL="0" indent="0">
              <a:lnSpc>
                <a:spcPct val="170000"/>
              </a:lnSpc>
              <a:buNone/>
            </a:pPr>
            <a:r>
              <a:rPr lang="he-IL" b="1" dirty="0" smtClean="0"/>
              <a:t>א. מהו גודל המדגם הדרוש לבניית רווח סמך ברמת סמך של 90%, אשר שגיאת האמידה המקסימאלית בו תהיה 1.3?</a:t>
            </a:r>
          </a:p>
          <a:p>
            <a:pPr marL="0" indent="0">
              <a:lnSpc>
                <a:spcPct val="170000"/>
              </a:lnSpc>
              <a:buNone/>
            </a:pPr>
            <a:r>
              <a:rPr lang="he-IL" b="1" dirty="0"/>
              <a:t>ב. נלקח מדגם עפ"י הגודל המינימאלי שחושב בסעיף א', ונמצא ממוצע של 20. בנה רווח סמך מתאים. </a:t>
            </a:r>
          </a:p>
          <a:p>
            <a:pPr marL="0" indent="0">
              <a:lnSpc>
                <a:spcPct val="170000"/>
              </a:lnSpc>
              <a:buNone/>
            </a:pPr>
            <a:endParaRPr lang="en-US" dirty="0" smtClean="0"/>
          </a:p>
          <a:p>
            <a:pPr marL="0" indent="0">
              <a:lnSpc>
                <a:spcPct val="170000"/>
              </a:lnSpc>
              <a:buNone/>
            </a:pPr>
            <a:r>
              <a:rPr lang="he-IL" dirty="0" smtClean="0"/>
              <a:t> </a:t>
            </a:r>
            <a:endParaRPr lang="en-US" dirty="0"/>
          </a:p>
        </p:txBody>
      </p:sp>
      <p:sp>
        <p:nvSpPr>
          <p:cNvPr id="179205" name="Rectangle 5"/>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4542060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39141"/>
            <a:ext cx="9144000" cy="6126163"/>
          </a:xfrm>
        </p:spPr>
        <p:txBody>
          <a:bodyPr>
            <a:noAutofit/>
          </a:bodyPr>
          <a:lstStyle/>
          <a:p>
            <a:pPr marL="0" indent="0">
              <a:lnSpc>
                <a:spcPct val="170000"/>
              </a:lnSpc>
              <a:buNone/>
            </a:pPr>
            <a:r>
              <a:rPr lang="he-IL" sz="2400" b="1" u="sng" dirty="0" smtClean="0"/>
              <a:t>שאלה 10</a:t>
            </a:r>
            <a:endParaRPr lang="he-IL" sz="2400" dirty="0" smtClean="0"/>
          </a:p>
          <a:p>
            <a:pPr marL="0" indent="0">
              <a:lnSpc>
                <a:spcPct val="150000"/>
              </a:lnSpc>
              <a:buNone/>
            </a:pPr>
            <a:r>
              <a:rPr lang="he-IL" sz="2400" dirty="0" smtClean="0"/>
              <a:t>רמת ההמוגלובין באוכלוסייה מתפלגת נורמלית  עם ממוצע 13 וסטיית תקן 1. חוקר רצה לבדוק האם רמת ההמוגלובין אצל צמחוניים שונה משאר האוכלוסייה. לשם כך הוא לקח מדגם מקרי של 36 צמחוניים ומצא רמת המוגלובין ממוצעת של 12.6.  </a:t>
            </a:r>
          </a:p>
          <a:p>
            <a:pPr marL="0" indent="0">
              <a:lnSpc>
                <a:spcPct val="150000"/>
              </a:lnSpc>
              <a:buNone/>
            </a:pPr>
            <a:endParaRPr lang="en-US" sz="2400" dirty="0" smtClean="0"/>
          </a:p>
          <a:p>
            <a:pPr marL="0" lvl="0" indent="0">
              <a:lnSpc>
                <a:spcPct val="150000"/>
              </a:lnSpc>
              <a:buNone/>
            </a:pPr>
            <a:r>
              <a:rPr lang="he-IL" sz="2400" b="1" dirty="0" smtClean="0"/>
              <a:t>א. מהי מסקנת החוקר ברמת מובהקות 1%?</a:t>
            </a:r>
          </a:p>
          <a:p>
            <a:pPr marL="0" indent="0">
              <a:buNone/>
            </a:pPr>
            <a:r>
              <a:rPr lang="he-IL" sz="2400" b="1" dirty="0"/>
              <a:t>ב. האם מסקנת החוקר הייתה שונה אם השערתו הייתה שרמת ההמוגלובין אצל צמחוניים קטנה מזו של שאר האוכלוסייה?</a:t>
            </a:r>
          </a:p>
          <a:p>
            <a:pPr marL="0" lvl="0" indent="0">
              <a:lnSpc>
                <a:spcPct val="150000"/>
              </a:lnSpc>
              <a:buNone/>
            </a:pPr>
            <a:endParaRPr lang="en-US" sz="2400" b="1" dirty="0" smtClean="0"/>
          </a:p>
          <a:p>
            <a:pPr marL="0" lvl="0" indent="0">
              <a:lnSpc>
                <a:spcPct val="150000"/>
              </a:lnSpc>
              <a:buNone/>
            </a:pPr>
            <a:endParaRPr lang="en-US" sz="2400" dirty="0"/>
          </a:p>
        </p:txBody>
      </p:sp>
    </p:spTree>
    <p:extLst>
      <p:ext uri="{BB962C8B-B14F-4D97-AF65-F5344CB8AC3E}">
        <p14:creationId xmlns:p14="http://schemas.microsoft.com/office/powerpoint/2010/main" val="212592814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39141"/>
            <a:ext cx="9144000" cy="6126163"/>
          </a:xfrm>
        </p:spPr>
        <p:txBody>
          <a:bodyPr>
            <a:noAutofit/>
          </a:bodyPr>
          <a:lstStyle/>
          <a:p>
            <a:pPr marL="0" indent="0">
              <a:lnSpc>
                <a:spcPct val="170000"/>
              </a:lnSpc>
              <a:buNone/>
            </a:pPr>
            <a:r>
              <a:rPr lang="he-IL" b="1" u="sng" dirty="0" smtClean="0"/>
              <a:t>שאלה 11</a:t>
            </a:r>
            <a:endParaRPr lang="he-IL" dirty="0" smtClean="0"/>
          </a:p>
          <a:p>
            <a:pPr marL="0" indent="0">
              <a:lnSpc>
                <a:spcPct val="150000"/>
              </a:lnSpc>
              <a:buNone/>
            </a:pPr>
            <a:r>
              <a:rPr lang="he-IL" dirty="0" smtClean="0"/>
              <a:t>חוקרת טוענת שאצל נהגי מוניות בלונדון </a:t>
            </a:r>
            <a:r>
              <a:rPr lang="he-IL" u="sng" dirty="0" smtClean="0"/>
              <a:t>האזור במוח שאחראי על ניווט גדול מאשר בשאר האוכלוסייה</a:t>
            </a:r>
            <a:r>
              <a:rPr lang="he-IL" dirty="0" smtClean="0"/>
              <a:t>. היא בדקה מדגם מקרי של 100 נהגי מוניות לונדונים ומצאה גודל ממוצע של 83 סמ"ק. ידוע שבאוכלוסיה הנפח של אזור זה מתפלג נורמלית עם ממוצע 80 וסטיית תקן 10.</a:t>
            </a:r>
          </a:p>
          <a:p>
            <a:pPr marL="0" indent="0">
              <a:buNone/>
            </a:pPr>
            <a:r>
              <a:rPr lang="he-IL" b="1" dirty="0"/>
              <a:t>א. מהי מסקנת </a:t>
            </a:r>
            <a:r>
              <a:rPr lang="he-IL" b="1" dirty="0" smtClean="0"/>
              <a:t>החוקרת </a:t>
            </a:r>
            <a:r>
              <a:rPr lang="he-IL" b="1" dirty="0"/>
              <a:t>ברמת מובהקות 5</a:t>
            </a:r>
            <a:r>
              <a:rPr lang="he-IL" b="1" dirty="0" smtClean="0"/>
              <a:t>%?</a:t>
            </a:r>
          </a:p>
          <a:p>
            <a:pPr marL="0" indent="0">
              <a:buNone/>
            </a:pPr>
            <a:r>
              <a:rPr lang="he-IL" b="1" dirty="0"/>
              <a:t>ב. מה המובהקות המינימאלית לפיה ניתן להחליט שנפח האזור במוח של נהגי מוניות לונדונים </a:t>
            </a:r>
            <a:r>
              <a:rPr lang="he-IL" b="1" dirty="0">
                <a:solidFill>
                  <a:schemeClr val="accent2"/>
                </a:solidFill>
              </a:rPr>
              <a:t>גבוה</a:t>
            </a:r>
            <a:r>
              <a:rPr lang="he-IL" b="1" dirty="0"/>
              <a:t> מזה של שאר האוכלוסייה?</a:t>
            </a:r>
          </a:p>
          <a:p>
            <a:pPr marL="0" indent="0">
              <a:buNone/>
            </a:pPr>
            <a:endParaRPr lang="he-IL" b="1" dirty="0"/>
          </a:p>
          <a:p>
            <a:pPr marL="0" indent="0">
              <a:lnSpc>
                <a:spcPct val="150000"/>
              </a:lnSpc>
              <a:buNone/>
            </a:pPr>
            <a:endParaRPr lang="en-US" dirty="0"/>
          </a:p>
        </p:txBody>
      </p:sp>
    </p:spTree>
    <p:extLst>
      <p:ext uri="{BB962C8B-B14F-4D97-AF65-F5344CB8AC3E}">
        <p14:creationId xmlns:p14="http://schemas.microsoft.com/office/powerpoint/2010/main" val="390096864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p:cNvSpPr>
            <a:spLocks noGrp="1"/>
          </p:cNvSpPr>
          <p:nvPr>
            <p:ph type="title"/>
          </p:nvPr>
        </p:nvSpPr>
        <p:spPr/>
        <p:txBody>
          <a:bodyPr/>
          <a:lstStyle/>
          <a:p>
            <a:r>
              <a:rPr lang="he-IL" dirty="0" smtClean="0"/>
              <a:t>שאלה 12</a:t>
            </a:r>
            <a:endParaRPr lang="he-IL" dirty="0"/>
          </a:p>
        </p:txBody>
      </p:sp>
      <p:sp>
        <p:nvSpPr>
          <p:cNvPr id="3" name="מציין מיקום תוכן 2"/>
          <p:cNvSpPr>
            <a:spLocks noGrp="1"/>
          </p:cNvSpPr>
          <p:nvPr>
            <p:ph idx="1"/>
          </p:nvPr>
        </p:nvSpPr>
        <p:spPr/>
        <p:txBody>
          <a:bodyPr>
            <a:normAutofit/>
          </a:bodyPr>
          <a:lstStyle/>
          <a:p>
            <a:pPr algn="just"/>
            <a:r>
              <a:rPr lang="he-IL" sz="2400" dirty="0" smtClean="0"/>
              <a:t>ידוע כי אורך חיי נורת להט </a:t>
            </a:r>
            <a:r>
              <a:rPr lang="en-US" sz="2400" dirty="0" smtClean="0"/>
              <a:t> 100W</a:t>
            </a:r>
            <a:r>
              <a:rPr lang="he-IL" sz="2400" dirty="0" smtClean="0"/>
              <a:t>המיוצרת במפעל מסוים מתפלג נורמלי עם תוחלת </a:t>
            </a:r>
            <a:r>
              <a:rPr lang="he-IL" sz="2400" smtClean="0"/>
              <a:t>של 1600 </a:t>
            </a:r>
            <a:r>
              <a:rPr lang="he-IL" sz="2400" dirty="0" smtClean="0"/>
              <a:t>שעות פעולה וסטית תקן 120 שעות פעולה</a:t>
            </a:r>
            <a:r>
              <a:rPr lang="en-US" sz="2400" dirty="0" smtClean="0"/>
              <a:t>.</a:t>
            </a:r>
            <a:r>
              <a:rPr lang="he-IL" sz="2400" dirty="0" smtClean="0"/>
              <a:t> מנהל בקרת האיכות במפעל חשש לשינוי בתהליך (ולהשפעה על אורך חיי הנורה) כתוצאה מהחלפת אחד מספקי חומר הגלם</a:t>
            </a:r>
            <a:r>
              <a:rPr lang="en-US" sz="2400" dirty="0" smtClean="0"/>
              <a:t>.</a:t>
            </a:r>
            <a:r>
              <a:rPr lang="he-IL" sz="2400" dirty="0" smtClean="0"/>
              <a:t> המנהל החליט לבדוק מדגם של 100 נורות ומצא כי סכום אורכי החיים שלהן היה 157000 שעות</a:t>
            </a:r>
            <a:r>
              <a:rPr lang="en-US" sz="2400" dirty="0" smtClean="0"/>
              <a:t>.</a:t>
            </a:r>
            <a:r>
              <a:rPr lang="he-IL" sz="2400" dirty="0" smtClean="0"/>
              <a:t> האם ברמת מובהקות של 5% אפשר לטעון כי חל שינוי באורך החיים של הנורה?</a:t>
            </a:r>
            <a:endParaRPr lang="he-IL" sz="2400" dirty="0"/>
          </a:p>
        </p:txBody>
      </p:sp>
    </p:spTree>
    <p:extLst>
      <p:ext uri="{BB962C8B-B14F-4D97-AF65-F5344CB8AC3E}">
        <p14:creationId xmlns:p14="http://schemas.microsoft.com/office/powerpoint/2010/main" val="37690927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t>רווח סמך עבור פרופורציה</a:t>
            </a:r>
            <a:endParaRPr lang="en-GB" dirty="0"/>
          </a:p>
        </p:txBody>
      </p:sp>
      <p:sp>
        <p:nvSpPr>
          <p:cNvPr id="7" name="Content Placeholder 6"/>
          <p:cNvSpPr>
            <a:spLocks noGrp="1"/>
          </p:cNvSpPr>
          <p:nvPr>
            <p:ph idx="1"/>
          </p:nvPr>
        </p:nvSpPr>
        <p:spPr/>
        <p:txBody>
          <a:bodyPr/>
          <a:lstStyle/>
          <a:p>
            <a:pPr>
              <a:lnSpc>
                <a:spcPct val="100000"/>
              </a:lnSpc>
            </a:pPr>
            <a:r>
              <a:rPr lang="he-IL" dirty="0" smtClean="0"/>
              <a:t>רווח הסמך הינו:</a:t>
            </a:r>
          </a:p>
          <a:p>
            <a:pPr>
              <a:lnSpc>
                <a:spcPct val="100000"/>
              </a:lnSpc>
            </a:pPr>
            <a:endParaRPr lang="he-IL" dirty="0"/>
          </a:p>
          <a:p>
            <a:pPr marL="0" indent="0">
              <a:lnSpc>
                <a:spcPct val="100000"/>
              </a:lnSpc>
              <a:buNone/>
            </a:pPr>
            <a:r>
              <a:rPr lang="he-IL" dirty="0" smtClean="0"/>
              <a:t>			כאשר </a:t>
            </a:r>
          </a:p>
          <a:p>
            <a:pPr marL="0" indent="0">
              <a:lnSpc>
                <a:spcPct val="100000"/>
              </a:lnSpc>
              <a:buNone/>
            </a:pPr>
            <a:endParaRPr lang="he-IL" dirty="0"/>
          </a:p>
          <a:p>
            <a:pPr marL="0" indent="0">
              <a:lnSpc>
                <a:spcPct val="100000"/>
              </a:lnSpc>
              <a:buNone/>
            </a:pPr>
            <a:endParaRPr lang="he-IL" dirty="0" smtClean="0"/>
          </a:p>
          <a:p>
            <a:pPr marL="0" indent="0">
              <a:lnSpc>
                <a:spcPct val="100000"/>
              </a:lnSpc>
              <a:buNone/>
            </a:pPr>
            <a:r>
              <a:rPr lang="he-IL" dirty="0"/>
              <a:t> </a:t>
            </a:r>
            <a:r>
              <a:rPr lang="he-IL" dirty="0" smtClean="0"/>
              <a:t>  </a:t>
            </a:r>
            <a:r>
              <a:rPr lang="en-US" dirty="0" smtClean="0"/>
              <a:t>A</a:t>
            </a:r>
            <a:r>
              <a:rPr lang="he-IL" dirty="0" smtClean="0"/>
              <a:t> – מרווח </a:t>
            </a:r>
            <a:r>
              <a:rPr lang="he-IL" dirty="0"/>
              <a:t>הדיוק</a:t>
            </a:r>
            <a:r>
              <a:rPr lang="he-IL" dirty="0" smtClean="0"/>
              <a:t>:</a:t>
            </a:r>
          </a:p>
          <a:p>
            <a:pPr marL="0" indent="0">
              <a:lnSpc>
                <a:spcPct val="100000"/>
              </a:lnSpc>
              <a:buNone/>
            </a:pPr>
            <a:endParaRPr lang="he-IL" dirty="0" smtClean="0"/>
          </a:p>
          <a:p>
            <a:pPr marL="0" indent="0">
              <a:lnSpc>
                <a:spcPct val="100000"/>
              </a:lnSpc>
              <a:buNone/>
            </a:pPr>
            <a:endParaRPr lang="he-IL" dirty="0" smtClean="0"/>
          </a:p>
          <a:p>
            <a:pPr marL="0" indent="0">
              <a:lnSpc>
                <a:spcPct val="100000"/>
              </a:lnSpc>
              <a:buNone/>
            </a:pPr>
            <a:r>
              <a:rPr lang="he-IL" dirty="0"/>
              <a:t> </a:t>
            </a:r>
            <a:r>
              <a:rPr lang="he-IL" dirty="0" smtClean="0"/>
              <a:t>     – הפרופורציה במדגם</a:t>
            </a:r>
          </a:p>
          <a:p>
            <a:pPr marL="0" indent="0">
              <a:lnSpc>
                <a:spcPct val="100000"/>
              </a:lnSpc>
              <a:buNone/>
            </a:pPr>
            <a:endParaRPr lang="he-IL" dirty="0" smtClean="0"/>
          </a:p>
          <a:p>
            <a:pPr marL="0" indent="0">
              <a:lnSpc>
                <a:spcPct val="100000"/>
              </a:lnSpc>
              <a:buNone/>
            </a:pPr>
            <a:endParaRPr lang="he-IL" dirty="0"/>
          </a:p>
          <a:p>
            <a:pPr>
              <a:lnSpc>
                <a:spcPct val="100000"/>
              </a:lnSpc>
            </a:pPr>
            <a:endParaRPr lang="he-IL" dirty="0" smtClean="0"/>
          </a:p>
          <a:p>
            <a:pPr>
              <a:lnSpc>
                <a:spcPct val="100000"/>
              </a:lnSpc>
            </a:pPr>
            <a:endParaRPr lang="en-GB" dirty="0"/>
          </a:p>
        </p:txBody>
      </p:sp>
      <p:graphicFrame>
        <p:nvGraphicFramePr>
          <p:cNvPr id="4" name="Object 2"/>
          <p:cNvGraphicFramePr>
            <a:graphicFrameLocks noChangeAspect="1"/>
          </p:cNvGraphicFramePr>
          <p:nvPr>
            <p:extLst>
              <p:ext uri="{D42A27DB-BD31-4B8C-83A1-F6EECF244321}">
                <p14:modId xmlns:p14="http://schemas.microsoft.com/office/powerpoint/2010/main" val="1100273645"/>
              </p:ext>
            </p:extLst>
          </p:nvPr>
        </p:nvGraphicFramePr>
        <p:xfrm>
          <a:off x="3203848" y="1239439"/>
          <a:ext cx="2398712" cy="598487"/>
        </p:xfrm>
        <a:graphic>
          <a:graphicData uri="http://schemas.openxmlformats.org/presentationml/2006/ole">
            <mc:AlternateContent xmlns:mc="http://schemas.openxmlformats.org/markup-compatibility/2006">
              <mc:Choice xmlns:v="urn:schemas-microsoft-com:vml" Requires="v">
                <p:oleObj spid="_x0000_s103450" name="Equation" r:id="rId3" imgW="876240" imgH="215640" progId="Equation.3">
                  <p:embed/>
                </p:oleObj>
              </mc:Choice>
              <mc:Fallback>
                <p:oleObj name="Equation" r:id="rId3" imgW="876240" imgH="215640" progId="Equation.3">
                  <p:embed/>
                  <p:pic>
                    <p:nvPicPr>
                      <p:cNvPr id="0" name=""/>
                      <p:cNvPicPr>
                        <a:picLocks noChangeAspect="1" noChangeArrowheads="1"/>
                      </p:cNvPicPr>
                      <p:nvPr/>
                    </p:nvPicPr>
                    <p:blipFill>
                      <a:blip r:embed="rId4"/>
                      <a:srcRect/>
                      <a:stretch>
                        <a:fillRect/>
                      </a:stretch>
                    </p:blipFill>
                    <p:spPr bwMode="auto">
                      <a:xfrm>
                        <a:off x="3203848" y="1239439"/>
                        <a:ext cx="2398712" cy="598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3"/>
          <p:cNvGraphicFramePr>
            <a:graphicFrameLocks noChangeAspect="1"/>
          </p:cNvGraphicFramePr>
          <p:nvPr>
            <p:extLst>
              <p:ext uri="{D42A27DB-BD31-4B8C-83A1-F6EECF244321}">
                <p14:modId xmlns:p14="http://schemas.microsoft.com/office/powerpoint/2010/main" val="2642306102"/>
              </p:ext>
            </p:extLst>
          </p:nvPr>
        </p:nvGraphicFramePr>
        <p:xfrm>
          <a:off x="3779912" y="3501008"/>
          <a:ext cx="1656184" cy="918922"/>
        </p:xfrm>
        <a:graphic>
          <a:graphicData uri="http://schemas.openxmlformats.org/presentationml/2006/ole">
            <mc:AlternateContent xmlns:mc="http://schemas.openxmlformats.org/markup-compatibility/2006">
              <mc:Choice xmlns:v="urn:schemas-microsoft-com:vml" Requires="v">
                <p:oleObj spid="_x0000_s103451" name="Equation" r:id="rId5" imgW="799920" imgH="444240" progId="Equation.3">
                  <p:embed/>
                </p:oleObj>
              </mc:Choice>
              <mc:Fallback>
                <p:oleObj name="Equation" r:id="rId5" imgW="799920" imgH="4442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912" y="3501008"/>
                        <a:ext cx="1656184" cy="918922"/>
                      </a:xfrm>
                      <a:prstGeom prst="rect">
                        <a:avLst/>
                      </a:prstGeom>
                      <a:noFill/>
                      <a:ln>
                        <a:noFill/>
                      </a:ln>
                      <a:effectLs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75563183"/>
              </p:ext>
            </p:extLst>
          </p:nvPr>
        </p:nvGraphicFramePr>
        <p:xfrm>
          <a:off x="8028384" y="5085184"/>
          <a:ext cx="400236" cy="533649"/>
        </p:xfrm>
        <a:graphic>
          <a:graphicData uri="http://schemas.openxmlformats.org/presentationml/2006/ole">
            <mc:AlternateContent xmlns:mc="http://schemas.openxmlformats.org/markup-compatibility/2006">
              <mc:Choice xmlns:v="urn:schemas-microsoft-com:vml" Requires="v">
                <p:oleObj spid="_x0000_s103452" name="Equation" r:id="rId7" imgW="152280" imgH="203040" progId="Equation.3">
                  <p:embed/>
                </p:oleObj>
              </mc:Choice>
              <mc:Fallback>
                <p:oleObj name="Equation" r:id="rId7" imgW="152280" imgH="203040" progId="Equation.3">
                  <p:embed/>
                  <p:pic>
                    <p:nvPicPr>
                      <p:cNvPr id="0" name=""/>
                      <p:cNvPicPr/>
                      <p:nvPr/>
                    </p:nvPicPr>
                    <p:blipFill>
                      <a:blip r:embed="rId8"/>
                      <a:stretch>
                        <a:fillRect/>
                      </a:stretch>
                    </p:blipFill>
                    <p:spPr>
                      <a:xfrm>
                        <a:off x="8028384" y="5085184"/>
                        <a:ext cx="400236" cy="533649"/>
                      </a:xfrm>
                      <a:prstGeom prst="rect">
                        <a:avLst/>
                      </a:prstGeom>
                    </p:spPr>
                  </p:pic>
                </p:oleObj>
              </mc:Fallback>
            </mc:AlternateContent>
          </a:graphicData>
        </a:graphic>
      </p:graphicFrame>
    </p:spTree>
    <p:extLst>
      <p:ext uri="{BB962C8B-B14F-4D97-AF65-F5344CB8AC3E}">
        <p14:creationId xmlns:p14="http://schemas.microsoft.com/office/powerpoint/2010/main" val="380970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0" y="-243408"/>
            <a:ext cx="9144000" cy="6126163"/>
          </a:xfrm>
        </p:spPr>
        <p:txBody>
          <a:bodyPr>
            <a:noAutofit/>
          </a:bodyPr>
          <a:lstStyle/>
          <a:p>
            <a:pPr marL="0" indent="0">
              <a:lnSpc>
                <a:spcPct val="170000"/>
              </a:lnSpc>
              <a:buNone/>
            </a:pPr>
            <a:r>
              <a:rPr lang="he-IL" b="1" u="sng" dirty="0" smtClean="0"/>
              <a:t>שאלה 12</a:t>
            </a:r>
            <a:endParaRPr lang="he-IL" dirty="0" smtClean="0"/>
          </a:p>
          <a:p>
            <a:pPr marL="0" indent="0">
              <a:lnSpc>
                <a:spcPct val="150000"/>
              </a:lnSpc>
              <a:buNone/>
            </a:pPr>
            <a:r>
              <a:rPr lang="he-IL" dirty="0" smtClean="0"/>
              <a:t>בסקר שוק שערכה חב' "אסם" נמצא שמתוך 200 צרכנים, 24 מעדיפים את בייגלה "שטוחים" על פני המוצרים המתחרים.</a:t>
            </a:r>
          </a:p>
          <a:p>
            <a:pPr marL="0" indent="0">
              <a:lnSpc>
                <a:spcPct val="150000"/>
              </a:lnSpc>
              <a:buNone/>
            </a:pPr>
            <a:endParaRPr lang="he-IL" dirty="0" smtClean="0"/>
          </a:p>
          <a:p>
            <a:pPr marL="0" indent="0">
              <a:buNone/>
            </a:pPr>
            <a:r>
              <a:rPr lang="he-IL" b="1" dirty="0" smtClean="0"/>
              <a:t>בנו </a:t>
            </a:r>
            <a:r>
              <a:rPr lang="he-IL" b="1" dirty="0"/>
              <a:t>רווח סמך ברמת מובהקות 0.05 לאחוז הצרכנים שמעדיפים "שטוחים".</a:t>
            </a:r>
          </a:p>
          <a:p>
            <a:pPr marL="0" indent="0">
              <a:lnSpc>
                <a:spcPct val="150000"/>
              </a:lnSpc>
              <a:buNone/>
            </a:pPr>
            <a:endParaRPr lang="en-US" b="1" dirty="0"/>
          </a:p>
        </p:txBody>
      </p:sp>
    </p:spTree>
    <p:extLst>
      <p:ext uri="{BB962C8B-B14F-4D97-AF65-F5344CB8AC3E}">
        <p14:creationId xmlns:p14="http://schemas.microsoft.com/office/powerpoint/2010/main" val="18754784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t>רווח סמך עבור הפרש תוחלות</a:t>
            </a:r>
            <a:r>
              <a:rPr lang="he-IL" dirty="0"/>
              <a:t>, כאשר  </a:t>
            </a:r>
            <a:r>
              <a:rPr lang="en-US" dirty="0"/>
              <a:t>σ</a:t>
            </a:r>
            <a:r>
              <a:rPr lang="he-IL" dirty="0"/>
              <a:t> ידועה</a:t>
            </a:r>
            <a:endParaRPr lang="en-GB" dirty="0"/>
          </a:p>
        </p:txBody>
      </p:sp>
      <p:sp>
        <p:nvSpPr>
          <p:cNvPr id="7" name="Content Placeholder 6"/>
          <p:cNvSpPr>
            <a:spLocks noGrp="1"/>
          </p:cNvSpPr>
          <p:nvPr>
            <p:ph idx="1"/>
          </p:nvPr>
        </p:nvSpPr>
        <p:spPr/>
        <p:txBody>
          <a:bodyPr/>
          <a:lstStyle/>
          <a:p>
            <a:pPr>
              <a:lnSpc>
                <a:spcPct val="100000"/>
              </a:lnSpc>
            </a:pPr>
            <a:r>
              <a:rPr lang="he-IL" dirty="0" smtClean="0"/>
              <a:t>רווח הסמך הינו:</a:t>
            </a:r>
          </a:p>
          <a:p>
            <a:pPr>
              <a:lnSpc>
                <a:spcPct val="100000"/>
              </a:lnSpc>
            </a:pPr>
            <a:endParaRPr lang="he-IL" dirty="0"/>
          </a:p>
          <a:p>
            <a:pPr marL="0" indent="0">
              <a:lnSpc>
                <a:spcPct val="100000"/>
              </a:lnSpc>
              <a:buNone/>
            </a:pPr>
            <a:r>
              <a:rPr lang="he-IL" dirty="0" smtClean="0"/>
              <a:t>			כאשר </a:t>
            </a:r>
          </a:p>
          <a:p>
            <a:pPr marL="0" indent="0">
              <a:lnSpc>
                <a:spcPct val="100000"/>
              </a:lnSpc>
              <a:buNone/>
            </a:pPr>
            <a:endParaRPr lang="he-IL" dirty="0" smtClean="0"/>
          </a:p>
          <a:p>
            <a:pPr marL="0" indent="0">
              <a:lnSpc>
                <a:spcPct val="100000"/>
              </a:lnSpc>
              <a:buNone/>
            </a:pPr>
            <a:endParaRPr lang="he-IL" dirty="0"/>
          </a:p>
          <a:p>
            <a:pPr marL="0" indent="0">
              <a:lnSpc>
                <a:spcPct val="100000"/>
              </a:lnSpc>
              <a:buNone/>
            </a:pPr>
            <a:endParaRPr lang="he-IL" dirty="0" smtClean="0"/>
          </a:p>
          <a:p>
            <a:pPr marL="0" indent="0">
              <a:lnSpc>
                <a:spcPct val="100000"/>
              </a:lnSpc>
              <a:buNone/>
            </a:pPr>
            <a:r>
              <a:rPr lang="he-IL" dirty="0"/>
              <a:t> </a:t>
            </a:r>
            <a:r>
              <a:rPr lang="he-IL" dirty="0" smtClean="0"/>
              <a:t>  </a:t>
            </a:r>
            <a:r>
              <a:rPr lang="en-US" dirty="0" smtClean="0"/>
              <a:t>A</a:t>
            </a:r>
            <a:r>
              <a:rPr lang="he-IL" dirty="0" smtClean="0"/>
              <a:t> – מרווח </a:t>
            </a:r>
            <a:r>
              <a:rPr lang="he-IL" dirty="0"/>
              <a:t>הדיוק</a:t>
            </a:r>
            <a:r>
              <a:rPr lang="he-IL" dirty="0" smtClean="0"/>
              <a:t>:</a:t>
            </a:r>
          </a:p>
          <a:p>
            <a:pPr marL="0" indent="0">
              <a:lnSpc>
                <a:spcPct val="100000"/>
              </a:lnSpc>
              <a:buNone/>
            </a:pPr>
            <a:endParaRPr lang="he-IL" dirty="0" smtClean="0"/>
          </a:p>
          <a:p>
            <a:pPr marL="0" indent="0">
              <a:lnSpc>
                <a:spcPct val="100000"/>
              </a:lnSpc>
              <a:buNone/>
            </a:pPr>
            <a:endParaRPr lang="he-IL" dirty="0" smtClean="0"/>
          </a:p>
          <a:p>
            <a:pPr marL="0" indent="0">
              <a:lnSpc>
                <a:spcPct val="100000"/>
              </a:lnSpc>
              <a:buNone/>
            </a:pPr>
            <a:r>
              <a:rPr lang="he-IL" dirty="0"/>
              <a:t> </a:t>
            </a:r>
            <a:r>
              <a:rPr lang="he-IL" dirty="0" smtClean="0"/>
              <a:t>     </a:t>
            </a:r>
            <a:endParaRPr lang="he-IL" dirty="0"/>
          </a:p>
          <a:p>
            <a:pPr>
              <a:lnSpc>
                <a:spcPct val="100000"/>
              </a:lnSpc>
            </a:pPr>
            <a:endParaRPr lang="he-IL" dirty="0" smtClean="0"/>
          </a:p>
          <a:p>
            <a:pPr>
              <a:lnSpc>
                <a:spcPct val="100000"/>
              </a:lnSpc>
            </a:pPr>
            <a:endParaRPr lang="en-GB" dirty="0"/>
          </a:p>
        </p:txBody>
      </p:sp>
      <p:graphicFrame>
        <p:nvGraphicFramePr>
          <p:cNvPr id="9" name="Object 2"/>
          <p:cNvGraphicFramePr>
            <a:graphicFrameLocks noChangeAspect="1"/>
          </p:cNvGraphicFramePr>
          <p:nvPr>
            <p:extLst>
              <p:ext uri="{D42A27DB-BD31-4B8C-83A1-F6EECF244321}">
                <p14:modId xmlns:p14="http://schemas.microsoft.com/office/powerpoint/2010/main" val="1628526254"/>
              </p:ext>
            </p:extLst>
          </p:nvPr>
        </p:nvGraphicFramePr>
        <p:xfrm>
          <a:off x="1043608" y="1216489"/>
          <a:ext cx="4622801" cy="598488"/>
        </p:xfrm>
        <a:graphic>
          <a:graphicData uri="http://schemas.openxmlformats.org/presentationml/2006/ole">
            <mc:AlternateContent xmlns:mc="http://schemas.openxmlformats.org/markup-compatibility/2006">
              <mc:Choice xmlns:v="urn:schemas-microsoft-com:vml" Requires="v">
                <p:oleObj spid="_x0000_s104467" name="Equation" r:id="rId3" imgW="1688760" imgH="215640" progId="Equation.3">
                  <p:embed/>
                </p:oleObj>
              </mc:Choice>
              <mc:Fallback>
                <p:oleObj name="Equation" r:id="rId3" imgW="1688760" imgH="215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1216489"/>
                        <a:ext cx="4622801"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3"/>
          <p:cNvGraphicFramePr>
            <a:graphicFrameLocks noChangeAspect="1"/>
          </p:cNvGraphicFramePr>
          <p:nvPr>
            <p:extLst>
              <p:ext uri="{D42A27DB-BD31-4B8C-83A1-F6EECF244321}">
                <p14:modId xmlns:p14="http://schemas.microsoft.com/office/powerpoint/2010/main" val="1302905316"/>
              </p:ext>
            </p:extLst>
          </p:nvPr>
        </p:nvGraphicFramePr>
        <p:xfrm>
          <a:off x="1979712" y="3645024"/>
          <a:ext cx="3325813" cy="1414463"/>
        </p:xfrm>
        <a:graphic>
          <a:graphicData uri="http://schemas.openxmlformats.org/presentationml/2006/ole">
            <mc:AlternateContent xmlns:mc="http://schemas.openxmlformats.org/markup-compatibility/2006">
              <mc:Choice xmlns:v="urn:schemas-microsoft-com:vml" Requires="v">
                <p:oleObj spid="_x0000_s104468" name="Equation" r:id="rId5" imgW="1193760" imgH="507960" progId="Equation.3">
                  <p:embed/>
                </p:oleObj>
              </mc:Choice>
              <mc:Fallback>
                <p:oleObj name="Equation" r:id="rId5" imgW="1193760" imgH="50796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9712" y="3645024"/>
                        <a:ext cx="3325813" cy="141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505836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p:cNvSpPr>
            <a:spLocks noGrp="1"/>
          </p:cNvSpPr>
          <p:nvPr>
            <p:ph idx="1"/>
          </p:nvPr>
        </p:nvSpPr>
        <p:spPr>
          <a:xfrm>
            <a:off x="36512" y="44624"/>
            <a:ext cx="9144000" cy="6126163"/>
          </a:xfrm>
        </p:spPr>
        <p:txBody>
          <a:bodyPr>
            <a:noAutofit/>
          </a:bodyPr>
          <a:lstStyle/>
          <a:p>
            <a:pPr marL="0" indent="0">
              <a:lnSpc>
                <a:spcPct val="170000"/>
              </a:lnSpc>
              <a:buNone/>
            </a:pPr>
            <a:r>
              <a:rPr lang="he-IL" sz="2400" b="1" u="sng" dirty="0" smtClean="0"/>
              <a:t>שאלה 13</a:t>
            </a:r>
            <a:endParaRPr lang="he-IL" sz="2400" dirty="0" smtClean="0"/>
          </a:p>
          <a:p>
            <a:pPr marL="0" indent="0">
              <a:lnSpc>
                <a:spcPct val="150000"/>
              </a:lnSpc>
              <a:buNone/>
            </a:pPr>
            <a:r>
              <a:rPr lang="he-IL" sz="2400" dirty="0" smtClean="0"/>
              <a:t>חוקר רוצה לבדוק האם יש הבדל בממוצע השכר של נשים וגברים המועסקים בחברות היי-</a:t>
            </a:r>
            <a:r>
              <a:rPr lang="he-IL" sz="2400" dirty="0" err="1" smtClean="0"/>
              <a:t>טק</a:t>
            </a:r>
            <a:r>
              <a:rPr lang="he-IL" sz="2400" dirty="0" smtClean="0"/>
              <a:t>. הוא לוקח מדגם של 150 נשים ומדגם של 150 גברים ומקבל בהתאמה ממוצעים של 18,000 ו-19,500 ₪. ידוע שממוצע המשכורות בחב' היי-</a:t>
            </a:r>
            <a:r>
              <a:rPr lang="he-IL" sz="2400" dirty="0" err="1" smtClean="0"/>
              <a:t>טק</a:t>
            </a:r>
            <a:r>
              <a:rPr lang="he-IL" sz="2400" dirty="0" smtClean="0"/>
              <a:t> מתפלג נורמלית עם סטיית תקן של 1,600 ₪. </a:t>
            </a:r>
          </a:p>
          <a:p>
            <a:pPr marL="0" indent="0">
              <a:lnSpc>
                <a:spcPct val="150000"/>
              </a:lnSpc>
              <a:buNone/>
            </a:pPr>
            <a:r>
              <a:rPr lang="he-IL" sz="2400" b="1" dirty="0" smtClean="0"/>
              <a:t>א. בנו רווח סמך ברמת מובהקות של 10% להפרש ממוצעי המשכורות בין גברים ונשים.</a:t>
            </a:r>
          </a:p>
          <a:p>
            <a:pPr marL="0" indent="0">
              <a:lnSpc>
                <a:spcPct val="150000"/>
              </a:lnSpc>
              <a:buNone/>
            </a:pPr>
            <a:r>
              <a:rPr lang="he-IL" sz="2400" b="1" dirty="0" smtClean="0"/>
              <a:t>ב. האמת ניתן לומר ברמת מובהקות זו כי יש הבדל בממוצע השכר של נשים וגברים?</a:t>
            </a:r>
            <a:endParaRPr lang="en-US" sz="2400" b="1" dirty="0"/>
          </a:p>
        </p:txBody>
      </p:sp>
    </p:spTree>
    <p:extLst>
      <p:ext uri="{BB962C8B-B14F-4D97-AF65-F5344CB8AC3E}">
        <p14:creationId xmlns:p14="http://schemas.microsoft.com/office/powerpoint/2010/main" val="652257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he-IL" dirty="0" smtClean="0"/>
              <a:t>תרגיל</a:t>
            </a:r>
            <a:endParaRPr lang="he-IL" dirty="0"/>
          </a:p>
        </p:txBody>
      </p:sp>
      <p:sp>
        <p:nvSpPr>
          <p:cNvPr id="3" name="Content Placeholder 2"/>
          <p:cNvSpPr>
            <a:spLocks noGrp="1"/>
          </p:cNvSpPr>
          <p:nvPr>
            <p:ph idx="1"/>
          </p:nvPr>
        </p:nvSpPr>
        <p:spPr/>
        <p:txBody>
          <a:bodyPr/>
          <a:lstStyle/>
          <a:p>
            <a:r>
              <a:rPr lang="he-IL" dirty="0" smtClean="0"/>
              <a:t>הועלתה טענה כי קבוצת הכדורסל הפועל ירושלים קולעת יותר סלים במשחק מקבוצת מכבי ת"א</a:t>
            </a:r>
            <a:r>
              <a:rPr lang="en-US" dirty="0" smtClean="0"/>
              <a:t>.</a:t>
            </a:r>
            <a:r>
              <a:rPr lang="he-IL" dirty="0" smtClean="0"/>
              <a:t> ידוע מהעבר כי שונות מספר הסלים למשחק של מכבי ת"א הוא 75</a:t>
            </a:r>
            <a:r>
              <a:rPr lang="en-US" dirty="0" smtClean="0"/>
              <a:t>.</a:t>
            </a:r>
            <a:r>
              <a:rPr lang="he-IL" dirty="0" smtClean="0"/>
              <a:t>69 ושל קבוצת הפועל ירושלים 25</a:t>
            </a:r>
            <a:r>
              <a:rPr lang="en-US" dirty="0" smtClean="0"/>
              <a:t>.</a:t>
            </a:r>
            <a:r>
              <a:rPr lang="he-IL" dirty="0" smtClean="0"/>
              <a:t>56</a:t>
            </a:r>
            <a:r>
              <a:rPr lang="en-US" dirty="0" smtClean="0"/>
              <a:t>.</a:t>
            </a:r>
            <a:endParaRPr lang="he-IL" dirty="0" smtClean="0"/>
          </a:p>
          <a:p>
            <a:r>
              <a:rPr lang="he-IL" dirty="0" smtClean="0"/>
              <a:t>בבדיקה של מספר משחקים של שתי הקבוצות התקבלו נתוני הקליעה למשחק הבאים:</a:t>
            </a:r>
          </a:p>
          <a:p>
            <a:endParaRPr lang="he-IL" dirty="0"/>
          </a:p>
          <a:p>
            <a:endParaRPr lang="he-IL" dirty="0" smtClean="0"/>
          </a:p>
          <a:p>
            <a:endParaRPr lang="he-IL" dirty="0"/>
          </a:p>
          <a:p>
            <a:endParaRPr lang="he-IL" dirty="0" smtClean="0"/>
          </a:p>
          <a:p>
            <a:endParaRPr lang="he-IL" dirty="0" smtClean="0"/>
          </a:p>
        </p:txBody>
      </p:sp>
    </p:spTree>
    <p:extLst>
      <p:ext uri="{BB962C8B-B14F-4D97-AF65-F5344CB8AC3E}">
        <p14:creationId xmlns:p14="http://schemas.microsoft.com/office/powerpoint/2010/main" val="214611076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3586410"/>
          </a:xfrm>
        </p:spPr>
        <p:txBody>
          <a:bodyPr>
            <a:normAutofit fontScale="90000"/>
          </a:bodyPr>
          <a:lstStyle/>
          <a:p>
            <a:r>
              <a:rPr lang="he-IL" dirty="0" smtClean="0"/>
              <a:t/>
            </a:r>
            <a:br>
              <a:rPr lang="he-IL" dirty="0" smtClean="0"/>
            </a:br>
            <a:r>
              <a:rPr lang="he-IL" dirty="0"/>
              <a:t/>
            </a:r>
            <a:br>
              <a:rPr lang="he-IL" dirty="0"/>
            </a:br>
            <a:r>
              <a:rPr lang="he-IL" dirty="0" smtClean="0"/>
              <a:t/>
            </a:r>
            <a:br>
              <a:rPr lang="he-IL" dirty="0" smtClean="0"/>
            </a:br>
            <a:r>
              <a:rPr lang="he-IL" dirty="0"/>
              <a:t/>
            </a:r>
            <a:br>
              <a:rPr lang="he-IL" dirty="0"/>
            </a:br>
            <a:r>
              <a:rPr lang="he-IL" dirty="0" smtClean="0"/>
              <a:t/>
            </a:r>
            <a:br>
              <a:rPr lang="he-IL" dirty="0" smtClean="0"/>
            </a:br>
            <a:r>
              <a:rPr lang="he-IL" dirty="0"/>
              <a:t/>
            </a:r>
            <a:br>
              <a:rPr lang="he-IL" dirty="0"/>
            </a:br>
            <a:r>
              <a:rPr lang="he-IL" dirty="0" smtClean="0"/>
              <a:t/>
            </a:r>
            <a:br>
              <a:rPr lang="he-IL" dirty="0" smtClean="0"/>
            </a:br>
            <a:r>
              <a:rPr lang="he-IL" dirty="0"/>
              <a:t/>
            </a:r>
            <a:br>
              <a:rPr lang="he-IL" dirty="0"/>
            </a:br>
            <a:r>
              <a:rPr lang="he-IL" dirty="0" smtClean="0"/>
              <a:t/>
            </a:r>
            <a:br>
              <a:rPr lang="he-IL" dirty="0" smtClean="0"/>
            </a:br>
            <a:r>
              <a:rPr lang="he-IL" dirty="0"/>
              <a:t/>
            </a:r>
            <a:br>
              <a:rPr lang="he-IL" dirty="0"/>
            </a:br>
            <a:r>
              <a:rPr lang="he-IL" dirty="0" smtClean="0"/>
              <a:t>האם ברמת מובהקות של 5% אפשר לקבל את הטענה? הנח כי מספר הנקודות בשתי הקבוצות מתפלג נורמלית </a:t>
            </a:r>
            <a:r>
              <a:rPr lang="he-IL" dirty="0" err="1" smtClean="0"/>
              <a:t>והשונויות</a:t>
            </a:r>
            <a:r>
              <a:rPr lang="he-IL" dirty="0" smtClean="0"/>
              <a:t> ידועות והמדגמים בלתי תלויים</a:t>
            </a:r>
            <a:endParaRPr lang="he-IL" dirty="0"/>
          </a:p>
        </p:txBody>
      </p:sp>
      <p:pic>
        <p:nvPicPr>
          <p:cNvPr id="4" name="Content Placeholder 3"/>
          <p:cNvPicPr>
            <a:picLocks noGrp="1" noChangeAspect="1"/>
          </p:cNvPicPr>
          <p:nvPr>
            <p:ph idx="1"/>
          </p:nvPr>
        </p:nvPicPr>
        <p:blipFill>
          <a:blip r:embed="rId2"/>
          <a:stretch>
            <a:fillRect/>
          </a:stretch>
        </p:blipFill>
        <p:spPr>
          <a:xfrm>
            <a:off x="2339752" y="803058"/>
            <a:ext cx="4645555" cy="2694666"/>
          </a:xfrm>
          <a:prstGeom prst="rect">
            <a:avLst/>
          </a:prstGeom>
        </p:spPr>
      </p:pic>
    </p:spTree>
    <p:extLst>
      <p:ext uri="{BB962C8B-B14F-4D97-AF65-F5344CB8AC3E}">
        <p14:creationId xmlns:p14="http://schemas.microsoft.com/office/powerpoint/2010/main" val="2801719384"/>
      </p:ext>
    </p:extLst>
  </p:cSld>
  <p:clrMapOvr>
    <a:masterClrMapping/>
  </p:clrMapOvr>
  <p:timing>
    <p:tnLst>
      <p:par>
        <p:cTn id="1" dur="indefinite" restart="never" nodeType="tmRoot"/>
      </p:par>
    </p:tnLst>
  </p:timing>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התאמה אישית 1">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התאמה אישית 1">
      <a:majorFont>
        <a:latin typeface="Tahoma"/>
        <a:ea typeface=""/>
        <a:cs typeface="Tahoma"/>
      </a:majorFont>
      <a:minorFont>
        <a:latin typeface="Tahoma"/>
        <a:ea typeface=""/>
        <a:cs typeface="Tahom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ערכת נושא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1209</TotalTime>
  <Words>1247</Words>
  <Application>Microsoft Office PowerPoint</Application>
  <PresentationFormat>On-screen Show (4:3)</PresentationFormat>
  <Paragraphs>134</Paragraphs>
  <Slides>23</Slides>
  <Notes>4</Notes>
  <HiddenSlides>1</HiddenSlides>
  <MMClips>0</MMClips>
  <ScaleCrop>false</ScaleCrop>
  <HeadingPairs>
    <vt:vector size="8" baseType="variant">
      <vt:variant>
        <vt:lpstr>Fonts Used</vt:lpstr>
      </vt:variant>
      <vt:variant>
        <vt:i4>3</vt:i4>
      </vt:variant>
      <vt:variant>
        <vt:lpstr>Theme</vt:lpstr>
      </vt:variant>
      <vt:variant>
        <vt:i4>2</vt:i4>
      </vt:variant>
      <vt:variant>
        <vt:lpstr>Embedded OLE Servers</vt:lpstr>
      </vt:variant>
      <vt:variant>
        <vt:i4>1</vt:i4>
      </vt:variant>
      <vt:variant>
        <vt:lpstr>Slide Titles</vt:lpstr>
      </vt:variant>
      <vt:variant>
        <vt:i4>23</vt:i4>
      </vt:variant>
    </vt:vector>
  </HeadingPairs>
  <TitlesOfParts>
    <vt:vector size="29" baseType="lpstr">
      <vt:lpstr>Arial</vt:lpstr>
      <vt:lpstr>Calibri</vt:lpstr>
      <vt:lpstr>Tahoma</vt:lpstr>
      <vt:lpstr>ערכת נושא Office</vt:lpstr>
      <vt:lpstr>1_ערכת נושא Office</vt:lpstr>
      <vt:lpstr>Equation</vt:lpstr>
      <vt:lpstr>מבוא לסטטיסטיקה והסתברות</vt:lpstr>
      <vt:lpstr>הסקה סטטיסטית</vt:lpstr>
      <vt:lpstr>משפט הגבול המרכזי</vt:lpstr>
      <vt:lpstr>PowerPoint Presentation</vt:lpstr>
      <vt:lpstr>PowerPoint Presentation</vt:lpstr>
      <vt:lpstr>PowerPoint Presentation</vt:lpstr>
      <vt:lpstr>PowerPoint Presentation</vt:lpstr>
      <vt:lpstr>תרגיל</vt:lpstr>
      <vt:lpstr>רווח סמך</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שאלה 12</vt:lpstr>
      <vt:lpstr>רווח סמך עבור פרופורציה</vt:lpstr>
      <vt:lpstr>PowerPoint Presentation</vt:lpstr>
      <vt:lpstr>רווח סמך עבור הפרש תוחלות, כאשר  σ ידועה</vt:lpstr>
      <vt:lpstr>PowerPoint Presentation</vt:lpstr>
      <vt:lpstr>תרגיל</vt:lpstr>
      <vt:lpstr>          האם ברמת מובהקות של 5% אפשר לקבל את הטענה? הנח כי מספר הנקודות בשתי הקבוצות מתפלג נורמלית והשונויות ידועות והמדגמים בלתי תלויים</vt:lpstr>
    </vt:vector>
  </TitlesOfParts>
  <Company>Your Company Name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סטטיסטיקה ב' - תרגיל</dc:title>
  <dc:creator>Yaara</dc:creator>
  <cp:lastModifiedBy>HP</cp:lastModifiedBy>
  <cp:revision>105</cp:revision>
  <dcterms:created xsi:type="dcterms:W3CDTF">2011-10-31T22:07:50Z</dcterms:created>
  <dcterms:modified xsi:type="dcterms:W3CDTF">2016-08-15T11:26:04Z</dcterms:modified>
</cp:coreProperties>
</file>