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6"/>
  </p:notesMasterIdLst>
  <p:sldIdLst>
    <p:sldId id="256" r:id="rId2"/>
    <p:sldId id="323" r:id="rId3"/>
    <p:sldId id="344" r:id="rId4"/>
    <p:sldId id="326" r:id="rId5"/>
    <p:sldId id="328" r:id="rId6"/>
    <p:sldId id="329" r:id="rId7"/>
    <p:sldId id="346" r:id="rId8"/>
    <p:sldId id="345" r:id="rId9"/>
    <p:sldId id="330" r:id="rId10"/>
    <p:sldId id="332" r:id="rId11"/>
    <p:sldId id="334" r:id="rId12"/>
    <p:sldId id="337" r:id="rId13"/>
    <p:sldId id="339" r:id="rId14"/>
    <p:sldId id="340" r:id="rId15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סגנון ערכת נושא 1 - הדגשה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768" autoAdjust="0"/>
    <p:restoredTop sz="91086" autoAdjust="0"/>
  </p:normalViewPr>
  <p:slideViewPr>
    <p:cSldViewPr>
      <p:cViewPr varScale="1">
        <p:scale>
          <a:sx n="82" d="100"/>
          <a:sy n="82" d="100"/>
        </p:scale>
        <p:origin x="121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atistics\&#1495;&#1497;&#1513;&#1493;&#1489;&#1497;&#1501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tatistics\&#1495;&#1497;&#1513;&#1493;&#1489;&#1497;&#1501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גיליון1!$A$59</c:f>
              <c:strCache>
                <c:ptCount val="1"/>
                <c:pt idx="0">
                  <c:v>ציון</c:v>
                </c:pt>
              </c:strCache>
            </c:strRef>
          </c:tx>
          <c:spPr>
            <a:ln w="28575">
              <a:noFill/>
            </a:ln>
          </c:spPr>
          <c:xVal>
            <c:numRef>
              <c:f>גיליון1!$B$58:$I$58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xVal>
          <c:yVal>
            <c:numRef>
              <c:f>גיליון1!$B$59:$I$59</c:f>
              <c:numCache>
                <c:formatCode>General</c:formatCode>
                <c:ptCount val="8"/>
                <c:pt idx="0">
                  <c:v>80</c:v>
                </c:pt>
                <c:pt idx="1">
                  <c:v>63</c:v>
                </c:pt>
                <c:pt idx="2">
                  <c:v>65</c:v>
                </c:pt>
                <c:pt idx="3">
                  <c:v>60</c:v>
                </c:pt>
                <c:pt idx="4">
                  <c:v>45</c:v>
                </c:pt>
                <c:pt idx="5">
                  <c:v>33</c:v>
                </c:pt>
                <c:pt idx="6">
                  <c:v>24</c:v>
                </c:pt>
                <c:pt idx="7">
                  <c:v>10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07816"/>
        <c:axId val="9510560"/>
      </c:scatterChart>
      <c:valAx>
        <c:axId val="9507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510560"/>
        <c:crosses val="autoZero"/>
        <c:crossBetween val="midCat"/>
      </c:valAx>
      <c:valAx>
        <c:axId val="9510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50781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556296296296283E-2"/>
          <c:y val="2.1290277777777779E-2"/>
          <c:w val="0.9178565089191878"/>
          <c:h val="0.90451040265841109"/>
        </c:manualLayout>
      </c:layout>
      <c:scatterChart>
        <c:scatterStyle val="lineMarker"/>
        <c:varyColors val="0"/>
        <c:ser>
          <c:idx val="0"/>
          <c:order val="0"/>
          <c:tx>
            <c:strRef>
              <c:f>גיליון1!$A$59</c:f>
              <c:strCache>
                <c:ptCount val="1"/>
                <c:pt idx="0">
                  <c:v>ציון</c:v>
                </c:pt>
              </c:strCache>
            </c:strRef>
          </c:tx>
          <c:spPr>
            <a:ln w="28575">
              <a:noFill/>
            </a:ln>
          </c:spP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1"/>
            <c:trendlineLbl>
              <c:layout>
                <c:manualLayout>
                  <c:x val="0.14963455529206846"/>
                  <c:y val="-0.62951794742541045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2200" baseline="0" dirty="0"/>
                      <a:t>y </a:t>
                    </a:r>
                    <a:r>
                      <a:rPr lang="en-US" sz="2200" baseline="0" dirty="0" smtClean="0"/>
                      <a:t>=80.667-9.4762x </a:t>
                    </a:r>
                    <a:endParaRPr lang="en-US" sz="2200" dirty="0"/>
                  </a:p>
                </c:rich>
              </c:tx>
              <c:numFmt formatCode="General" sourceLinked="0"/>
            </c:trendlineLbl>
          </c:trendline>
          <c:xVal>
            <c:numRef>
              <c:f>גיליון1!$B$58:$I$58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xVal>
          <c:yVal>
            <c:numRef>
              <c:f>גיליון1!$B$59:$I$59</c:f>
              <c:numCache>
                <c:formatCode>General</c:formatCode>
                <c:ptCount val="8"/>
                <c:pt idx="0">
                  <c:v>80</c:v>
                </c:pt>
                <c:pt idx="1">
                  <c:v>63</c:v>
                </c:pt>
                <c:pt idx="2">
                  <c:v>65</c:v>
                </c:pt>
                <c:pt idx="3">
                  <c:v>60</c:v>
                </c:pt>
                <c:pt idx="4">
                  <c:v>45</c:v>
                </c:pt>
                <c:pt idx="5">
                  <c:v>33</c:v>
                </c:pt>
                <c:pt idx="6">
                  <c:v>24</c:v>
                </c:pt>
                <c:pt idx="7">
                  <c:v>10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04680"/>
        <c:axId val="9505072"/>
      </c:scatterChart>
      <c:valAx>
        <c:axId val="9504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505072"/>
        <c:crosses val="autoZero"/>
        <c:crossBetween val="midCat"/>
      </c:valAx>
      <c:valAx>
        <c:axId val="9505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504680"/>
        <c:crosses val="autoZero"/>
        <c:crossBetween val="midCat"/>
      </c:valAx>
    </c:plotArea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jpe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jpe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0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66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BB388-F290-4D43-854E-0245B558D3F2}" type="slidenum">
              <a:rPr lang="he-IL"/>
              <a:pPr/>
              <a:t>5</a:t>
            </a:fld>
            <a:endParaRPr 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7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726E49-2867-4A7B-A763-D954FB688369}" type="slidenum">
              <a:rPr lang="he-IL"/>
              <a:pPr/>
              <a:t>12</a:t>
            </a:fld>
            <a:endParaRPr lang="en-GB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3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כותרת, טקסט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9FDDCCB-A6C5-44AA-A2B8-FF550226DEC5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6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3.xls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Microsoft_Excel_97-2003_Worksheet2.xls"/><Relationship Id="rId5" Type="http://schemas.openxmlformats.org/officeDocument/2006/relationships/image" Target="../media/image5.emf"/><Relationship Id="rId4" Type="http://schemas.openxmlformats.org/officeDocument/2006/relationships/oleObject" Target="../embeddings/Microsoft_Excel_97-2003_Worksheet1.xls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02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pPr algn="ctr"/>
            <a:r>
              <a:rPr lang="he-IL" dirty="0" smtClean="0"/>
              <a:t>רגרסיה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he-IL" sz="2800" dirty="0" smtClean="0"/>
              <a:t>שיטה לניתוח הקשר (עוצמה וכיוון) בין משתנים</a:t>
            </a:r>
          </a:p>
          <a:p>
            <a:pPr algn="just">
              <a:lnSpc>
                <a:spcPct val="150000"/>
              </a:lnSpc>
            </a:pPr>
            <a:r>
              <a:rPr lang="he-IL" sz="2800" dirty="0" smtClean="0"/>
              <a:t>מאפשרת ניבוי של משתנה אחד על סמך משתנה אחר</a:t>
            </a:r>
          </a:p>
          <a:p>
            <a:pPr algn="just">
              <a:lnSpc>
                <a:spcPct val="150000"/>
              </a:lnSpc>
            </a:pPr>
            <a:endParaRPr lang="he-IL" sz="2800" u="sng" dirty="0" smtClean="0"/>
          </a:p>
          <a:p>
            <a:pPr algn="just">
              <a:lnSpc>
                <a:spcPct val="150000"/>
              </a:lnSpc>
              <a:buNone/>
            </a:pPr>
            <a:endParaRPr lang="he-IL" sz="2800" dirty="0" smtClean="0"/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graphicFrame>
        <p:nvGraphicFramePr>
          <p:cNvPr id="13" name="תרשים 4"/>
          <p:cNvGraphicFramePr/>
          <p:nvPr>
            <p:extLst>
              <p:ext uri="{D42A27DB-BD31-4B8C-83A1-F6EECF244321}">
                <p14:modId xmlns:p14="http://schemas.microsoft.com/office/powerpoint/2010/main" val="4241462507"/>
              </p:ext>
            </p:extLst>
          </p:nvPr>
        </p:nvGraphicFramePr>
        <p:xfrm>
          <a:off x="2051720" y="2996952"/>
          <a:ext cx="54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תרשים 21"/>
          <p:cNvGraphicFramePr/>
          <p:nvPr>
            <p:extLst>
              <p:ext uri="{D42A27DB-BD31-4B8C-83A1-F6EECF244321}">
                <p14:modId xmlns:p14="http://schemas.microsoft.com/office/powerpoint/2010/main" val="1474448766"/>
              </p:ext>
            </p:extLst>
          </p:nvPr>
        </p:nvGraphicFramePr>
        <p:xfrm>
          <a:off x="2123728" y="2924944"/>
          <a:ext cx="54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748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Graphic spid="1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pPr algn="ctr"/>
            <a:r>
              <a:rPr lang="he-IL" dirty="0" smtClean="0"/>
              <a:t>רגרסיה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he-IL" sz="2800" dirty="0" smtClean="0"/>
              <a:t>שיטה לניתוח הקשר (עוצמה וכיוון) בין משתנים</a:t>
            </a:r>
          </a:p>
          <a:p>
            <a:pPr algn="just">
              <a:lnSpc>
                <a:spcPct val="150000"/>
              </a:lnSpc>
            </a:pPr>
            <a:r>
              <a:rPr lang="he-IL" sz="2800" dirty="0" smtClean="0"/>
              <a:t>מאפשרת ניבוי של משתנה אחד על סמך משתנה אחר</a:t>
            </a:r>
          </a:p>
          <a:p>
            <a:pPr algn="just">
              <a:lnSpc>
                <a:spcPct val="150000"/>
              </a:lnSpc>
            </a:pPr>
            <a:r>
              <a:rPr lang="he-IL" sz="2800" u="sng" dirty="0" smtClean="0"/>
              <a:t>אם יש קשר קווי בין </a:t>
            </a:r>
            <a:r>
              <a:rPr lang="en-US" sz="2800" u="sng" dirty="0" smtClean="0"/>
              <a:t>x</a:t>
            </a:r>
            <a:r>
              <a:rPr lang="he-IL" sz="2800" u="sng" dirty="0" smtClean="0"/>
              <a:t> ו-</a:t>
            </a:r>
            <a:r>
              <a:rPr lang="en-US" sz="2800" u="sng" dirty="0" smtClean="0"/>
              <a:t>y</a:t>
            </a:r>
            <a:r>
              <a:rPr lang="he-IL" sz="2800" u="sng" dirty="0" smtClean="0"/>
              <a:t>, נוסחת הרגרסיה הינה: </a:t>
            </a:r>
          </a:p>
          <a:p>
            <a:pPr algn="just">
              <a:lnSpc>
                <a:spcPct val="150000"/>
              </a:lnSpc>
            </a:pPr>
            <a:endParaRPr lang="he-IL" sz="2800" u="sng" dirty="0" smtClean="0"/>
          </a:p>
          <a:p>
            <a:pPr algn="just">
              <a:lnSpc>
                <a:spcPct val="150000"/>
              </a:lnSpc>
              <a:buNone/>
            </a:pPr>
            <a:endParaRPr lang="he-IL" sz="2800" dirty="0" smtClean="0"/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graphicFrame>
        <p:nvGraphicFramePr>
          <p:cNvPr id="2406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173740"/>
              </p:ext>
            </p:extLst>
          </p:nvPr>
        </p:nvGraphicFramePr>
        <p:xfrm>
          <a:off x="2843213" y="4131447"/>
          <a:ext cx="32242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7" name="Equation" r:id="rId3" imgW="787320" imgH="228600" progId="Equation.3">
                  <p:embed/>
                </p:oleObj>
              </mc:Choice>
              <mc:Fallback>
                <p:oleObj name="Equation" r:id="rId3" imgW="7873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131447"/>
                        <a:ext cx="3224212" cy="93662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מחבר חץ ישר 7"/>
          <p:cNvCxnSpPr/>
          <p:nvPr/>
        </p:nvCxnSpPr>
        <p:spPr>
          <a:xfrm>
            <a:off x="5653585" y="4894776"/>
            <a:ext cx="482352" cy="410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45983" y="5230941"/>
            <a:ext cx="151216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שיפוע קו הרגרסיה</a:t>
            </a:r>
            <a:endParaRPr lang="en-US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1" name="מחבר חץ ישר 10"/>
          <p:cNvCxnSpPr/>
          <p:nvPr/>
        </p:nvCxnSpPr>
        <p:spPr>
          <a:xfrm flipH="1">
            <a:off x="3356078" y="4888052"/>
            <a:ext cx="50405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63688" y="5131824"/>
            <a:ext cx="23047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rgbClr val="FF0000"/>
                </a:solidFill>
              </a:rPr>
              <a:t>חיתוך קו הרגרסיה עם ציר </a:t>
            </a:r>
            <a:r>
              <a:rPr lang="en-US" b="1" dirty="0" smtClean="0">
                <a:solidFill>
                  <a:srgbClr val="FF0000"/>
                </a:solidFill>
              </a:rPr>
              <a:t>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6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95536" y="476672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e-IL" dirty="0" smtClean="0"/>
              <a:t>ממוצע המשכורות בשתי חברות זהה ועומד על 8,000 ש"ח. על סמך נתון זה בלבד, באיזה חברה תבחרו לעבוד?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וכעת?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26" y="3717032"/>
            <a:ext cx="8522947" cy="276782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10" y="3720196"/>
            <a:ext cx="8522947" cy="27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6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849886" y="144016"/>
            <a:ext cx="4042594" cy="908720"/>
          </a:xfrm>
        </p:spPr>
        <p:txBody>
          <a:bodyPr/>
          <a:lstStyle/>
          <a:p>
            <a:pPr>
              <a:buNone/>
            </a:pPr>
            <a:r>
              <a:rPr lang="he-IL" sz="2800" dirty="0" smtClean="0"/>
              <a:t>קשר </a:t>
            </a:r>
            <a:r>
              <a:rPr lang="he-IL" sz="2800" dirty="0"/>
              <a:t>חיובי בין המשתנים</a:t>
            </a:r>
            <a:endParaRPr lang="en-US" sz="2800" dirty="0"/>
          </a:p>
        </p:txBody>
      </p:sp>
      <p:grpSp>
        <p:nvGrpSpPr>
          <p:cNvPr id="2" name="קבוצה 9"/>
          <p:cNvGrpSpPr/>
          <p:nvPr/>
        </p:nvGrpSpPr>
        <p:grpSpPr>
          <a:xfrm>
            <a:off x="4860032" y="620688"/>
            <a:ext cx="4032423" cy="3023617"/>
            <a:chOff x="1763713" y="2133600"/>
            <a:chExt cx="5473700" cy="4391025"/>
          </a:xfrm>
        </p:grpSpPr>
        <p:graphicFrame>
          <p:nvGraphicFramePr>
            <p:cNvPr id="11" name="Object 6"/>
            <p:cNvGraphicFramePr>
              <a:graphicFrameLocks noGrp="1" noChangeAspect="1"/>
            </p:cNvGraphicFramePr>
            <p:nvPr>
              <p:ph sz="half" idx="2"/>
            </p:nvPr>
          </p:nvGraphicFramePr>
          <p:xfrm>
            <a:off x="1763713" y="2133600"/>
            <a:ext cx="5473700" cy="439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54" name="תרשים" r:id="rId4" imgW="3943278" imgH="3057510" progId="Excel.Sheet.8">
                    <p:embed/>
                  </p:oleObj>
                </mc:Choice>
                <mc:Fallback>
                  <p:oleObj name="תרשים" r:id="rId4" imgW="3943278" imgH="3057510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713" y="2133600"/>
                          <a:ext cx="5473700" cy="439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מלבן 11"/>
            <p:cNvSpPr/>
            <p:nvPr/>
          </p:nvSpPr>
          <p:spPr>
            <a:xfrm>
              <a:off x="2051720" y="3573016"/>
              <a:ext cx="28803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US"/>
            </a:p>
          </p:txBody>
        </p:sp>
        <p:sp>
          <p:nvSpPr>
            <p:cNvPr id="13" name="מלבן 12"/>
            <p:cNvSpPr/>
            <p:nvPr/>
          </p:nvSpPr>
          <p:spPr>
            <a:xfrm>
              <a:off x="4283968" y="5949280"/>
              <a:ext cx="1143744" cy="3684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02085" name="Object 5"/>
          <p:cNvGraphicFramePr>
            <a:graphicFrameLocks noChangeAspect="1"/>
          </p:cNvGraphicFramePr>
          <p:nvPr/>
        </p:nvGraphicFramePr>
        <p:xfrm>
          <a:off x="323528" y="620688"/>
          <a:ext cx="4376160" cy="30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5" name="תרשים" r:id="rId6" imgW="3686091" imgH="2400361" progId="Excel.Sheet.8">
                  <p:embed/>
                </p:oleObj>
              </mc:Choice>
              <mc:Fallback>
                <p:oleObj name="תרשים" r:id="rId6" imgW="3686091" imgH="240036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620688"/>
                        <a:ext cx="4376160" cy="30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 txBox="1">
            <a:spLocks noChangeArrowheads="1"/>
          </p:cNvSpPr>
          <p:nvPr/>
        </p:nvSpPr>
        <p:spPr>
          <a:xfrm>
            <a:off x="467544" y="144016"/>
            <a:ext cx="4042594" cy="69269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אין קשר בין המשתנים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5"/>
          <p:cNvSpPr txBox="1">
            <a:spLocks noChangeArrowheads="1"/>
          </p:cNvSpPr>
          <p:nvPr/>
        </p:nvSpPr>
        <p:spPr>
          <a:xfrm>
            <a:off x="2627784" y="3717032"/>
            <a:ext cx="4402634" cy="90872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קשר שלילי בין המשתנים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02086" name="Object 6"/>
          <p:cNvGraphicFramePr>
            <a:graphicFrameLocks noChangeAspect="1"/>
          </p:cNvGraphicFramePr>
          <p:nvPr/>
        </p:nvGraphicFramePr>
        <p:xfrm>
          <a:off x="2885449" y="4293096"/>
          <a:ext cx="3990807" cy="242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6" name="תרשים" r:id="rId8" imgW="3686091" imgH="2400361" progId="Excel.Sheet.8">
                  <p:embed/>
                </p:oleObj>
              </mc:Choice>
              <mc:Fallback>
                <p:oleObj name="תרשים" r:id="rId8" imgW="3686091" imgH="240036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449" y="4293096"/>
                        <a:ext cx="3990807" cy="242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p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663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he-IL" b="1" u="sng" dirty="0"/>
              <a:t>שאלה </a:t>
            </a:r>
            <a:r>
              <a:rPr lang="en-US" b="1" u="sng" dirty="0" smtClean="0"/>
              <a:t>1</a:t>
            </a:r>
            <a:endParaRPr lang="he-IL" b="1" u="sng" dirty="0" smtClean="0"/>
          </a:p>
          <a:p>
            <a:pPr marL="0" indent="0">
              <a:buNone/>
            </a:pPr>
            <a:r>
              <a:rPr lang="he-IL" sz="2800" dirty="0" smtClean="0"/>
              <a:t>איזה מבין משוואות הרגרסיה הבאות מתאימה ביותר לתיאור הקשר בין </a:t>
            </a:r>
            <a:r>
              <a:rPr lang="en-US" sz="2800" dirty="0" smtClean="0"/>
              <a:t>Y</a:t>
            </a:r>
            <a:r>
              <a:rPr lang="he-IL" sz="2800" dirty="0" smtClean="0"/>
              <a:t> ל-</a:t>
            </a:r>
            <a:r>
              <a:rPr lang="en-US" sz="2800" dirty="0" smtClean="0"/>
              <a:t>X</a:t>
            </a:r>
            <a:r>
              <a:rPr lang="he-IL" sz="2800" dirty="0" smtClean="0"/>
              <a:t> בדיאגרמת הפיזור הבאה?</a:t>
            </a:r>
            <a:endParaRPr lang="he-IL" sz="2800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45705" t="44899" r="41454" b="32401"/>
          <a:stretch/>
        </p:blipFill>
        <p:spPr>
          <a:xfrm>
            <a:off x="3491880" y="2269210"/>
            <a:ext cx="2151953" cy="2139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6795" y="4492377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2742619" y="2789035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995936" y="4629184"/>
            <a:ext cx="4608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dirty="0" smtClean="0"/>
              <a:t>א. </a:t>
            </a:r>
            <a:r>
              <a:rPr lang="en-US" dirty="0" smtClean="0"/>
              <a:t>Y=-14-0.5X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ב. </a:t>
            </a:r>
            <a:r>
              <a:rPr lang="en-US" dirty="0" smtClean="0"/>
              <a:t>Y=14+0.5X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ג.</a:t>
            </a:r>
            <a:r>
              <a:rPr lang="en-US" dirty="0"/>
              <a:t> </a:t>
            </a:r>
            <a:r>
              <a:rPr lang="en-US" dirty="0" smtClean="0"/>
              <a:t>Y=14-0.5X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ד. </a:t>
            </a:r>
            <a:r>
              <a:rPr lang="en-US" dirty="0" smtClean="0"/>
              <a:t>Y=</a:t>
            </a:r>
            <a:r>
              <a:rPr lang="en-US" dirty="0"/>
              <a:t>-</a:t>
            </a:r>
            <a:r>
              <a:rPr lang="en-US" dirty="0" smtClean="0"/>
              <a:t>14+0.5X</a:t>
            </a:r>
            <a:endParaRPr lang="en-US" dirty="0"/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869158"/>
              </p:ext>
            </p:extLst>
          </p:nvPr>
        </p:nvGraphicFramePr>
        <p:xfrm>
          <a:off x="364568" y="5830770"/>
          <a:ext cx="2531120" cy="735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6" name="Equation" r:id="rId4" imgW="787320" imgH="228600" progId="Equation.3">
                  <p:embed/>
                </p:oleObj>
              </mc:Choice>
              <mc:Fallback>
                <p:oleObj name="Equation" r:id="rId4" imgW="7873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68" y="5830770"/>
                        <a:ext cx="2531120" cy="735284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מחבר חץ ישר 7"/>
          <p:cNvCxnSpPr/>
          <p:nvPr/>
        </p:nvCxnSpPr>
        <p:spPr>
          <a:xfrm flipH="1">
            <a:off x="2413889" y="5280626"/>
            <a:ext cx="328730" cy="628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86535" y="4634295"/>
            <a:ext cx="151216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שיפוע קו הרגרסיה</a:t>
            </a:r>
            <a:endParaRPr lang="en-US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3" name="מחבר חץ ישר 10"/>
          <p:cNvCxnSpPr/>
          <p:nvPr/>
        </p:nvCxnSpPr>
        <p:spPr>
          <a:xfrm>
            <a:off x="1331640" y="5403021"/>
            <a:ext cx="144016" cy="498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5304" y="4400044"/>
            <a:ext cx="151216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rgbClr val="FF0000"/>
                </a:solidFill>
              </a:rPr>
              <a:t>חיתוך קו הרגרסיה עם ציר </a:t>
            </a:r>
            <a:r>
              <a:rPr lang="en-US" b="1" dirty="0" smtClean="0">
                <a:solidFill>
                  <a:srgbClr val="FF0000"/>
                </a:solidFill>
              </a:rPr>
              <a:t>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1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 smtClean="0"/>
              <a:t>נתונה הטבלה הבאה:</a:t>
            </a:r>
          </a:p>
          <a:p>
            <a:endParaRPr lang="he-IL" dirty="0"/>
          </a:p>
          <a:p>
            <a:endParaRPr lang="he-IL" dirty="0" smtClean="0"/>
          </a:p>
          <a:p>
            <a:r>
              <a:rPr lang="he-IL" dirty="0" smtClean="0"/>
              <a:t>מצא את ישר הריבועים הפחותים לניבוי משקל (</a:t>
            </a:r>
            <a:r>
              <a:rPr lang="en-US" dirty="0" smtClean="0"/>
              <a:t>Y</a:t>
            </a:r>
            <a:r>
              <a:rPr lang="he-IL" dirty="0" smtClean="0"/>
              <a:t>) עפ"י גיל (</a:t>
            </a:r>
            <a:r>
              <a:rPr lang="en-US" dirty="0" smtClean="0"/>
              <a:t>X</a:t>
            </a:r>
            <a:r>
              <a:rPr lang="he-IL" dirty="0" smtClean="0"/>
              <a:t>)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966293"/>
              </p:ext>
            </p:extLst>
          </p:nvPr>
        </p:nvGraphicFramePr>
        <p:xfrm>
          <a:off x="457200" y="2276872"/>
          <a:ext cx="7931225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/>
                <a:gridCol w="833197"/>
                <a:gridCol w="1321871"/>
                <a:gridCol w="1321871"/>
                <a:gridCol w="1321871"/>
                <a:gridCol w="1321871"/>
              </a:tblGrid>
              <a:tr h="139040">
                <a:tc>
                  <a:txBody>
                    <a:bodyPr/>
                    <a:lstStyle/>
                    <a:p>
                      <a:r>
                        <a:rPr lang="he-IL" dirty="0" smtClean="0"/>
                        <a:t>גיל (חודשים)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14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משקל (ק"ג)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13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/>
              <a:t>חישוב קו הרגרסיה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 smtClean="0"/>
              <a:t>			</a:t>
            </a:r>
            <a:r>
              <a:rPr lang="he-IL" sz="3600" b="1" dirty="0" smtClean="0">
                <a:solidFill>
                  <a:srgbClr val="FF0000"/>
                </a:solidFill>
              </a:rPr>
              <a:t>	או</a:t>
            </a:r>
            <a:endParaRPr lang="en-GB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01038"/>
              </p:ext>
            </p:extLst>
          </p:nvPr>
        </p:nvGraphicFramePr>
        <p:xfrm>
          <a:off x="2504458" y="3812555"/>
          <a:ext cx="4135084" cy="1935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6" name="Equation" r:id="rId3" imgW="1815840" imgH="850680" progId="Equation.3">
                  <p:embed/>
                </p:oleObj>
              </mc:Choice>
              <mc:Fallback>
                <p:oleObj name="Equation" r:id="rId3" imgW="18158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4458" y="3812555"/>
                        <a:ext cx="4135084" cy="1935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90978"/>
              </p:ext>
            </p:extLst>
          </p:nvPr>
        </p:nvGraphicFramePr>
        <p:xfrm>
          <a:off x="2504458" y="5725535"/>
          <a:ext cx="2088232" cy="598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" name="Equation" r:id="rId5" imgW="799920" imgH="228600" progId="Equation.3">
                  <p:embed/>
                </p:oleObj>
              </mc:Choice>
              <mc:Fallback>
                <p:oleObj name="Equation" r:id="rId5" imgW="799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4458" y="5725535"/>
                        <a:ext cx="2088232" cy="598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072687"/>
              </p:ext>
            </p:extLst>
          </p:nvPr>
        </p:nvGraphicFramePr>
        <p:xfrm>
          <a:off x="2915816" y="1282456"/>
          <a:ext cx="4078288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8" name="Equation" r:id="rId7" imgW="1562040" imgH="482400" progId="Equation.3">
                  <p:embed/>
                </p:oleObj>
              </mc:Choice>
              <mc:Fallback>
                <p:oleObj name="Equation" r:id="rId7" imgW="1562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282456"/>
                        <a:ext cx="4078288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787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b="1" u="sng" dirty="0" smtClean="0"/>
              <a:t>שאלה 3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200" dirty="0" smtClean="0"/>
              <a:t>להלן ציונים בסטטיסטיקה ובמתמטיקה עבור 4 סטודנטים:</a:t>
            </a:r>
          </a:p>
          <a:p>
            <a:pPr marL="0" indent="0">
              <a:lnSpc>
                <a:spcPct val="150000"/>
              </a:lnSpc>
              <a:buNone/>
            </a:pPr>
            <a:endParaRPr lang="he-IL" sz="2200" dirty="0" smtClean="0"/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endParaRPr lang="he-IL" sz="22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200" dirty="0" smtClean="0"/>
              <a:t>א. בנה קו רגרסיה לניבוי הציון במתמטיקה עפ"י הציון בסטטיסטיקה</a:t>
            </a:r>
            <a:endParaRPr lang="en-US" sz="2200" dirty="0" smtClean="0"/>
          </a:p>
          <a:p>
            <a:pPr marL="0" indent="0">
              <a:buNone/>
            </a:pPr>
            <a:r>
              <a:rPr lang="he-IL" sz="2200" dirty="0"/>
              <a:t>ב. בנה קו רגרסיה לניבוי הציון בסטטיסטיקה עפ"י הציון </a:t>
            </a:r>
            <a:r>
              <a:rPr lang="he-IL" sz="2200" dirty="0" smtClean="0"/>
              <a:t>במתמטיקה</a:t>
            </a:r>
          </a:p>
          <a:p>
            <a:pPr marL="0" indent="0">
              <a:buNone/>
            </a:pPr>
            <a:r>
              <a:rPr lang="he-IL" sz="2200" dirty="0"/>
              <a:t>ג. אמוד את הציון בסטטיסטיקה עבור תלמידים שקיבלו 70 ו-80 </a:t>
            </a:r>
            <a:r>
              <a:rPr lang="he-IL" sz="2200" dirty="0" smtClean="0"/>
              <a:t>במתמטיקה</a:t>
            </a:r>
          </a:p>
          <a:p>
            <a:pPr marL="0" indent="0">
              <a:buNone/>
            </a:pPr>
            <a:r>
              <a:rPr lang="he-IL" sz="2200" dirty="0"/>
              <a:t>ד. אמוד את הציון במתמטיקה עבור תלמיד שקיבל 100 בסטטיסטיקה </a:t>
            </a:r>
            <a:endParaRPr lang="he-IL" sz="2200" dirty="0" smtClean="0"/>
          </a:p>
          <a:p>
            <a:pPr marL="0" indent="0">
              <a:buNone/>
            </a:pPr>
            <a:r>
              <a:rPr lang="he-IL" sz="2200" dirty="0"/>
              <a:t>ה. מהו מקדם המתאם בין הציון בסטטיסטיקה והציון במתמטיקה?</a:t>
            </a:r>
          </a:p>
          <a:p>
            <a:pPr marL="0" indent="0">
              <a:buNone/>
            </a:pPr>
            <a:endParaRPr lang="he-IL" sz="2200" dirty="0" smtClean="0"/>
          </a:p>
          <a:p>
            <a:pPr marL="0" indent="0">
              <a:buNone/>
            </a:pPr>
            <a:endParaRPr lang="he-IL" sz="2200" dirty="0" smtClean="0"/>
          </a:p>
          <a:p>
            <a:pPr marL="0" indent="0">
              <a:buNone/>
            </a:pPr>
            <a:endParaRPr lang="he-IL" sz="2200" dirty="0" smtClean="0"/>
          </a:p>
          <a:p>
            <a:pPr marL="0" indent="0">
              <a:lnSpc>
                <a:spcPct val="150000"/>
              </a:lnSpc>
              <a:buNone/>
            </a:pPr>
            <a:endParaRPr lang="en-US" dirty="0" smtClean="0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654114"/>
              </p:ext>
            </p:extLst>
          </p:nvPr>
        </p:nvGraphicFramePr>
        <p:xfrm>
          <a:off x="1403648" y="1628800"/>
          <a:ext cx="6945943" cy="10081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25943"/>
                <a:gridCol w="1080000"/>
                <a:gridCol w="1080000"/>
                <a:gridCol w="1080000"/>
                <a:gridCol w="1080000"/>
              </a:tblGrid>
              <a:tr h="504056">
                <a:tc>
                  <a:txBody>
                    <a:bodyPr/>
                    <a:lstStyle/>
                    <a:p>
                      <a:r>
                        <a:rPr lang="he-IL" dirty="0" smtClean="0"/>
                        <a:t>ציון בסטטיסטיקה</a:t>
                      </a:r>
                      <a:r>
                        <a:rPr lang="en-US" dirty="0" smtClean="0"/>
                        <a:t> </a:t>
                      </a:r>
                      <a:r>
                        <a:rPr lang="he-IL" dirty="0" smtClean="0"/>
                        <a:t>(</a:t>
                      </a:r>
                      <a:r>
                        <a:rPr lang="en-US" dirty="0" smtClean="0"/>
                        <a:t>x</a:t>
                      </a:r>
                      <a:r>
                        <a:rPr lang="he-IL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David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latin typeface="Times New Roman"/>
                          <a:ea typeface="Times New Roman"/>
                          <a:cs typeface="David"/>
                        </a:rPr>
                        <a:t>95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latin typeface="Times New Roman"/>
                          <a:ea typeface="Times New Roman"/>
                          <a:cs typeface="David"/>
                        </a:rPr>
                        <a:t>60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latin typeface="Times New Roman"/>
                          <a:ea typeface="Times New Roman"/>
                          <a:cs typeface="David"/>
                        </a:rPr>
                        <a:t>85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he-IL" dirty="0" smtClean="0"/>
                        <a:t>ציון במתמטיקה (</a:t>
                      </a:r>
                      <a:r>
                        <a:rPr lang="en-US" dirty="0" smtClean="0"/>
                        <a:t>y</a:t>
                      </a:r>
                      <a:r>
                        <a:rPr lang="he-IL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David"/>
                        </a:rPr>
                        <a:t>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David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David"/>
                        </a:rPr>
                        <a:t>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latin typeface="Times New Roman"/>
                          <a:ea typeface="Times New Roman"/>
                          <a:cs typeface="David"/>
                        </a:rPr>
                        <a:t>75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68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2" cstate="print"/>
          <a:srcRect r="26173" b="11801"/>
          <a:stretch>
            <a:fillRect/>
          </a:stretch>
        </p:blipFill>
        <p:spPr bwMode="auto">
          <a:xfrm>
            <a:off x="755576" y="476672"/>
            <a:ext cx="8023749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788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/>
          <a:srcRect r="28024" b="13461"/>
          <a:stretch>
            <a:fillRect/>
          </a:stretch>
        </p:blipFill>
        <p:spPr bwMode="auto">
          <a:xfrm>
            <a:off x="539552" y="404664"/>
            <a:ext cx="8316416" cy="5858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181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ja-JP" dirty="0"/>
              <a:t>מקדם המתאם </a:t>
            </a:r>
            <a:r>
              <a:rPr lang="he-IL" altLang="ja-JP" dirty="0" smtClean="0"/>
              <a:t>– 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R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e-IL" altLang="ja-JP" sz="2400" dirty="0"/>
              <a:t>מתאים למשתנים </a:t>
            </a:r>
            <a:r>
              <a:rPr lang="he-IL" altLang="ja-JP" sz="2400" dirty="0" smtClean="0"/>
              <a:t>כמותיים</a:t>
            </a:r>
            <a:endParaRPr lang="he-IL" altLang="ja-JP" sz="2400" dirty="0"/>
          </a:p>
          <a:p>
            <a:pPr>
              <a:lnSpc>
                <a:spcPct val="150000"/>
              </a:lnSpc>
            </a:pPr>
            <a:r>
              <a:rPr lang="he-IL" altLang="ja-JP" sz="2400" dirty="0" smtClean="0"/>
              <a:t>מודד </a:t>
            </a:r>
            <a:r>
              <a:rPr lang="he-IL" altLang="ja-JP" sz="2400" dirty="0"/>
              <a:t>את מידת הקשר הקווי בין </a:t>
            </a:r>
            <a:r>
              <a:rPr lang="he-IL" altLang="ja-JP" sz="2400" dirty="0" smtClean="0"/>
              <a:t>המשתנים</a:t>
            </a:r>
            <a:endParaRPr lang="he-IL" altLang="ja-JP" sz="2400" dirty="0"/>
          </a:p>
          <a:p>
            <a:pPr>
              <a:lnSpc>
                <a:spcPct val="150000"/>
              </a:lnSpc>
            </a:pPr>
            <a:r>
              <a:rPr lang="he-IL" altLang="ja-JP" sz="2400" dirty="0" smtClean="0"/>
              <a:t>מקבל </a:t>
            </a:r>
            <a:r>
              <a:rPr lang="he-IL" altLang="ja-JP" sz="2400" dirty="0"/>
              <a:t>ערכים בין (1-) </a:t>
            </a:r>
            <a:r>
              <a:rPr lang="he-IL" altLang="ja-JP" sz="2400" dirty="0" smtClean="0"/>
              <a:t>ל-1:</a:t>
            </a:r>
          </a:p>
          <a:p>
            <a:pPr lvl="1">
              <a:lnSpc>
                <a:spcPct val="150000"/>
              </a:lnSpc>
            </a:pPr>
            <a:r>
              <a:rPr lang="he-IL" altLang="ja-JP" sz="2400" dirty="0" smtClean="0"/>
              <a:t>ערך שלילי: קשר שלילי בין המשתנים</a:t>
            </a:r>
          </a:p>
          <a:p>
            <a:pPr lvl="1">
              <a:lnSpc>
                <a:spcPct val="150000"/>
              </a:lnSpc>
            </a:pPr>
            <a:r>
              <a:rPr lang="he-IL" altLang="ja-JP" sz="2400" dirty="0" smtClean="0"/>
              <a:t>ערך חיובי: קשר חיובי בין המשתנים</a:t>
            </a:r>
            <a:endParaRPr lang="he-IL" altLang="ja-JP" sz="2400" dirty="0"/>
          </a:p>
          <a:p>
            <a:pPr>
              <a:lnSpc>
                <a:spcPct val="150000"/>
              </a:lnSpc>
            </a:pPr>
            <a:r>
              <a:rPr lang="he-IL" altLang="ja-JP" sz="2400" dirty="0" smtClean="0"/>
              <a:t>ככל </a:t>
            </a:r>
            <a:r>
              <a:rPr lang="he-IL" altLang="ja-JP" sz="2400" dirty="0"/>
              <a:t>שהמדד בערך מוחלט גבוה יותר, הקשר חזק </a:t>
            </a:r>
            <a:r>
              <a:rPr lang="he-IL" altLang="ja-JP" sz="2400" dirty="0" smtClean="0"/>
              <a:t>יותר</a:t>
            </a:r>
            <a:endParaRPr lang="en-GB" sz="2400" dirty="0"/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231689"/>
              </p:ext>
            </p:extLst>
          </p:nvPr>
        </p:nvGraphicFramePr>
        <p:xfrm>
          <a:off x="3203848" y="5257801"/>
          <a:ext cx="29845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6" name="Equation" r:id="rId4" imgW="1206360" imgH="444240" progId="Equation.3">
                  <p:embed/>
                </p:oleObj>
              </mc:Choice>
              <mc:Fallback>
                <p:oleObj name="Equation" r:id="rId4" imgW="1206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257801"/>
                        <a:ext cx="2984500" cy="109855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31000"/>
                        </a:schemeClr>
                      </a:soli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057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0833" y="116632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b="1" u="sng" dirty="0" smtClean="0"/>
              <a:t>שאלה 4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בכדי לחקור את השפעת הגיל על הסיכון לחלות באלצהיימר, חוקרים בארה"ב אספו נתונים מ-10,000 אנשים בגילאי 65-100. להלן הממצאים: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endParaRPr lang="en-US" dirty="0" smtClean="0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933917"/>
              </p:ext>
            </p:extLst>
          </p:nvPr>
        </p:nvGraphicFramePr>
        <p:xfrm>
          <a:off x="1519716" y="2883648"/>
          <a:ext cx="6945942" cy="114413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72587"/>
                <a:gridCol w="934671"/>
                <a:gridCol w="934671"/>
                <a:gridCol w="934671"/>
                <a:gridCol w="934671"/>
                <a:gridCol w="934671"/>
              </a:tblGrid>
              <a:tr h="504056">
                <a:tc>
                  <a:txBody>
                    <a:bodyPr/>
                    <a:lstStyle/>
                    <a:p>
                      <a:r>
                        <a:rPr lang="he-IL" dirty="0" smtClean="0"/>
                        <a:t>טווח גילאים (</a:t>
                      </a:r>
                      <a:r>
                        <a:rPr lang="en-US" dirty="0" smtClean="0"/>
                        <a:t>x</a:t>
                      </a:r>
                      <a:r>
                        <a:rPr lang="he-IL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65-69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70-74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75-79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80-84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85-89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he-IL" dirty="0" smtClean="0"/>
                        <a:t>אחוז חולים באלצהיימר (</a:t>
                      </a:r>
                      <a:r>
                        <a:rPr lang="en-US" dirty="0" smtClean="0"/>
                        <a:t>y</a:t>
                      </a:r>
                      <a:r>
                        <a:rPr lang="he-IL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1.4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2.8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6.6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11.1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latin typeface="Times New Roman"/>
                          <a:ea typeface="Times New Roman"/>
                          <a:cs typeface="David"/>
                        </a:rPr>
                        <a:t>23.6</a:t>
                      </a:r>
                      <a:endParaRPr lang="en-US" sz="2200" dirty="0"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5" name="Picture 2" descr="http://209.61.208.233/Image/oth_Regional_Health_Forum_chp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98" y="4365104"/>
            <a:ext cx="3537902" cy="224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860032" y="4869160"/>
            <a:ext cx="3744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GB" sz="16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Alzheimer’s Disease International</a:t>
            </a:r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 Factsheet 3, April 1999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542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3528" y="260648"/>
            <a:ext cx="8674321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2600" dirty="0" smtClean="0"/>
              <a:t>א. בנה </a:t>
            </a:r>
            <a:r>
              <a:rPr lang="he-IL" sz="2600" dirty="0"/>
              <a:t>קו רגרסיה </a:t>
            </a:r>
            <a:r>
              <a:rPr lang="he-IL" sz="2600" dirty="0" smtClean="0"/>
              <a:t>המתאר את הסיכון לחלות באלצהיימר כפונקציה של גיל</a:t>
            </a:r>
          </a:p>
          <a:p>
            <a:endParaRPr lang="he-IL" sz="2600" dirty="0" smtClean="0"/>
          </a:p>
          <a:p>
            <a:endParaRPr lang="he-IL" sz="2600" dirty="0" smtClean="0"/>
          </a:p>
          <a:p>
            <a:r>
              <a:rPr lang="he-IL" sz="2600" dirty="0"/>
              <a:t>ב. עפ"י הנתונים, מהו הסיכוי של אדם בגיל 120 לחלות במחלה</a:t>
            </a:r>
          </a:p>
          <a:p>
            <a:endParaRPr lang="he-IL" sz="2600" dirty="0" smtClean="0"/>
          </a:p>
          <a:p>
            <a:endParaRPr lang="he-IL" sz="2600" dirty="0"/>
          </a:p>
          <a:p>
            <a:r>
              <a:rPr lang="he-IL" sz="2600" dirty="0"/>
              <a:t>ג. מהו הסיכוי של אדם בן 40 לחלות במחלה</a:t>
            </a:r>
            <a:r>
              <a:rPr lang="he-IL" sz="2600" dirty="0" smtClean="0"/>
              <a:t>?</a:t>
            </a:r>
          </a:p>
          <a:p>
            <a:endParaRPr lang="he-IL" sz="2600" dirty="0" smtClean="0"/>
          </a:p>
          <a:p>
            <a:endParaRPr lang="he-IL" sz="2600" dirty="0"/>
          </a:p>
          <a:p>
            <a:r>
              <a:rPr lang="he-IL" sz="2400" dirty="0"/>
              <a:t>ד. מהו המתאם בין גיל ובין הסיכון לחלות באלצהיימר? </a:t>
            </a:r>
          </a:p>
          <a:p>
            <a:endParaRPr lang="he-IL" sz="2600" dirty="0"/>
          </a:p>
          <a:p>
            <a:endParaRPr lang="he-IL" sz="2600" dirty="0" smtClean="0"/>
          </a:p>
          <a:p>
            <a:endParaRPr lang="en-GB" sz="2600" dirty="0"/>
          </a:p>
        </p:txBody>
      </p:sp>
      <p:sp>
        <p:nvSpPr>
          <p:cNvPr id="5" name="Rectangle 4"/>
          <p:cNvSpPr/>
          <p:nvPr/>
        </p:nvSpPr>
        <p:spPr>
          <a:xfrm>
            <a:off x="251520" y="1196752"/>
            <a:ext cx="867432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he-IL" sz="2600" dirty="0"/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428683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3318</TotalTime>
  <Words>417</Words>
  <Application>Microsoft Office PowerPoint</Application>
  <PresentationFormat>On-screen Show (4:3)</PresentationFormat>
  <Paragraphs>109</Paragraphs>
  <Slides>14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ＭＳ Ｐゴシック</vt:lpstr>
      <vt:lpstr>Arial</vt:lpstr>
      <vt:lpstr>Calibri</vt:lpstr>
      <vt:lpstr>David</vt:lpstr>
      <vt:lpstr>Tahoma</vt:lpstr>
      <vt:lpstr>Times New Roman</vt:lpstr>
      <vt:lpstr>Verdana</vt:lpstr>
      <vt:lpstr>ערכת נושא Office</vt:lpstr>
      <vt:lpstr>Equation</vt:lpstr>
      <vt:lpstr>תרשים</vt:lpstr>
      <vt:lpstr>מבוא לסטטיסטיקה והסתברות</vt:lpstr>
      <vt:lpstr>רגרסיה</vt:lpstr>
      <vt:lpstr>רגרסיה</vt:lpstr>
      <vt:lpstr>PowerPoint Presentation</vt:lpstr>
      <vt:lpstr>PowerPoint Presentation</vt:lpstr>
      <vt:lpstr>PowerPoint Presentation</vt:lpstr>
      <vt:lpstr>שאלה 2</vt:lpstr>
      <vt:lpstr>חישוב קו הרגרסיה</vt:lpstr>
      <vt:lpstr>PowerPoint Presentation</vt:lpstr>
      <vt:lpstr>PowerPoint Presentation</vt:lpstr>
      <vt:lpstr>PowerPoint Presentation</vt:lpstr>
      <vt:lpstr>מקדם המתאם – R</vt:lpstr>
      <vt:lpstr>PowerPoint Presentation</vt:lpstr>
      <vt:lpstr>PowerPoint Presentation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111</cp:revision>
  <dcterms:created xsi:type="dcterms:W3CDTF">2011-10-31T22:07:50Z</dcterms:created>
  <dcterms:modified xsi:type="dcterms:W3CDTF">2015-10-10T21:33:22Z</dcterms:modified>
</cp:coreProperties>
</file>