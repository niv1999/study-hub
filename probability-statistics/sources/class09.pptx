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99" r:id="rId3"/>
    <p:sldId id="424" r:id="rId4"/>
    <p:sldId id="425" r:id="rId5"/>
    <p:sldId id="426" r:id="rId6"/>
    <p:sldId id="427" r:id="rId7"/>
    <p:sldId id="428" r:id="rId8"/>
    <p:sldId id="430" r:id="rId9"/>
    <p:sldId id="431" r:id="rId10"/>
    <p:sldId id="436" r:id="rId11"/>
    <p:sldId id="433" r:id="rId12"/>
    <p:sldId id="434" r:id="rId13"/>
    <p:sldId id="437" r:id="rId14"/>
    <p:sldId id="444" r:id="rId15"/>
    <p:sldId id="456" r:id="rId16"/>
    <p:sldId id="457" r:id="rId17"/>
    <p:sldId id="458" r:id="rId18"/>
    <p:sldId id="459" r:id="rId19"/>
    <p:sldId id="460" r:id="rId20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aara" initials="YS" lastIdx="1" clrIdx="0"/>
  <p:cmAuthor id="1" name="yaara s" initials="ys" lastIdx="1" clrIdx="1">
    <p:extLst>
      <p:ext uri="{19B8F6BF-5375-455C-9EA6-DF929625EA0E}">
        <p15:presenceInfo xmlns:p15="http://schemas.microsoft.com/office/powerpoint/2012/main" userId="yaara 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ללא סגנון, ללא רשת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סגנון בהיר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4B1156A-380E-4F78-BDF5-A606A8083BF9}" styleName="סגנון ביניים 4 - הדגשה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265" autoAdjust="0"/>
    <p:restoredTop sz="84211" autoAdjust="0"/>
  </p:normalViewPr>
  <p:slideViewPr>
    <p:cSldViewPr>
      <p:cViewPr varScale="1">
        <p:scale>
          <a:sx n="91" d="100"/>
          <a:sy n="91" d="100"/>
        </p:scale>
        <p:origin x="97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image" Target="../media/image16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12" Type="http://schemas.openxmlformats.org/officeDocument/2006/relationships/image" Target="../media/image15.wmf"/><Relationship Id="rId17" Type="http://schemas.openxmlformats.org/officeDocument/2006/relationships/image" Target="../media/image20.wmf"/><Relationship Id="rId2" Type="http://schemas.openxmlformats.org/officeDocument/2006/relationships/image" Target="../media/image5.wmf"/><Relationship Id="rId16" Type="http://schemas.openxmlformats.org/officeDocument/2006/relationships/image" Target="../media/image19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11" Type="http://schemas.openxmlformats.org/officeDocument/2006/relationships/image" Target="../media/image14.wmf"/><Relationship Id="rId5" Type="http://schemas.openxmlformats.org/officeDocument/2006/relationships/image" Target="../media/image8.wmf"/><Relationship Id="rId15" Type="http://schemas.openxmlformats.org/officeDocument/2006/relationships/image" Target="../media/image18.wmf"/><Relationship Id="rId10" Type="http://schemas.openxmlformats.org/officeDocument/2006/relationships/image" Target="../media/image13.wmf"/><Relationship Id="rId4" Type="http://schemas.openxmlformats.org/officeDocument/2006/relationships/image" Target="../media/image7.wmf"/><Relationship Id="rId9" Type="http://schemas.openxmlformats.org/officeDocument/2006/relationships/image" Target="../media/image12.wmf"/><Relationship Id="rId14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CEBD65CB-48E8-480E-A0E5-0F4F671C7C4B}" type="datetimeFigureOut">
              <a:rPr lang="en-US" smtClean="0"/>
              <a:pPr/>
              <a:t>8/26/2015</a:t>
            </a:fld>
            <a:endParaRPr lang="en-US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US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5763812F-8A06-48A8-8436-7483109B6D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25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התפלגות </a:t>
            </a:r>
            <a:r>
              <a:rPr lang="he-IL" dirty="0" err="1" smtClean="0"/>
              <a:t>פואסון</a:t>
            </a:r>
            <a:r>
              <a:rPr lang="he-IL" baseline="0" dirty="0" smtClean="0"/>
              <a:t> - 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נוצרת כאשר סופרים אירועים שמתרחשים בפרק זמן נתון</a:t>
            </a:r>
          </a:p>
          <a:p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התפלגות מעריכית – מתאימה </a:t>
            </a:r>
            <a:r>
              <a:rPr lang="he-I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למדל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את הזמן הבין מופעי</a:t>
            </a:r>
            <a:r>
              <a:rPr lang="he-I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בין האירועים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02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התפלגות </a:t>
            </a:r>
            <a:r>
              <a:rPr lang="he-IL" dirty="0" err="1" smtClean="0"/>
              <a:t>פואסון</a:t>
            </a:r>
            <a:r>
              <a:rPr lang="he-IL" baseline="0" dirty="0" smtClean="0"/>
              <a:t> - 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נוצרת כאשר סופרים אירועים שמתרחשים בפרק זמן נתון</a:t>
            </a:r>
          </a:p>
          <a:p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התפלגות מעריכית – מתאימה </a:t>
            </a:r>
            <a:r>
              <a:rPr lang="he-I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למדל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את הזמן הבין מופעי</a:t>
            </a:r>
            <a:r>
              <a:rPr lang="he-I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בין האירועים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53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התפלגות </a:t>
            </a:r>
            <a:r>
              <a:rPr lang="he-IL" dirty="0" err="1" smtClean="0"/>
              <a:t>פואסון</a:t>
            </a:r>
            <a:r>
              <a:rPr lang="he-IL" baseline="0" dirty="0" smtClean="0"/>
              <a:t> - 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נוצרת כאשר סופרים אירועים שמתרחשים בפרק זמן נתון</a:t>
            </a:r>
          </a:p>
          <a:p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התפלגות מעריכית – מתאימה </a:t>
            </a:r>
            <a:r>
              <a:rPr lang="he-I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למדל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את הזמן הבין מופעי</a:t>
            </a:r>
            <a:r>
              <a:rPr lang="he-I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בין האירועים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395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התפלגות </a:t>
            </a:r>
            <a:r>
              <a:rPr lang="he-IL" dirty="0" err="1" smtClean="0"/>
              <a:t>פואסון</a:t>
            </a:r>
            <a:r>
              <a:rPr lang="he-IL" baseline="0" dirty="0" smtClean="0"/>
              <a:t> - 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נוצרת כאשר סופרים אירועים שמתרחשים בפרק זמן נתון</a:t>
            </a:r>
          </a:p>
          <a:p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התפלגות מעריכית – מתאימה </a:t>
            </a:r>
            <a:r>
              <a:rPr lang="he-I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למדל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את הזמן הבין מופעי</a:t>
            </a:r>
            <a:r>
              <a:rPr lang="he-I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בין האירועים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03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התפלגות </a:t>
            </a:r>
            <a:r>
              <a:rPr lang="he-IL" dirty="0" err="1" smtClean="0"/>
              <a:t>פואסון</a:t>
            </a:r>
            <a:r>
              <a:rPr lang="he-IL" baseline="0" dirty="0" smtClean="0"/>
              <a:t> - 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נוצרת כאשר סופרים אירועים שמתרחשים בפרק זמן נתון</a:t>
            </a:r>
          </a:p>
          <a:p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התפלגות מעריכית – מתאימה </a:t>
            </a:r>
            <a:r>
              <a:rPr lang="he-I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למדל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את הזמן הבין מופעי</a:t>
            </a:r>
            <a:r>
              <a:rPr lang="he-I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בין האירועים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334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התפלגות </a:t>
            </a:r>
            <a:r>
              <a:rPr lang="he-IL" dirty="0" err="1" smtClean="0"/>
              <a:t>פואסון</a:t>
            </a:r>
            <a:r>
              <a:rPr lang="he-IL" baseline="0" dirty="0" smtClean="0"/>
              <a:t> - 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נוצרת כאשר סופרים אירועים שמתרחשים בפרק זמן נתון</a:t>
            </a:r>
          </a:p>
          <a:p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התפלגות מעריכית – מתאימה </a:t>
            </a:r>
            <a:r>
              <a:rPr lang="he-I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למדל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את הזמן הבין מופעי</a:t>
            </a:r>
            <a:r>
              <a:rPr lang="he-I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בין האירועים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87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התפלגות </a:t>
            </a:r>
            <a:r>
              <a:rPr lang="he-IL" dirty="0" err="1" smtClean="0"/>
              <a:t>פואסון</a:t>
            </a:r>
            <a:r>
              <a:rPr lang="he-IL" baseline="0" dirty="0" smtClean="0"/>
              <a:t> - 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נוצרת כאשר סופרים אירועים שמתרחשים בפרק זמן נתון</a:t>
            </a:r>
          </a:p>
          <a:p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התפלגות מעריכית – מתאימה </a:t>
            </a:r>
            <a:r>
              <a:rPr lang="he-IL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למדל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את הזמן הבין מופעי</a:t>
            </a:r>
            <a:r>
              <a:rPr lang="he-IL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בין האירועים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44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8/26/2015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8/26/2015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8/26/2015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8/26/2015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8/26/2015</a:t>
            </a:fld>
            <a:endParaRPr lang="en-US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8/26/2015</a:t>
            </a:fld>
            <a:endParaRPr lang="en-US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8/26/2015</a:t>
            </a:fld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8/26/2015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8/26/2015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8/26/2015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8/26/2015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673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994122"/>
          </a:xfrm>
        </p:spPr>
        <p:txBody>
          <a:bodyPr anchor="t">
            <a:normAutofit/>
          </a:bodyPr>
          <a:lstStyle>
            <a:lvl1pPr algn="r">
              <a:defRPr sz="2800" b="1" u="sng"/>
            </a:lvl1pPr>
          </a:lstStyle>
          <a:p>
            <a:r>
              <a:rPr lang="he-IL" dirty="0" smtClean="0"/>
              <a:t>לחץ כדי לערוך סגנון כותרת של תבנית בסיס</a:t>
            </a:r>
            <a:br>
              <a:rPr lang="he-IL" dirty="0" smtClean="0"/>
            </a:br>
            <a:endParaRPr lang="en-US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087591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600"/>
            </a:lvl1pPr>
            <a:lvl2pPr>
              <a:lnSpc>
                <a:spcPct val="150000"/>
              </a:lnSpc>
              <a:defRPr sz="2600"/>
            </a:lvl2pPr>
            <a:lvl3pPr>
              <a:lnSpc>
                <a:spcPct val="150000"/>
              </a:lnSpc>
              <a:defRPr sz="2600"/>
            </a:lvl3pPr>
            <a:lvl4pPr>
              <a:lnSpc>
                <a:spcPct val="150000"/>
              </a:lnSpc>
              <a:defRPr sz="2600"/>
            </a:lvl4pPr>
            <a:lvl5pPr>
              <a:lnSpc>
                <a:spcPct val="150000"/>
              </a:lnSpc>
              <a:defRPr sz="2600"/>
            </a:lvl5pPr>
          </a:lstStyle>
          <a:p>
            <a:pPr lvl="0"/>
            <a:r>
              <a:rPr lang="he-IL" dirty="0" smtClean="0"/>
              <a:t>לחץ כדי לערוך סגנונות טקסט של תבנית בסיס</a:t>
            </a:r>
          </a:p>
          <a:p>
            <a:pPr lvl="1"/>
            <a:r>
              <a:rPr lang="he-IL" dirty="0" smtClean="0"/>
              <a:t>רמה שנייה</a:t>
            </a:r>
          </a:p>
          <a:p>
            <a:pPr lvl="2"/>
            <a:r>
              <a:rPr lang="he-IL" dirty="0" smtClean="0"/>
              <a:t>רמה שלישית</a:t>
            </a:r>
          </a:p>
          <a:p>
            <a:pPr lvl="3"/>
            <a:r>
              <a:rPr lang="he-IL" dirty="0" smtClean="0"/>
              <a:t>רמה רביעית</a:t>
            </a:r>
          </a:p>
          <a:p>
            <a:pPr lvl="4"/>
            <a:r>
              <a:rPr lang="he-IL" dirty="0" smtClean="0"/>
              <a:t>רמה חמישית</a:t>
            </a:r>
            <a:endParaRPr lang="en-US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2504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880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2603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2019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90666"/>
          </a:xfrm>
        </p:spPr>
        <p:txBody>
          <a:bodyPr anchor="t">
            <a:normAutofit/>
          </a:bodyPr>
          <a:lstStyle>
            <a:lvl1pPr algn="r">
              <a:defRPr sz="2800" b="1"/>
            </a:lvl1pPr>
          </a:lstStyle>
          <a:p>
            <a:r>
              <a:rPr lang="he-IL" dirty="0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26418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6911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9451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4889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2983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225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37C78-363E-4A5D-BEBD-B88A33B7E228}" type="datetimeFigureOut">
              <a:rPr lang="en-US" smtClean="0"/>
              <a:pPr/>
              <a:t>8/26/2015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dirty="0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938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8.wmf"/><Relationship Id="rId18" Type="http://schemas.openxmlformats.org/officeDocument/2006/relationships/oleObject" Target="../embeddings/oleObject11.bin"/><Relationship Id="rId26" Type="http://schemas.openxmlformats.org/officeDocument/2006/relationships/oleObject" Target="../embeddings/oleObject15.bin"/><Relationship Id="rId39" Type="http://schemas.openxmlformats.org/officeDocument/2006/relationships/image" Target="../media/image19.wmf"/><Relationship Id="rId3" Type="http://schemas.openxmlformats.org/officeDocument/2006/relationships/image" Target="../media/image21.jpeg"/><Relationship Id="rId21" Type="http://schemas.openxmlformats.org/officeDocument/2006/relationships/image" Target="../media/image12.wmf"/><Relationship Id="rId34" Type="http://schemas.openxmlformats.org/officeDocument/2006/relationships/oleObject" Target="../embeddings/oleObject19.bin"/><Relationship Id="rId7" Type="http://schemas.openxmlformats.org/officeDocument/2006/relationships/image" Target="../media/image5.wmf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10.wmf"/><Relationship Id="rId25" Type="http://schemas.openxmlformats.org/officeDocument/2006/relationships/image" Target="../media/image14.wmf"/><Relationship Id="rId33" Type="http://schemas.openxmlformats.org/officeDocument/2006/relationships/image" Target="../media/image23.png"/><Relationship Id="rId38" Type="http://schemas.openxmlformats.org/officeDocument/2006/relationships/oleObject" Target="../embeddings/oleObject21.bin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10.bin"/><Relationship Id="rId20" Type="http://schemas.openxmlformats.org/officeDocument/2006/relationships/oleObject" Target="../embeddings/oleObject12.bin"/><Relationship Id="rId29" Type="http://schemas.openxmlformats.org/officeDocument/2006/relationships/oleObject" Target="../embeddings/oleObject17.bin"/><Relationship Id="rId41" Type="http://schemas.openxmlformats.org/officeDocument/2006/relationships/image" Target="../media/image20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7.wmf"/><Relationship Id="rId24" Type="http://schemas.openxmlformats.org/officeDocument/2006/relationships/oleObject" Target="../embeddings/oleObject14.bin"/><Relationship Id="rId32" Type="http://schemas.openxmlformats.org/officeDocument/2006/relationships/image" Target="../media/image22.png"/><Relationship Id="rId37" Type="http://schemas.openxmlformats.org/officeDocument/2006/relationships/image" Target="../media/image18.wmf"/><Relationship Id="rId40" Type="http://schemas.openxmlformats.org/officeDocument/2006/relationships/oleObject" Target="../embeddings/oleObject22.bin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23" Type="http://schemas.openxmlformats.org/officeDocument/2006/relationships/image" Target="../media/image13.wmf"/><Relationship Id="rId28" Type="http://schemas.openxmlformats.org/officeDocument/2006/relationships/oleObject" Target="../embeddings/oleObject16.bin"/><Relationship Id="rId36" Type="http://schemas.openxmlformats.org/officeDocument/2006/relationships/oleObject" Target="../embeddings/oleObject20.bin"/><Relationship Id="rId10" Type="http://schemas.openxmlformats.org/officeDocument/2006/relationships/oleObject" Target="../embeddings/oleObject7.bin"/><Relationship Id="rId19" Type="http://schemas.openxmlformats.org/officeDocument/2006/relationships/image" Target="../media/image11.wmf"/><Relationship Id="rId31" Type="http://schemas.openxmlformats.org/officeDocument/2006/relationships/oleObject" Target="../embeddings/oleObject18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9.bin"/><Relationship Id="rId22" Type="http://schemas.openxmlformats.org/officeDocument/2006/relationships/oleObject" Target="../embeddings/oleObject13.bin"/><Relationship Id="rId27" Type="http://schemas.openxmlformats.org/officeDocument/2006/relationships/image" Target="../media/image15.wmf"/><Relationship Id="rId30" Type="http://schemas.openxmlformats.org/officeDocument/2006/relationships/image" Target="../media/image16.wmf"/><Relationship Id="rId35" Type="http://schemas.openxmlformats.org/officeDocument/2006/relationships/image" Target="../media/image17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3568" y="83671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he-IL" sz="5200" b="1" u="sng" dirty="0" smtClean="0">
                <a:solidFill>
                  <a:schemeClr val="accent4"/>
                </a:solidFill>
                <a:latin typeface="Tahoma" pitchFamily="34" charset="0"/>
                <a:cs typeface="Tahoma" pitchFamily="34" charset="0"/>
              </a:rPr>
              <a:t>מבוא לסטטיסטיקה והסתברות</a:t>
            </a:r>
            <a:endParaRPr lang="en-US" sz="5200" b="1" u="sng" dirty="0">
              <a:solidFill>
                <a:schemeClr val="accent4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31640" y="2900536"/>
            <a:ext cx="6400800" cy="1752600"/>
          </a:xfrm>
        </p:spPr>
        <p:txBody>
          <a:bodyPr>
            <a:normAutofit/>
          </a:bodyPr>
          <a:lstStyle/>
          <a:p>
            <a:r>
              <a:rPr lang="he-IL" sz="3600" b="1" dirty="0" smtClean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תרגיל חזרה</a:t>
            </a:r>
            <a:endParaRPr lang="en-US" sz="3600" b="1" dirty="0">
              <a:solidFill>
                <a:schemeClr val="tx1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73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7584" y="44624"/>
            <a:ext cx="8064896" cy="60170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/>
            <a:r>
              <a:rPr lang="he-IL" sz="2200" b="1" u="sng" dirty="0" smtClean="0"/>
              <a:t>שאלה </a:t>
            </a:r>
            <a:r>
              <a:rPr lang="he-IL" sz="2200" b="1" u="sng" dirty="0" smtClean="0"/>
              <a:t>1</a:t>
            </a:r>
            <a:endParaRPr lang="en-US" sz="2200" b="1" u="sng" dirty="0" smtClean="0"/>
          </a:p>
          <a:p>
            <a:pPr algn="just">
              <a:lnSpc>
                <a:spcPct val="150000"/>
              </a:lnSpc>
            </a:pPr>
            <a:r>
              <a:rPr lang="he-IL" sz="2200" b="1" dirty="0" smtClean="0"/>
              <a:t>750 </a:t>
            </a:r>
            <a:r>
              <a:rPr lang="he-IL" sz="2200" b="1" dirty="0" smtClean="0"/>
              <a:t>הורים ישראלים נדגמו באקראי ונשאלו באיזה גיל נולד ילדם הראשון. להלן התוצאות. </a:t>
            </a:r>
            <a:endParaRPr lang="en-US" sz="2200" b="1" dirty="0" smtClean="0"/>
          </a:p>
          <a:p>
            <a:pPr algn="just">
              <a:lnSpc>
                <a:spcPct val="150000"/>
              </a:lnSpc>
            </a:pPr>
            <a:r>
              <a:rPr lang="he-IL" sz="2200" dirty="0" smtClean="0"/>
              <a:t>א. מצא </a:t>
            </a:r>
            <a:r>
              <a:rPr lang="he-IL" sz="2200" dirty="0" smtClean="0"/>
              <a:t>שכיח, ממוצע, סטיית תקן, חציון, וטווח בין רבעוני</a:t>
            </a:r>
          </a:p>
          <a:p>
            <a:pPr algn="just">
              <a:lnSpc>
                <a:spcPct val="150000"/>
              </a:lnSpc>
            </a:pPr>
            <a:r>
              <a:rPr lang="he-IL" sz="2200" dirty="0" smtClean="0"/>
              <a:t>ב. על סמך נתוני המדגם, בנה רווח סמך עבור ברמת ביטחון של 95% עבור הגיל הממוצע להולדת ילד ראשון בישראל</a:t>
            </a:r>
            <a:endParaRPr lang="en-US" sz="2200" dirty="0" smtClean="0"/>
          </a:p>
          <a:p>
            <a:pPr algn="just">
              <a:lnSpc>
                <a:spcPct val="150000"/>
              </a:lnSpc>
            </a:pPr>
            <a:r>
              <a:rPr lang="he-IL" sz="2200" dirty="0" smtClean="0"/>
              <a:t>ג. נמצא שהגיל הממוצע להולדת ילד ראשון בדנמרק הינו 28. האם ברמת ביטחון של 95% ניתן לקבוע כי גיל זה שונה מהגיל הממוצע בישראל. האם ניתן לקבוע ברמת</a:t>
            </a:r>
          </a:p>
          <a:p>
            <a:pPr algn="just">
              <a:lnSpc>
                <a:spcPct val="150000"/>
              </a:lnSpc>
            </a:pPr>
            <a:r>
              <a:rPr lang="he-IL" sz="2200" dirty="0" smtClean="0"/>
              <a:t>ביטחון זו שהוא גדול מהגיל הממוצע </a:t>
            </a:r>
          </a:p>
          <a:p>
            <a:pPr algn="just">
              <a:lnSpc>
                <a:spcPct val="150000"/>
              </a:lnSpc>
            </a:pPr>
            <a:r>
              <a:rPr lang="he-IL" sz="2200" dirty="0" smtClean="0"/>
              <a:t>בישראל?</a:t>
            </a:r>
          </a:p>
          <a:p>
            <a:pPr algn="just">
              <a:lnSpc>
                <a:spcPct val="150000"/>
              </a:lnSpc>
            </a:pPr>
            <a:endParaRPr lang="he-IL" sz="2200" dirty="0" smtClean="0"/>
          </a:p>
        </p:txBody>
      </p:sp>
      <p:graphicFrame>
        <p:nvGraphicFramePr>
          <p:cNvPr id="5" name="Group 38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323636809"/>
              </p:ext>
            </p:extLst>
          </p:nvPr>
        </p:nvGraphicFramePr>
        <p:xfrm>
          <a:off x="144016" y="4077072"/>
          <a:ext cx="3347864" cy="2611207"/>
        </p:xfrm>
        <a:graphic>
          <a:graphicData uri="http://schemas.openxmlformats.org/drawingml/2006/table">
            <a:tbl>
              <a:tblPr rtl="1">
                <a:tableStyleId>{08FB837D-C827-4EFA-A057-4D05807E0F7C}</a:tableStyleId>
              </a:tblPr>
              <a:tblGrid>
                <a:gridCol w="1673932"/>
                <a:gridCol w="1673932"/>
              </a:tblGrid>
              <a:tr h="335035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גיל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מס' אנשים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</a:tr>
              <a:tr h="450503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16-20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</a:tr>
              <a:tr h="448736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21-25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</a:tr>
              <a:tr h="448736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26-27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</a:tr>
              <a:tr h="448736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 pitchFamily="34" charset="0"/>
                        </a:rPr>
                        <a:t>28-29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ahoma" pitchFamily="34" charset="0"/>
                        </a:rPr>
                        <a:t>250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</a:tr>
              <a:tr h="448736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30-32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8543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7584" y="44624"/>
            <a:ext cx="8064896" cy="66941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he-IL" sz="2200" b="1" u="sng" dirty="0" smtClean="0"/>
              <a:t>שאלה 2</a:t>
            </a:r>
          </a:p>
          <a:p>
            <a:pPr algn="just">
              <a:lnSpc>
                <a:spcPct val="150000"/>
              </a:lnSpc>
            </a:pPr>
            <a:r>
              <a:rPr lang="he-IL" sz="2200" b="1" dirty="0" smtClean="0"/>
              <a:t>נסמן ב-</a:t>
            </a:r>
            <a:r>
              <a:rPr lang="en-US" sz="2200" b="1" dirty="0" smtClean="0"/>
              <a:t>X</a:t>
            </a:r>
            <a:r>
              <a:rPr lang="he-IL" sz="2200" b="1" dirty="0" smtClean="0"/>
              <a:t> את </a:t>
            </a:r>
            <a:r>
              <a:rPr lang="he-IL" sz="2200" b="1" dirty="0"/>
              <a:t>ההכנסה </a:t>
            </a:r>
            <a:r>
              <a:rPr lang="he-IL" sz="2200" b="1" dirty="0" smtClean="0"/>
              <a:t>של </a:t>
            </a:r>
            <a:r>
              <a:rPr lang="he-IL" sz="2200" b="1" dirty="0"/>
              <a:t>משפחה באלפי </a:t>
            </a:r>
            <a:r>
              <a:rPr lang="he-IL" sz="2200" b="1" dirty="0" smtClean="0"/>
              <a:t>₪, וב-</a:t>
            </a:r>
            <a:r>
              <a:rPr lang="en-US" sz="2200" b="1" dirty="0" smtClean="0"/>
              <a:t>Y</a:t>
            </a:r>
            <a:r>
              <a:rPr lang="he-IL" sz="2200" b="1" dirty="0" smtClean="0"/>
              <a:t> את </a:t>
            </a:r>
            <a:r>
              <a:rPr lang="he-IL" sz="2200" b="1" dirty="0"/>
              <a:t>ההוצאות </a:t>
            </a:r>
            <a:r>
              <a:rPr lang="he-IL" sz="2200" b="1" dirty="0" smtClean="0"/>
              <a:t>של </a:t>
            </a:r>
            <a:r>
              <a:rPr lang="he-IL" sz="2200" b="1" dirty="0"/>
              <a:t>משפחה באלפי ₪. </a:t>
            </a:r>
            <a:r>
              <a:rPr lang="he-IL" sz="2200" b="1" dirty="0" smtClean="0"/>
              <a:t>נלקחו 10 </a:t>
            </a:r>
            <a:r>
              <a:rPr lang="he-IL" sz="2200" b="1" dirty="0"/>
              <a:t>משפחות והתקבלו התוצאות הבאות:</a:t>
            </a:r>
          </a:p>
          <a:p>
            <a:pPr algn="just">
              <a:lnSpc>
                <a:spcPct val="150000"/>
              </a:lnSpc>
            </a:pPr>
            <a:endParaRPr lang="he-IL" sz="2200" dirty="0" smtClean="0"/>
          </a:p>
          <a:p>
            <a:pPr algn="just">
              <a:lnSpc>
                <a:spcPct val="150000"/>
              </a:lnSpc>
            </a:pPr>
            <a:endParaRPr lang="he-IL" sz="2200" dirty="0" smtClean="0"/>
          </a:p>
          <a:p>
            <a:pPr algn="just">
              <a:lnSpc>
                <a:spcPct val="150000"/>
              </a:lnSpc>
            </a:pPr>
            <a:endParaRPr lang="he-IL" sz="2200" dirty="0"/>
          </a:p>
          <a:p>
            <a:pPr algn="just">
              <a:lnSpc>
                <a:spcPct val="150000"/>
              </a:lnSpc>
            </a:pPr>
            <a:endParaRPr lang="he-IL" sz="2200" dirty="0" smtClean="0"/>
          </a:p>
          <a:p>
            <a:pPr algn="just">
              <a:lnSpc>
                <a:spcPct val="150000"/>
              </a:lnSpc>
            </a:pPr>
            <a:endParaRPr lang="he-IL" sz="2200" dirty="0" smtClean="0"/>
          </a:p>
          <a:p>
            <a:pPr algn="just">
              <a:lnSpc>
                <a:spcPct val="150000"/>
              </a:lnSpc>
            </a:pPr>
            <a:r>
              <a:rPr lang="he-IL" sz="2200" dirty="0" smtClean="0"/>
              <a:t>א. </a:t>
            </a:r>
            <a:r>
              <a:rPr lang="he-IL" sz="2200" dirty="0"/>
              <a:t>מצא את קו הרגרסיה לניבוי ההוצאה של משפחה על סמך הכנסה שלה. </a:t>
            </a:r>
            <a:endParaRPr lang="he-IL" sz="2200" dirty="0" smtClean="0"/>
          </a:p>
          <a:p>
            <a:pPr algn="just">
              <a:lnSpc>
                <a:spcPct val="150000"/>
              </a:lnSpc>
            </a:pPr>
            <a:r>
              <a:rPr lang="he-IL" sz="2200" dirty="0" smtClean="0"/>
              <a:t>ב. </a:t>
            </a:r>
            <a:r>
              <a:rPr lang="he-IL" sz="2200" dirty="0"/>
              <a:t>משפחת כהן הכניסה 15,000 ₪, מה ההוצאה הצפויה שלה</a:t>
            </a:r>
            <a:r>
              <a:rPr lang="he-IL" sz="2200" dirty="0" smtClean="0"/>
              <a:t>?</a:t>
            </a:r>
            <a:endParaRPr lang="en-US" sz="2200" dirty="0" smtClean="0"/>
          </a:p>
          <a:p>
            <a:pPr algn="just">
              <a:lnSpc>
                <a:spcPct val="150000"/>
              </a:lnSpc>
            </a:pPr>
            <a:r>
              <a:rPr lang="he-IL" sz="2200" dirty="0" smtClean="0"/>
              <a:t>ג. מהו מקדם המתאם בין הכנסה והוצאה משפחתית?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4449"/>
              </p:ext>
            </p:extLst>
          </p:nvPr>
        </p:nvGraphicFramePr>
        <p:xfrm>
          <a:off x="2195736" y="1844824"/>
          <a:ext cx="2232248" cy="269263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116124"/>
                <a:gridCol w="1116124"/>
              </a:tblGrid>
              <a:tr h="0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400" u="none" strike="noStrike" dirty="0">
                          <a:effectLst/>
                        </a:rPr>
                        <a:t>הוצאות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400" u="none" strike="noStrike" dirty="0">
                          <a:effectLst/>
                        </a:rPr>
                        <a:t>הכנסות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47165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10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10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47165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9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47165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9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9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47165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47165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13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15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47165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20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30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47165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15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20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47165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17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25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47165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16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24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247165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10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12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5208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 smtClean="0"/>
              <a:t>חישוב קו הרגרסיה</a:t>
            </a:r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he-IL" dirty="0" smtClean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he-IL" dirty="0" smtClean="0"/>
              <a:t>או</a:t>
            </a:r>
            <a:endParaRPr lang="en-GB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755576" y="3820276"/>
          <a:ext cx="4135084" cy="1935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37" name="Equation" r:id="rId3" imgW="1815840" imgH="850680" progId="Equation.3">
                  <p:embed/>
                </p:oleObj>
              </mc:Choice>
              <mc:Fallback>
                <p:oleObj name="Equation" r:id="rId3" imgW="181584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3820276"/>
                        <a:ext cx="4135084" cy="19356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755576" y="5733256"/>
          <a:ext cx="2088232" cy="598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38" name="Equation" r:id="rId5" imgW="799920" imgH="228600" progId="Equation.3">
                  <p:embed/>
                </p:oleObj>
              </mc:Choice>
              <mc:Fallback>
                <p:oleObj name="Equation" r:id="rId5" imgW="7999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5733256"/>
                        <a:ext cx="2088232" cy="5981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086457"/>
              </p:ext>
            </p:extLst>
          </p:nvPr>
        </p:nvGraphicFramePr>
        <p:xfrm>
          <a:off x="971600" y="1700808"/>
          <a:ext cx="4078288" cy="1262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39" name="Equation" r:id="rId7" imgW="1562040" imgH="482400" progId="Equation.3">
                  <p:embed/>
                </p:oleObj>
              </mc:Choice>
              <mc:Fallback>
                <p:oleObj name="Equation" r:id="rId7" imgW="156204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1700808"/>
                        <a:ext cx="4078288" cy="1262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2466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7584" y="44624"/>
            <a:ext cx="8064896" cy="60016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he-IL" sz="2200" b="1" u="sng" dirty="0" smtClean="0"/>
              <a:t>שאלה </a:t>
            </a:r>
            <a:r>
              <a:rPr lang="en-US" sz="2200" b="1" u="sng" dirty="0" smtClean="0"/>
              <a:t>3</a:t>
            </a:r>
            <a:endParaRPr lang="he-IL" sz="2200" b="1" u="sng" dirty="0" smtClean="0"/>
          </a:p>
          <a:p>
            <a:pPr algn="just">
              <a:lnSpc>
                <a:spcPct val="150000"/>
              </a:lnSpc>
            </a:pPr>
            <a:r>
              <a:rPr lang="he-IL" sz="2400" b="1" dirty="0"/>
              <a:t>להלן ציוניהם הן בחלק הפתוח והן בחלק הסגור במבחן בסטטיסטיקה של </a:t>
            </a:r>
            <a:r>
              <a:rPr lang="he-IL" sz="2400" b="1" dirty="0" smtClean="0"/>
              <a:t>10</a:t>
            </a:r>
            <a:r>
              <a:rPr lang="en-US" sz="2400" b="1" dirty="0" smtClean="0"/>
              <a:t> </a:t>
            </a:r>
            <a:r>
              <a:rPr lang="he-IL" sz="2400" b="1" dirty="0" smtClean="0"/>
              <a:t>תלמידים </a:t>
            </a:r>
            <a:r>
              <a:rPr lang="he-IL" sz="2400" b="1" dirty="0"/>
              <a:t>אשר נדגמו מקרית</a:t>
            </a:r>
            <a:r>
              <a:rPr lang="he-IL" sz="2400" b="1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he-IL" sz="2400" dirty="0"/>
          </a:p>
          <a:p>
            <a:pPr algn="just">
              <a:lnSpc>
                <a:spcPct val="150000"/>
              </a:lnSpc>
            </a:pPr>
            <a:endParaRPr lang="he-IL" sz="2400" dirty="0" smtClean="0"/>
          </a:p>
          <a:p>
            <a:pPr algn="just">
              <a:lnSpc>
                <a:spcPct val="150000"/>
              </a:lnSpc>
            </a:pPr>
            <a:endParaRPr lang="he-IL" sz="2400" dirty="0"/>
          </a:p>
          <a:p>
            <a:pPr algn="just">
              <a:lnSpc>
                <a:spcPct val="150000"/>
              </a:lnSpc>
            </a:pPr>
            <a:endParaRPr lang="he-IL" sz="2400" dirty="0" smtClean="0"/>
          </a:p>
          <a:p>
            <a:pPr algn="just">
              <a:lnSpc>
                <a:spcPct val="150000"/>
              </a:lnSpc>
            </a:pPr>
            <a:endParaRPr lang="he-IL" sz="2200" dirty="0" smtClean="0"/>
          </a:p>
          <a:p>
            <a:pPr algn="just">
              <a:lnSpc>
                <a:spcPct val="150000"/>
              </a:lnSpc>
            </a:pPr>
            <a:endParaRPr lang="he-IL" sz="2200" dirty="0"/>
          </a:p>
          <a:p>
            <a:pPr algn="just">
              <a:lnSpc>
                <a:spcPct val="150000"/>
              </a:lnSpc>
            </a:pPr>
            <a:r>
              <a:rPr lang="he-IL" sz="2200" dirty="0" smtClean="0"/>
              <a:t>מהו </a:t>
            </a:r>
            <a:r>
              <a:rPr lang="he-IL" sz="2200" dirty="0" smtClean="0"/>
              <a:t>הציון המנובא של סטודנט אשר קיבל 30 בחלק הסגור?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899840"/>
              </p:ext>
            </p:extLst>
          </p:nvPr>
        </p:nvGraphicFramePr>
        <p:xfrm>
          <a:off x="3419872" y="1916832"/>
          <a:ext cx="3312368" cy="30099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936104"/>
                <a:gridCol w="1224136"/>
                <a:gridCol w="1152128"/>
              </a:tblGrid>
              <a:tr h="182880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מס' סטודנט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ציון </a:t>
                      </a:r>
                      <a:r>
                        <a:rPr lang="he-IL" sz="1600" b="1" u="none" strike="noStrike" dirty="0" smtClean="0">
                          <a:effectLst/>
                        </a:rPr>
                        <a:t>חלק פתוח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ציון </a:t>
                      </a:r>
                      <a:r>
                        <a:rPr lang="he-IL" sz="1600" b="1" u="none" strike="noStrike" dirty="0" smtClean="0">
                          <a:effectLst/>
                        </a:rPr>
                        <a:t>חלק סגור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41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45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2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30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38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39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50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38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60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26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22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41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52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36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21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40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9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40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59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10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39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36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1370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7584" y="44624"/>
            <a:ext cx="8064896" cy="517064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he-IL" sz="2200" b="1" u="sng" dirty="0" smtClean="0"/>
              <a:t>שאלה 4</a:t>
            </a:r>
          </a:p>
          <a:p>
            <a:pPr algn="just">
              <a:lnSpc>
                <a:spcPct val="150000"/>
              </a:lnSpc>
            </a:pPr>
            <a:r>
              <a:rPr lang="he-IL" sz="2200" b="1" dirty="0"/>
              <a:t>שתי מפלגות רצות לכנסת הבאה. </a:t>
            </a:r>
            <a:r>
              <a:rPr lang="he-IL" sz="2200" b="1" dirty="0" smtClean="0"/>
              <a:t>למפלגה א' סיכוי של 0.25 לעבור </a:t>
            </a:r>
            <a:r>
              <a:rPr lang="he-IL" sz="2200" b="1" dirty="0"/>
              <a:t>את אחוז </a:t>
            </a:r>
            <a:r>
              <a:rPr lang="he-IL" sz="2200" b="1" dirty="0" smtClean="0"/>
              <a:t>החסימה, ולמפלגה ב' הסתברות </a:t>
            </a:r>
            <a:r>
              <a:rPr lang="he-IL" sz="2200" b="1" dirty="0"/>
              <a:t>של </a:t>
            </a:r>
            <a:r>
              <a:rPr lang="he-IL" sz="2200" b="1" dirty="0" smtClean="0"/>
              <a:t>0.20 לעבור את אחוז החסימה</a:t>
            </a:r>
          </a:p>
          <a:p>
            <a:pPr algn="just">
              <a:lnSpc>
                <a:spcPct val="150000"/>
              </a:lnSpc>
            </a:pPr>
            <a:endParaRPr lang="he-IL" sz="2200" dirty="0" smtClean="0"/>
          </a:p>
          <a:p>
            <a:pPr algn="just">
              <a:lnSpc>
                <a:spcPct val="150000"/>
              </a:lnSpc>
            </a:pPr>
            <a:r>
              <a:rPr lang="he-IL" sz="2200" dirty="0" smtClean="0"/>
              <a:t>א</a:t>
            </a:r>
            <a:r>
              <a:rPr lang="he-IL" sz="2200" dirty="0"/>
              <a:t>. מה ההסתברות שלפחות אחת מהמפלגות תעבור את אחוז החסימה?</a:t>
            </a:r>
          </a:p>
          <a:p>
            <a:pPr algn="just">
              <a:lnSpc>
                <a:spcPct val="150000"/>
              </a:lnSpc>
            </a:pPr>
            <a:r>
              <a:rPr lang="he-IL" sz="2200" dirty="0"/>
              <a:t>ב. מה ההסתברות </a:t>
            </a:r>
            <a:r>
              <a:rPr lang="he-IL" sz="2200" dirty="0" smtClean="0"/>
              <a:t>שאף אחת מהמפלגות לא תעבור את אחוז החסימה?</a:t>
            </a:r>
            <a:endParaRPr lang="he-IL" sz="2200" dirty="0"/>
          </a:p>
          <a:p>
            <a:pPr algn="just">
              <a:lnSpc>
                <a:spcPct val="150000"/>
              </a:lnSpc>
            </a:pPr>
            <a:r>
              <a:rPr lang="he-IL" sz="2200" dirty="0"/>
              <a:t>ג. מה ההסתברות שרק </a:t>
            </a:r>
            <a:r>
              <a:rPr lang="he-IL" sz="2200" dirty="0" smtClean="0"/>
              <a:t>מפלגה א' תעבור </a:t>
            </a:r>
            <a:r>
              <a:rPr lang="he-IL" sz="2200" dirty="0"/>
              <a:t>את אחוז החסימה?</a:t>
            </a:r>
            <a:endParaRPr lang="he-IL" sz="2200" b="1" u="sng" dirty="0" smtClean="0"/>
          </a:p>
        </p:txBody>
      </p:sp>
    </p:spTree>
    <p:extLst>
      <p:ext uri="{BB962C8B-B14F-4D97-AF65-F5344CB8AC3E}">
        <p14:creationId xmlns:p14="http://schemas.microsoft.com/office/powerpoint/2010/main" val="543022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44624"/>
            <a:ext cx="8892480" cy="66018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he-IL" sz="2200" b="1" u="sng" dirty="0" smtClean="0"/>
              <a:t>שאלה 5</a:t>
            </a:r>
          </a:p>
          <a:p>
            <a:pPr>
              <a:lnSpc>
                <a:spcPct val="150000"/>
              </a:lnSpc>
            </a:pPr>
            <a:r>
              <a:rPr lang="he-IL" sz="2000" b="1" dirty="0"/>
              <a:t>מתוך אזרחי המדינה הבוגרים ל- 30% חשבון בבנק הפועלים. ל 28% חשבון בבנק לאומי </a:t>
            </a:r>
            <a:r>
              <a:rPr lang="he-IL" sz="2000" b="1" dirty="0" smtClean="0"/>
              <a:t>ול-15</a:t>
            </a:r>
            <a:r>
              <a:rPr lang="he-IL" sz="2000" b="1" dirty="0"/>
              <a:t>% חשבון בבנק מזרחי. </a:t>
            </a:r>
            <a:endParaRPr lang="he-IL" sz="2000" b="1" dirty="0" smtClean="0"/>
          </a:p>
          <a:p>
            <a:pPr>
              <a:lnSpc>
                <a:spcPct val="150000"/>
              </a:lnSpc>
            </a:pPr>
            <a:r>
              <a:rPr lang="he-IL" sz="2000" b="1" dirty="0" smtClean="0"/>
              <a:t>כמו </a:t>
            </a:r>
            <a:r>
              <a:rPr lang="he-IL" sz="2000" b="1" dirty="0"/>
              <a:t>כן נתון כי 6% מחזיקים חשבון בבנק לאומי ובבנק הפועלים. </a:t>
            </a:r>
            <a:r>
              <a:rPr lang="he-IL" sz="2000" b="1" dirty="0" smtClean="0"/>
              <a:t>ל-5</a:t>
            </a:r>
            <a:r>
              <a:rPr lang="he-IL" sz="2000" b="1" dirty="0"/>
              <a:t>% חשבון בבנק פועלים ומזרחי. </a:t>
            </a:r>
            <a:r>
              <a:rPr lang="he-IL" sz="2000" b="1" dirty="0" smtClean="0"/>
              <a:t>ול- </a:t>
            </a:r>
            <a:r>
              <a:rPr lang="he-IL" sz="2000" b="1" dirty="0"/>
              <a:t>4</a:t>
            </a:r>
            <a:r>
              <a:rPr lang="he-IL" sz="2000" b="1" dirty="0" smtClean="0"/>
              <a:t>% </a:t>
            </a:r>
            <a:r>
              <a:rPr lang="he-IL" sz="2000" b="1" dirty="0"/>
              <a:t>חשבון בבנק לאומי ומזרחי. כמו כן </a:t>
            </a:r>
            <a:r>
              <a:rPr lang="he-IL" sz="2000" b="1" dirty="0" smtClean="0"/>
              <a:t>ל- </a:t>
            </a:r>
            <a:r>
              <a:rPr lang="he-IL" sz="2000" b="1" dirty="0"/>
              <a:t>1</a:t>
            </a:r>
            <a:r>
              <a:rPr lang="he-IL" sz="2000" b="1" dirty="0" smtClean="0"/>
              <a:t>% מהאוכלוסייה </a:t>
            </a:r>
            <a:r>
              <a:rPr lang="he-IL" sz="2000" b="1" dirty="0"/>
              <a:t>הבוגרת חשבון בנק בשלושת הבנקים יחד</a:t>
            </a:r>
            <a:r>
              <a:rPr lang="he-IL" sz="2000" b="1" dirty="0" smtClean="0"/>
              <a:t>.</a:t>
            </a:r>
          </a:p>
          <a:p>
            <a:pPr>
              <a:lnSpc>
                <a:spcPct val="150000"/>
              </a:lnSpc>
            </a:pPr>
            <a:endParaRPr lang="he-IL" sz="2000" b="1" dirty="0" smtClean="0"/>
          </a:p>
          <a:p>
            <a:pPr>
              <a:lnSpc>
                <a:spcPct val="150000"/>
              </a:lnSpc>
            </a:pPr>
            <a:r>
              <a:rPr lang="he-IL" sz="2000" dirty="0" smtClean="0"/>
              <a:t>א</a:t>
            </a:r>
            <a:r>
              <a:rPr lang="he-IL" sz="2000" dirty="0"/>
              <a:t>. מה אחוז האזרחים להם חשבון בבנק לאומי בלבד?</a:t>
            </a:r>
          </a:p>
          <a:p>
            <a:pPr>
              <a:lnSpc>
                <a:spcPct val="150000"/>
              </a:lnSpc>
            </a:pPr>
            <a:r>
              <a:rPr lang="he-IL" sz="2000" dirty="0"/>
              <a:t>ב. מה ההסתברות שאזרח </a:t>
            </a:r>
            <a:r>
              <a:rPr lang="he-IL" sz="2000" dirty="0" smtClean="0"/>
              <a:t>יחזיק </a:t>
            </a:r>
            <a:r>
              <a:rPr lang="he-IL" sz="2000" dirty="0"/>
              <a:t>חשבון </a:t>
            </a:r>
            <a:r>
              <a:rPr lang="he-IL" sz="2000" dirty="0" smtClean="0"/>
              <a:t>בפועלים </a:t>
            </a:r>
            <a:r>
              <a:rPr lang="he-IL" sz="2000" dirty="0"/>
              <a:t>ולאומי אבל לא </a:t>
            </a:r>
            <a:r>
              <a:rPr lang="he-IL" sz="2000" dirty="0" smtClean="0"/>
              <a:t>במזרחי</a:t>
            </a:r>
            <a:r>
              <a:rPr lang="he-IL" sz="2000" dirty="0"/>
              <a:t>?</a:t>
            </a:r>
          </a:p>
          <a:p>
            <a:pPr>
              <a:lnSpc>
                <a:spcPct val="150000"/>
              </a:lnSpc>
            </a:pPr>
            <a:r>
              <a:rPr lang="he-IL" sz="2000" dirty="0"/>
              <a:t>ג. מה ההסתברות שלאזרח יהיה חשבון בפועלים או במזרחי אבל לא </a:t>
            </a:r>
            <a:r>
              <a:rPr lang="he-IL" sz="2000" dirty="0" smtClean="0"/>
              <a:t>בלאומי</a:t>
            </a:r>
            <a:r>
              <a:rPr lang="he-IL" sz="2000" dirty="0"/>
              <a:t>?</a:t>
            </a:r>
          </a:p>
          <a:p>
            <a:pPr>
              <a:lnSpc>
                <a:spcPct val="150000"/>
              </a:lnSpc>
            </a:pPr>
            <a:r>
              <a:rPr lang="he-IL" sz="2000" dirty="0"/>
              <a:t>ד. מה אחוז האזרחים שיש להם חשבון בנק אחד בלבד?</a:t>
            </a:r>
          </a:p>
          <a:p>
            <a:pPr>
              <a:lnSpc>
                <a:spcPct val="150000"/>
              </a:lnSpc>
            </a:pPr>
            <a:r>
              <a:rPr lang="he-IL" sz="2000" dirty="0"/>
              <a:t>ה. מה אחוז האזרחים שיש להם בדיוק חשבון בשני בנקים בלבד?</a:t>
            </a:r>
          </a:p>
          <a:p>
            <a:pPr>
              <a:lnSpc>
                <a:spcPct val="150000"/>
              </a:lnSpc>
            </a:pPr>
            <a:r>
              <a:rPr lang="he-IL" sz="2000" dirty="0"/>
              <a:t>ו. מה ההסתברות שלאזרח בוגר אין חשבון בנק באף אחד מהבנקים הללו?</a:t>
            </a:r>
          </a:p>
          <a:p>
            <a:pPr>
              <a:lnSpc>
                <a:spcPct val="150000"/>
              </a:lnSpc>
            </a:pPr>
            <a:r>
              <a:rPr lang="he-IL" sz="2000" dirty="0"/>
              <a:t>ז. לאיזה אחוז מהאזרחים יש חשבון בנק בלפחות אחד מהבנקים הללו?</a:t>
            </a:r>
            <a:endParaRPr lang="he-IL" sz="2000" b="1" u="sng" dirty="0" smtClean="0"/>
          </a:p>
        </p:txBody>
      </p:sp>
    </p:spTree>
    <p:extLst>
      <p:ext uri="{BB962C8B-B14F-4D97-AF65-F5344CB8AC3E}">
        <p14:creationId xmlns:p14="http://schemas.microsoft.com/office/powerpoint/2010/main" val="3613169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7584" y="44624"/>
            <a:ext cx="8064896" cy="533992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he-IL" sz="2200" b="1" u="sng" dirty="0" smtClean="0"/>
              <a:t>שאלה 6</a:t>
            </a:r>
          </a:p>
          <a:p>
            <a:pPr algn="just">
              <a:lnSpc>
                <a:spcPct val="150000"/>
              </a:lnSpc>
            </a:pPr>
            <a:r>
              <a:rPr lang="he-IL" sz="2200" b="1" dirty="0"/>
              <a:t>בחברה מסוימת 10% מוגדרים בכירים והיתר מוגדרים </a:t>
            </a:r>
            <a:r>
              <a:rPr lang="he-IL" sz="2200" b="1" dirty="0" smtClean="0"/>
              <a:t>זוטרים.</a:t>
            </a:r>
            <a:endParaRPr lang="he-IL" sz="2200" b="1" dirty="0"/>
          </a:p>
          <a:p>
            <a:pPr algn="just">
              <a:lnSpc>
                <a:spcPct val="150000"/>
              </a:lnSpc>
            </a:pPr>
            <a:r>
              <a:rPr lang="he-IL" sz="2200" b="1" dirty="0"/>
              <a:t>מבין הבכירים 70% הם אקדמאים ומבין הזוטרים 20% הם </a:t>
            </a:r>
            <a:r>
              <a:rPr lang="he-IL" sz="2200" b="1" dirty="0" smtClean="0"/>
              <a:t>אקדמאים. נבחר </a:t>
            </a:r>
            <a:r>
              <a:rPr lang="he-IL" sz="2200" b="1" dirty="0"/>
              <a:t>אדם באקראי מאותה חברה</a:t>
            </a:r>
            <a:r>
              <a:rPr lang="he-IL" sz="2200" b="1" dirty="0" smtClean="0"/>
              <a:t>.</a:t>
            </a:r>
          </a:p>
          <a:p>
            <a:endParaRPr lang="he-IL" sz="2200" dirty="0" smtClean="0"/>
          </a:p>
          <a:p>
            <a:pPr>
              <a:lnSpc>
                <a:spcPct val="150000"/>
              </a:lnSpc>
            </a:pPr>
            <a:r>
              <a:rPr lang="he-IL" sz="2200" dirty="0" smtClean="0"/>
              <a:t>א</a:t>
            </a:r>
            <a:r>
              <a:rPr lang="he-IL" sz="2200" dirty="0"/>
              <a:t>. מה הסיכוי שהוא בכיר אקדמאי ?</a:t>
            </a:r>
          </a:p>
          <a:p>
            <a:pPr>
              <a:lnSpc>
                <a:spcPct val="150000"/>
              </a:lnSpc>
            </a:pPr>
            <a:r>
              <a:rPr lang="he-IL" sz="2200" dirty="0" smtClean="0"/>
              <a:t>ב</a:t>
            </a:r>
            <a:r>
              <a:rPr lang="he-IL" sz="2200" dirty="0"/>
              <a:t>. מה הסיכוי שהוא זוטר לא </a:t>
            </a:r>
            <a:r>
              <a:rPr lang="he-IL" sz="2200" dirty="0" smtClean="0"/>
              <a:t>אקדמאי?</a:t>
            </a:r>
          </a:p>
          <a:p>
            <a:pPr>
              <a:lnSpc>
                <a:spcPct val="150000"/>
              </a:lnSpc>
            </a:pPr>
            <a:r>
              <a:rPr lang="he-IL" sz="2200" dirty="0" smtClean="0"/>
              <a:t>ג. מה </a:t>
            </a:r>
            <a:r>
              <a:rPr lang="he-IL" sz="2200" dirty="0"/>
              <a:t>הסיכוי שהוא אקדמאי ?</a:t>
            </a:r>
          </a:p>
          <a:p>
            <a:pPr>
              <a:lnSpc>
                <a:spcPct val="150000"/>
              </a:lnSpc>
            </a:pPr>
            <a:r>
              <a:rPr lang="he-IL" sz="2200" dirty="0" smtClean="0"/>
              <a:t>ד</a:t>
            </a:r>
            <a:r>
              <a:rPr lang="he-IL" sz="2200" dirty="0"/>
              <a:t>. נבחר אקדמאי מה ההסתברות שהוא עובד זוטר?</a:t>
            </a:r>
          </a:p>
          <a:p>
            <a:endParaRPr lang="he-IL" sz="2200" dirty="0"/>
          </a:p>
        </p:txBody>
      </p:sp>
    </p:spTree>
    <p:extLst>
      <p:ext uri="{BB962C8B-B14F-4D97-AF65-F5344CB8AC3E}">
        <p14:creationId xmlns:p14="http://schemas.microsoft.com/office/powerpoint/2010/main" val="261928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טבלה 3"/>
          <p:cNvGraphicFramePr>
            <a:graphicFrameLocks noGrp="1"/>
          </p:cNvGraphicFramePr>
          <p:nvPr>
            <p:extLst/>
          </p:nvPr>
        </p:nvGraphicFramePr>
        <p:xfrm>
          <a:off x="814224" y="836712"/>
          <a:ext cx="7848872" cy="5899355"/>
        </p:xfrm>
        <a:graphic>
          <a:graphicData uri="http://schemas.openxmlformats.org/drawingml/2006/table">
            <a:tbl>
              <a:tblPr rtl="1"/>
              <a:tblGrid>
                <a:gridCol w="1564801"/>
                <a:gridCol w="2028992"/>
                <a:gridCol w="1683612"/>
                <a:gridCol w="2571467"/>
              </a:tblGrid>
              <a:tr h="950947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>
                          <a:latin typeface="Times New Roman"/>
                          <a:ea typeface="Calibri"/>
                          <a:cs typeface="Tahoma"/>
                        </a:rPr>
                        <a:t>משפחת </a:t>
                      </a: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התפלגות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(פרמטרים</a:t>
                      </a:r>
                      <a:r>
                        <a:rPr lang="he-IL" sz="1400" b="1" cap="all" dirty="0"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dirty="0">
                          <a:latin typeface="Times New Roman"/>
                          <a:ea typeface="Times New Roman"/>
                          <a:cs typeface="Tahoma"/>
                        </a:rPr>
                        <a:t>פונקצית צפיפות </a:t>
                      </a:r>
                      <a:r>
                        <a:rPr lang="he-IL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>ההסתברות</a:t>
                      </a:r>
                      <a: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/>
                      </a:r>
                      <a:b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</a:br>
                      <a: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>p(x</a:t>
                      </a:r>
                      <a:r>
                        <a:rPr lang="en-US" sz="1400" b="1" dirty="0">
                          <a:latin typeface="Times New Roman"/>
                          <a:ea typeface="Times New Roman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תוחלת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en-US" sz="1400" b="1" cap="all" dirty="0" smtClean="0">
                          <a:latin typeface="Tahoma"/>
                          <a:ea typeface="Calibri"/>
                          <a:cs typeface="Tahoma"/>
                        </a:rPr>
                        <a:t>E(x</a:t>
                      </a:r>
                      <a:r>
                        <a:rPr lang="en-US" sz="1400" b="1" cap="all" dirty="0">
                          <a:latin typeface="Tahoma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שונות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en-US" sz="1400" b="1" cap="all" dirty="0" err="1" smtClean="0">
                          <a:latin typeface="Tahoma"/>
                          <a:ea typeface="Calibri"/>
                          <a:cs typeface="Tahoma"/>
                        </a:rPr>
                        <a:t>Var</a:t>
                      </a:r>
                      <a:r>
                        <a:rPr lang="en-US" sz="1400" b="1" cap="all" dirty="0" smtClean="0">
                          <a:latin typeface="Tahoma"/>
                          <a:ea typeface="Calibri"/>
                          <a:cs typeface="Tahoma"/>
                        </a:rPr>
                        <a:t>(x</a:t>
                      </a:r>
                      <a:r>
                        <a:rPr lang="en-US" sz="1400" b="1" cap="all" dirty="0">
                          <a:latin typeface="Tahoma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0" dirty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ahoma"/>
                        </a:rPr>
                        <a:t>אחידה בדידה (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/>
                          <a:ea typeface="Calibri"/>
                          <a:cs typeface="Tahoma"/>
                        </a:rPr>
                        <a:t>n</a:t>
                      </a:r>
                      <a:r>
                        <a:rPr lang="he-IL" sz="1400" b="0" dirty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solidFill>
                          <a:srgbClr val="FF0000"/>
                        </a:solidFill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solidFill>
                          <a:srgbClr val="FF0000"/>
                        </a:solidFill>
                        <a:latin typeface="Tahoma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400" dirty="0">
                        <a:solidFill>
                          <a:srgbClr val="FF0000"/>
                        </a:solidFill>
                        <a:latin typeface="Tahoma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>
                          <a:latin typeface="Times New Roman"/>
                          <a:ea typeface="Calibri"/>
                          <a:cs typeface="Tahoma"/>
                        </a:rPr>
                        <a:t>בינומית (</a:t>
                      </a:r>
                      <a:r>
                        <a:rPr lang="en-US" sz="1400">
                          <a:latin typeface="Tahoma"/>
                          <a:ea typeface="Calibri"/>
                          <a:cs typeface="Tahoma"/>
                        </a:rPr>
                        <a:t>n,p</a:t>
                      </a:r>
                      <a:r>
                        <a:rPr lang="he-IL" sz="1400"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גיאומטרית  (</a:t>
                      </a:r>
                      <a:r>
                        <a:rPr lang="en-US" sz="1400" dirty="0">
                          <a:latin typeface="Tahoma"/>
                          <a:ea typeface="Calibri"/>
                          <a:cs typeface="Tahoma"/>
                        </a:rPr>
                        <a:t>p</a:t>
                      </a: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 smtClean="0">
                          <a:latin typeface="Times New Roman"/>
                          <a:ea typeface="Calibri"/>
                          <a:cs typeface="Tahoma"/>
                        </a:rPr>
                        <a:t> </a:t>
                      </a: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/>
                      <a:r>
                        <a:rPr lang="he-IL" sz="1400" dirty="0" smtClean="0"/>
                        <a:t>היפר-גיאומטרית (</a:t>
                      </a:r>
                      <a:r>
                        <a:rPr lang="en-US" sz="1400" dirty="0" smtClean="0"/>
                        <a:t>p</a:t>
                      </a:r>
                      <a:r>
                        <a:rPr lang="he-IL" sz="1400" dirty="0" smtClean="0"/>
                        <a:t>)</a:t>
                      </a:r>
                      <a:endParaRPr lang="en-GB" dirty="0"/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400" dirty="0">
                        <a:latin typeface="Tahoma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dirty="0" err="1">
                          <a:latin typeface="Times New Roman"/>
                          <a:ea typeface="Calibri"/>
                          <a:cs typeface="Tahoma"/>
                        </a:rPr>
                        <a:t>פואסון</a:t>
                      </a: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 (</a:t>
                      </a:r>
                      <a:r>
                        <a:rPr lang="en-US" sz="1400" dirty="0">
                          <a:latin typeface="Tahoma"/>
                          <a:ea typeface="Calibri"/>
                          <a:cs typeface="Tahoma"/>
                          <a:sym typeface="Symbol"/>
                        </a:rPr>
                        <a:t></a:t>
                      </a: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40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dirty="0" smtClean="0">
                          <a:latin typeface="Times New Roman"/>
                          <a:ea typeface="Calibri"/>
                          <a:cs typeface="Tahoma"/>
                        </a:rPr>
                        <a:t>נורמלית</a:t>
                      </a:r>
                      <a:r>
                        <a:rPr lang="he-IL" sz="1400" baseline="0" dirty="0" smtClean="0">
                          <a:latin typeface="Times New Roman"/>
                          <a:ea typeface="Calibri"/>
                          <a:cs typeface="Tahoma"/>
                        </a:rPr>
                        <a:t> (</a:t>
                      </a:r>
                      <a:r>
                        <a:rPr lang="en-US" sz="1400" baseline="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μ,</a:t>
                      </a:r>
                      <a:r>
                        <a:rPr lang="el-GR" sz="1400" baseline="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σ</a:t>
                      </a:r>
                      <a:r>
                        <a:rPr lang="en-US" sz="1400" baseline="3000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he-IL" sz="1400" kern="1200" dirty="0" smtClean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dirty="0" smtClean="0">
                          <a:latin typeface="Times New Roman"/>
                          <a:ea typeface="Calibri"/>
                          <a:cs typeface="Tahoma"/>
                        </a:rPr>
                        <a:t>חישוב עפ"י טבלת  </a:t>
                      </a:r>
                      <a:r>
                        <a:rPr lang="en-US" sz="1400" dirty="0" smtClean="0">
                          <a:latin typeface="Times New Roman"/>
                          <a:ea typeface="Calibri"/>
                          <a:cs typeface="Tahoma"/>
                        </a:rPr>
                        <a:t>Z</a:t>
                      </a:r>
                      <a:r>
                        <a:rPr lang="he-IL" sz="1400" dirty="0" smtClean="0">
                          <a:latin typeface="Times New Roman"/>
                          <a:ea typeface="Calibri"/>
                          <a:cs typeface="Tahoma"/>
                        </a:rPr>
                        <a:t> </a:t>
                      </a: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600" baseline="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μ</a:t>
                      </a:r>
                      <a:endParaRPr lang="he-IL" sz="26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l-GR" sz="2600" baseline="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σ</a:t>
                      </a:r>
                      <a:r>
                        <a:rPr lang="en-US" sz="2600" baseline="3000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</a:t>
                      </a:r>
                      <a:endParaRPr lang="he-IL" sz="26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dirty="0" err="1">
                          <a:latin typeface="Times New Roman"/>
                          <a:ea typeface="Calibri"/>
                          <a:cs typeface="Tahoma"/>
                        </a:rPr>
                        <a:t>מעריכית</a:t>
                      </a: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 </a:t>
                      </a:r>
                      <a:r>
                        <a:rPr lang="en-US" sz="1400" dirty="0">
                          <a:latin typeface="Tahoma"/>
                          <a:ea typeface="Calibri"/>
                          <a:cs typeface="Tahoma"/>
                        </a:rPr>
                        <a:t>(k)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grpSp>
        <p:nvGrpSpPr>
          <p:cNvPr id="2" name="קבוצה 30"/>
          <p:cNvGrpSpPr/>
          <p:nvPr/>
        </p:nvGrpSpPr>
        <p:grpSpPr>
          <a:xfrm>
            <a:off x="1606312" y="1772815"/>
            <a:ext cx="4752528" cy="699086"/>
            <a:chOff x="1547664" y="1412776"/>
            <a:chExt cx="4752528" cy="699086"/>
          </a:xfrm>
        </p:grpSpPr>
        <p:graphicFrame>
          <p:nvGraphicFramePr>
            <p:cNvPr id="1048" name="Object 24"/>
            <p:cNvGraphicFramePr>
              <a:graphicFrameLocks noChangeAspect="1"/>
            </p:cNvGraphicFramePr>
            <p:nvPr/>
          </p:nvGraphicFramePr>
          <p:xfrm>
            <a:off x="5769607" y="1628800"/>
            <a:ext cx="530585" cy="360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591" name="Equation" r:id="rId4" imgW="266353" imgH="177569" progId="Equation.3">
                    <p:embed/>
                  </p:oleObj>
                </mc:Choice>
                <mc:Fallback>
                  <p:oleObj name="Equation" r:id="rId4" imgW="266353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9607" y="1628800"/>
                          <a:ext cx="530585" cy="3600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7" name="Object 23"/>
            <p:cNvGraphicFramePr>
              <a:graphicFrameLocks noChangeAspect="1"/>
            </p:cNvGraphicFramePr>
            <p:nvPr/>
          </p:nvGraphicFramePr>
          <p:xfrm>
            <a:off x="3956974" y="1412776"/>
            <a:ext cx="471010" cy="681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592" name="Equation" r:id="rId6" imgW="380835" imgH="609336" progId="Equation.3">
                    <p:embed/>
                  </p:oleObj>
                </mc:Choice>
                <mc:Fallback>
                  <p:oleObj name="Equation" r:id="rId6" imgW="380835" imgH="6093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6974" y="1412776"/>
                          <a:ext cx="471010" cy="6816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6" name="Object 22"/>
            <p:cNvGraphicFramePr>
              <a:graphicFrameLocks noChangeAspect="1"/>
            </p:cNvGraphicFramePr>
            <p:nvPr/>
          </p:nvGraphicFramePr>
          <p:xfrm>
            <a:off x="1547664" y="1412776"/>
            <a:ext cx="1125091" cy="6990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593" name="Equation" r:id="rId8" imgW="977900" imgH="609600" progId="Equation.3">
                    <p:embed/>
                  </p:oleObj>
                </mc:Choice>
                <mc:Fallback>
                  <p:oleObj name="Equation" r:id="rId8" imgW="977900" imgH="609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7664" y="1412776"/>
                          <a:ext cx="1125091" cy="6990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45" name="Object 21"/>
          <p:cNvGraphicFramePr>
            <a:graphicFrameLocks noChangeAspect="1"/>
          </p:cNvGraphicFramePr>
          <p:nvPr>
            <p:extLst/>
          </p:nvPr>
        </p:nvGraphicFramePr>
        <p:xfrm>
          <a:off x="5177199" y="2556821"/>
          <a:ext cx="1109633" cy="51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94" name="Equation" r:id="rId10" imgW="990600" imgH="457200" progId="Equation.3">
                  <p:embed/>
                </p:oleObj>
              </mc:Choice>
              <mc:Fallback>
                <p:oleObj name="Equation" r:id="rId10" imgW="990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7199" y="2556821"/>
                        <a:ext cx="1109633" cy="512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" name="Object 20"/>
          <p:cNvGraphicFramePr>
            <a:graphicFrameLocks noChangeAspect="1"/>
          </p:cNvGraphicFramePr>
          <p:nvPr>
            <p:extLst/>
          </p:nvPr>
        </p:nvGraphicFramePr>
        <p:xfrm>
          <a:off x="6358840" y="5038349"/>
          <a:ext cx="65722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95" name="Equation" r:id="rId12" imgW="660113" imgH="203112" progId="Equation.3">
                  <p:embed/>
                </p:oleObj>
              </mc:Choice>
              <mc:Fallback>
                <p:oleObj name="Equation" r:id="rId12" imgW="660113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8840" y="5038349"/>
                        <a:ext cx="657225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3" name="Object 19"/>
          <p:cNvGraphicFramePr>
            <a:graphicFrameLocks noChangeAspect="1"/>
          </p:cNvGraphicFramePr>
          <p:nvPr>
            <p:extLst/>
          </p:nvPr>
        </p:nvGraphicFramePr>
        <p:xfrm>
          <a:off x="4022958" y="2694453"/>
          <a:ext cx="463674" cy="37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96" name="Equation" r:id="rId14" imgW="203024" imgH="164957" progId="Equation.3">
                  <p:embed/>
                </p:oleObj>
              </mc:Choice>
              <mc:Fallback>
                <p:oleObj name="Equation" r:id="rId14" imgW="203024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2958" y="2694453"/>
                        <a:ext cx="463674" cy="3745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2" name="Object 18"/>
          <p:cNvGraphicFramePr>
            <a:graphicFrameLocks noChangeAspect="1"/>
          </p:cNvGraphicFramePr>
          <p:nvPr>
            <p:extLst/>
          </p:nvPr>
        </p:nvGraphicFramePr>
        <p:xfrm>
          <a:off x="1476713" y="2623193"/>
          <a:ext cx="1569759" cy="373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97" r:id="rId16" imgW="596641" imgH="203112" progId="">
                  <p:embed/>
                </p:oleObj>
              </mc:Choice>
              <mc:Fallback>
                <p:oleObj r:id="rId16" imgW="596641" imgH="20311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713" y="2623193"/>
                        <a:ext cx="1569759" cy="3737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1" name="Object 17"/>
          <p:cNvGraphicFramePr>
            <a:graphicFrameLocks noChangeAspect="1"/>
          </p:cNvGraphicFramePr>
          <p:nvPr>
            <p:extLst/>
          </p:nvPr>
        </p:nvGraphicFramePr>
        <p:xfrm>
          <a:off x="5134704" y="3212975"/>
          <a:ext cx="1224136" cy="408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98" name="Equation" r:id="rId18" imgW="685800" imgH="228600" progId="Equation.3">
                  <p:embed/>
                </p:oleObj>
              </mc:Choice>
              <mc:Fallback>
                <p:oleObj name="Equation" r:id="rId18" imgW="685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4704" y="3212975"/>
                        <a:ext cx="1224136" cy="4080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0" name="Object 16"/>
          <p:cNvGraphicFramePr>
            <a:graphicFrameLocks noChangeAspect="1"/>
          </p:cNvGraphicFramePr>
          <p:nvPr>
            <p:extLst/>
          </p:nvPr>
        </p:nvGraphicFramePr>
        <p:xfrm>
          <a:off x="6358840" y="3645023"/>
          <a:ext cx="65722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99" name="Equation" r:id="rId20" imgW="660113" imgH="203112" progId="Equation.3">
                  <p:embed/>
                </p:oleObj>
              </mc:Choice>
              <mc:Fallback>
                <p:oleObj name="Equation" r:id="rId20" imgW="660113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8840" y="3645023"/>
                        <a:ext cx="657225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9" name="Object 15"/>
          <p:cNvGraphicFramePr>
            <a:graphicFrameLocks noChangeAspect="1"/>
          </p:cNvGraphicFramePr>
          <p:nvPr>
            <p:extLst/>
          </p:nvPr>
        </p:nvGraphicFramePr>
        <p:xfrm>
          <a:off x="3910568" y="3323755"/>
          <a:ext cx="720080" cy="443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00" r:id="rId22" imgW="253780" imgH="215713" progId="">
                  <p:embed/>
                </p:oleObj>
              </mc:Choice>
              <mc:Fallback>
                <p:oleObj r:id="rId22" imgW="253780" imgH="21571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0568" y="3323755"/>
                        <a:ext cx="720080" cy="44312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8" name="Object 14"/>
          <p:cNvGraphicFramePr>
            <a:graphicFrameLocks noChangeAspect="1"/>
          </p:cNvGraphicFramePr>
          <p:nvPr>
            <p:extLst/>
          </p:nvPr>
        </p:nvGraphicFramePr>
        <p:xfrm>
          <a:off x="2038360" y="3212975"/>
          <a:ext cx="629791" cy="6297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01" r:id="rId24" imgW="355446" imgH="418918" progId="">
                  <p:embed/>
                </p:oleObj>
              </mc:Choice>
              <mc:Fallback>
                <p:oleObj r:id="rId24" imgW="355446" imgH="41891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360" y="3212975"/>
                        <a:ext cx="629791" cy="6297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7" name="Object 13"/>
          <p:cNvGraphicFramePr>
            <a:graphicFrameLocks noChangeAspect="1"/>
          </p:cNvGraphicFramePr>
          <p:nvPr>
            <p:extLst/>
          </p:nvPr>
        </p:nvGraphicFramePr>
        <p:xfrm>
          <a:off x="5206712" y="4590301"/>
          <a:ext cx="792088" cy="726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02" name="Equation" r:id="rId26" imgW="457200" imgH="419100" progId="Equation.3">
                  <p:embed/>
                </p:oleObj>
              </mc:Choice>
              <mc:Fallback>
                <p:oleObj name="Equation" r:id="rId26" imgW="4572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6712" y="4590301"/>
                        <a:ext cx="792088" cy="7260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6" name="Object 12"/>
          <p:cNvGraphicFramePr>
            <a:graphicFrameLocks noChangeAspect="1"/>
          </p:cNvGraphicFramePr>
          <p:nvPr>
            <p:extLst/>
          </p:nvPr>
        </p:nvGraphicFramePr>
        <p:xfrm>
          <a:off x="6358840" y="2924943"/>
          <a:ext cx="65722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03" name="Equation" r:id="rId28" imgW="660113" imgH="203112" progId="Equation.3">
                  <p:embed/>
                </p:oleObj>
              </mc:Choice>
              <mc:Fallback>
                <p:oleObj name="Equation" r:id="rId28" imgW="660113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8840" y="2924943"/>
                        <a:ext cx="657225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" name="Object 10"/>
          <p:cNvGraphicFramePr>
            <a:graphicFrameLocks noChangeAspect="1"/>
          </p:cNvGraphicFramePr>
          <p:nvPr>
            <p:extLst/>
          </p:nvPr>
        </p:nvGraphicFramePr>
        <p:xfrm>
          <a:off x="1966352" y="4806326"/>
          <a:ext cx="648071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04" name="Equation" r:id="rId29" imgW="126780" imgH="164814" progId="Equation.3">
                  <p:embed/>
                </p:oleObj>
              </mc:Choice>
              <mc:Fallback>
                <p:oleObj name="Equation" r:id="rId29" imgW="126780" imgH="1648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6352" y="4806326"/>
                        <a:ext cx="648071" cy="4320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9" name="Object 25"/>
          <p:cNvGraphicFramePr>
            <a:graphicFrameLocks noChangeAspect="1"/>
          </p:cNvGraphicFramePr>
          <p:nvPr>
            <p:extLst/>
          </p:nvPr>
        </p:nvGraphicFramePr>
        <p:xfrm>
          <a:off x="3982576" y="4782192"/>
          <a:ext cx="648271" cy="432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05" name="Equation" r:id="rId31" imgW="126780" imgH="164814" progId="Equation.3">
                  <p:embed/>
                </p:oleObj>
              </mc:Choice>
              <mc:Fallback>
                <p:oleObj name="Equation" r:id="rId31" imgW="126780" imgH="1648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2576" y="4782192"/>
                        <a:ext cx="648271" cy="4321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ctr"/>
            <a:r>
              <a:rPr lang="he-IL" dirty="0" smtClean="0"/>
              <a:t>סוגי התפלגויות</a:t>
            </a:r>
            <a:endParaRPr lang="en-GB" dirty="0"/>
          </a:p>
        </p:txBody>
      </p:sp>
      <p:pic>
        <p:nvPicPr>
          <p:cNvPr id="100510" name="Picture 158" descr="nD\over N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014" y="4021677"/>
            <a:ext cx="349498" cy="494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512" name="Picture 160" descr="n(D/N)(1-D/N)(N-n)\over (N-1)"/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957" y="4003205"/>
            <a:ext cx="2209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4" name="Object 6"/>
          <p:cNvGraphicFramePr>
            <a:graphicFrameLocks noChangeAspect="1"/>
          </p:cNvGraphicFramePr>
          <p:nvPr>
            <p:extLst/>
          </p:nvPr>
        </p:nvGraphicFramePr>
        <p:xfrm>
          <a:off x="5494744" y="6060247"/>
          <a:ext cx="1029841" cy="564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06" name="Equation" r:id="rId34" imgW="888614" imgH="482391" progId="Equation.3">
                  <p:embed/>
                </p:oleObj>
              </mc:Choice>
              <mc:Fallback>
                <p:oleObj name="Equation" r:id="rId34" imgW="888614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4744" y="6060247"/>
                        <a:ext cx="1029841" cy="5647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5"/>
          <p:cNvGraphicFramePr>
            <a:graphicFrameLocks noChangeAspect="1"/>
          </p:cNvGraphicFramePr>
          <p:nvPr>
            <p:extLst/>
          </p:nvPr>
        </p:nvGraphicFramePr>
        <p:xfrm>
          <a:off x="4190216" y="6060247"/>
          <a:ext cx="152400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07" name="Equation" r:id="rId36" imgW="152280" imgH="393480" progId="Equation.3">
                  <p:embed/>
                </p:oleObj>
              </mc:Choice>
              <mc:Fallback>
                <p:oleObj name="Equation" r:id="rId36" imgW="1522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0216" y="6060247"/>
                        <a:ext cx="152400" cy="6480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/>
          <p:cNvGraphicFramePr>
            <a:graphicFrameLocks noChangeAspect="1"/>
          </p:cNvGraphicFramePr>
          <p:nvPr>
            <p:extLst/>
          </p:nvPr>
        </p:nvGraphicFramePr>
        <p:xfrm>
          <a:off x="1750328" y="6021288"/>
          <a:ext cx="682526" cy="615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08" name="Equation" r:id="rId38" imgW="431640" imgH="393480" progId="Equation.3">
                  <p:embed/>
                </p:oleObj>
              </mc:Choice>
              <mc:Fallback>
                <p:oleObj name="Equation" r:id="rId38" imgW="4316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0328" y="6021288"/>
                        <a:ext cx="682526" cy="6150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1"/>
          <p:cNvGraphicFramePr>
            <a:graphicFrameLocks noChangeAspect="1"/>
          </p:cNvGraphicFramePr>
          <p:nvPr>
            <p:extLst/>
          </p:nvPr>
        </p:nvGraphicFramePr>
        <p:xfrm>
          <a:off x="5279662" y="3982196"/>
          <a:ext cx="14382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09" name="Equation" r:id="rId40" imgW="1282680" imgH="457200" progId="Equation.3">
                  <p:embed/>
                </p:oleObj>
              </mc:Choice>
              <mc:Fallback>
                <p:oleObj name="Equation" r:id="rId40" imgW="12826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9662" y="3982196"/>
                        <a:ext cx="1438275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94000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7584" y="44624"/>
            <a:ext cx="8064896" cy="415498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he-IL" sz="2200" b="1" u="sng" dirty="0" smtClean="0"/>
              <a:t>שאלה 7</a:t>
            </a:r>
          </a:p>
          <a:p>
            <a:pPr algn="just">
              <a:lnSpc>
                <a:spcPct val="150000"/>
              </a:lnSpc>
            </a:pPr>
            <a:r>
              <a:rPr lang="he-IL" sz="2200" b="1" dirty="0" smtClean="0"/>
              <a:t>בוחרים </a:t>
            </a:r>
            <a:r>
              <a:rPr lang="he-IL" sz="2200" b="1" dirty="0"/>
              <a:t>מספר שלם אקראי בין 1 ל- </a:t>
            </a:r>
            <a:r>
              <a:rPr lang="he-IL" sz="2200" b="1" dirty="0" smtClean="0"/>
              <a:t>10. </a:t>
            </a:r>
          </a:p>
          <a:p>
            <a:pPr algn="just">
              <a:lnSpc>
                <a:spcPct val="150000"/>
              </a:lnSpc>
            </a:pPr>
            <a:endParaRPr lang="he-IL" sz="2200" b="1" dirty="0"/>
          </a:p>
          <a:p>
            <a:pPr algn="just">
              <a:lnSpc>
                <a:spcPct val="150000"/>
              </a:lnSpc>
            </a:pPr>
            <a:r>
              <a:rPr lang="he-IL" sz="2200" dirty="0"/>
              <a:t>א. מהי התוחלת ומהי </a:t>
            </a:r>
            <a:r>
              <a:rPr lang="he-IL" sz="2200" dirty="0" smtClean="0"/>
              <a:t>השונות של </a:t>
            </a:r>
            <a:r>
              <a:rPr lang="he-IL" sz="2200" dirty="0"/>
              <a:t>המספר שיבחר</a:t>
            </a:r>
            <a:r>
              <a:rPr lang="he-IL" sz="2200" dirty="0" smtClean="0"/>
              <a:t>?</a:t>
            </a:r>
            <a:endParaRPr lang="en-US" sz="2200" dirty="0" smtClean="0"/>
          </a:p>
          <a:p>
            <a:pPr algn="just">
              <a:lnSpc>
                <a:spcPct val="150000"/>
              </a:lnSpc>
            </a:pPr>
            <a:r>
              <a:rPr lang="he-IL" sz="2200" dirty="0" smtClean="0"/>
              <a:t>ב</a:t>
            </a:r>
            <a:r>
              <a:rPr lang="he-IL" sz="2200" dirty="0"/>
              <a:t>. </a:t>
            </a:r>
            <a:r>
              <a:rPr lang="he-IL" sz="2200" dirty="0" smtClean="0"/>
              <a:t>מבקשים משישה </a:t>
            </a:r>
            <a:r>
              <a:rPr lang="he-IL" sz="2200" dirty="0"/>
              <a:t>אנשים לבחור מספר:</a:t>
            </a:r>
          </a:p>
          <a:p>
            <a:pPr algn="just">
              <a:lnSpc>
                <a:spcPct val="150000"/>
              </a:lnSpc>
            </a:pPr>
            <a:r>
              <a:rPr lang="en-US" sz="2200" dirty="0"/>
              <a:t> </a:t>
            </a:r>
            <a:r>
              <a:rPr lang="en-US" sz="2200" dirty="0" smtClean="0"/>
              <a:t>   </a:t>
            </a:r>
            <a:r>
              <a:rPr lang="he-IL" sz="2200" dirty="0" smtClean="0"/>
              <a:t>- מה </a:t>
            </a:r>
            <a:r>
              <a:rPr lang="he-IL" sz="2200" dirty="0"/>
              <a:t>ההסתברות ששלושה מהם יבחרו מספר הגדול </a:t>
            </a:r>
            <a:r>
              <a:rPr lang="he-IL" sz="2200" dirty="0" smtClean="0"/>
              <a:t>מ-8?</a:t>
            </a:r>
          </a:p>
          <a:p>
            <a:pPr algn="just">
              <a:lnSpc>
                <a:spcPct val="150000"/>
              </a:lnSpc>
            </a:pPr>
            <a:r>
              <a:rPr lang="en-US" sz="2200" dirty="0" smtClean="0"/>
              <a:t>    </a:t>
            </a:r>
            <a:r>
              <a:rPr lang="he-IL" sz="2200" dirty="0" smtClean="0"/>
              <a:t>- מה </a:t>
            </a:r>
            <a:r>
              <a:rPr lang="he-IL" sz="2200" dirty="0" smtClean="0"/>
              <a:t>התוחלת ומהי השונות של מס' האנשים שבחרו מס' </a:t>
            </a:r>
          </a:p>
          <a:p>
            <a:pPr algn="just">
              <a:lnSpc>
                <a:spcPct val="150000"/>
              </a:lnSpc>
            </a:pPr>
            <a:r>
              <a:rPr lang="he-IL" sz="2200" dirty="0" smtClean="0"/>
              <a:t>      גדול </a:t>
            </a:r>
            <a:r>
              <a:rPr lang="he-IL" sz="2200" dirty="0" smtClean="0"/>
              <a:t>מ-8?</a:t>
            </a:r>
          </a:p>
        </p:txBody>
      </p:sp>
    </p:spTree>
    <p:extLst>
      <p:ext uri="{BB962C8B-B14F-4D97-AF65-F5344CB8AC3E}">
        <p14:creationId xmlns:p14="http://schemas.microsoft.com/office/powerpoint/2010/main" val="211503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44624"/>
            <a:ext cx="8856984" cy="364715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he-IL" sz="2200" b="1" u="sng" dirty="0" smtClean="0"/>
              <a:t>שאלה 8</a:t>
            </a:r>
          </a:p>
          <a:p>
            <a:pPr algn="just">
              <a:lnSpc>
                <a:spcPct val="150000"/>
              </a:lnSpc>
            </a:pPr>
            <a:r>
              <a:rPr lang="he-IL" sz="2200" b="1" dirty="0" smtClean="0"/>
              <a:t>משך הזמן שסטודנטים </a:t>
            </a:r>
            <a:r>
              <a:rPr lang="he-IL" sz="2200" b="1" dirty="0"/>
              <a:t>עובדים רצוף על מחשב </a:t>
            </a:r>
            <a:r>
              <a:rPr lang="he-IL" sz="2200" b="1" dirty="0" smtClean="0"/>
              <a:t>(</a:t>
            </a:r>
            <a:r>
              <a:rPr lang="en-US" sz="2200" b="1" dirty="0" smtClean="0"/>
              <a:t>X</a:t>
            </a:r>
            <a:r>
              <a:rPr lang="he-IL" sz="2200" b="1" dirty="0" smtClean="0"/>
              <a:t>) מתפלג </a:t>
            </a:r>
            <a:r>
              <a:rPr lang="he-IL" sz="2200" b="1" dirty="0"/>
              <a:t>מעריכית עם תוחלת </a:t>
            </a:r>
            <a:r>
              <a:rPr lang="he-IL" sz="2200" b="1" dirty="0" smtClean="0"/>
              <a:t>של חצי שעה.</a:t>
            </a:r>
            <a:endParaRPr lang="he-IL" sz="2200" b="1" dirty="0"/>
          </a:p>
          <a:p>
            <a:pPr algn="just">
              <a:lnSpc>
                <a:spcPct val="150000"/>
              </a:lnSpc>
            </a:pPr>
            <a:endParaRPr lang="he-IL" sz="2200" dirty="0"/>
          </a:p>
          <a:p>
            <a:pPr algn="just">
              <a:lnSpc>
                <a:spcPct val="150000"/>
              </a:lnSpc>
            </a:pPr>
            <a:r>
              <a:rPr lang="he-IL" sz="2200" dirty="0" smtClean="0"/>
              <a:t>א. מה </a:t>
            </a:r>
            <a:r>
              <a:rPr lang="he-IL" sz="2200" dirty="0"/>
              <a:t>הסיכוי שעבודת סטודנט על המחשב תארך פחות מרבע שעה?</a:t>
            </a:r>
          </a:p>
          <a:p>
            <a:pPr algn="just">
              <a:lnSpc>
                <a:spcPct val="150000"/>
              </a:lnSpc>
            </a:pPr>
            <a:r>
              <a:rPr lang="he-IL" sz="2200" dirty="0"/>
              <a:t>ב. מה הסיכוי שעבודת סטודנט על המחשב תארך בין רבע </a:t>
            </a:r>
            <a:r>
              <a:rPr lang="he-IL" sz="2200" dirty="0" smtClean="0"/>
              <a:t>לחצי </a:t>
            </a:r>
            <a:r>
              <a:rPr lang="he-IL" sz="2200" dirty="0"/>
              <a:t>שעה</a:t>
            </a:r>
            <a:r>
              <a:rPr lang="he-IL" sz="2200" dirty="0" smtClean="0"/>
              <a:t>?</a:t>
            </a:r>
          </a:p>
          <a:p>
            <a:pPr algn="just">
              <a:lnSpc>
                <a:spcPct val="150000"/>
              </a:lnSpc>
            </a:pPr>
            <a:r>
              <a:rPr lang="he-IL" sz="2200" dirty="0" smtClean="0"/>
              <a:t>ג. מהו הזמן שבסיכוי של 90% הסטודנט יעבוד פחות ממנו?</a:t>
            </a:r>
          </a:p>
        </p:txBody>
      </p:sp>
    </p:spTree>
    <p:extLst>
      <p:ext uri="{BB962C8B-B14F-4D97-AF65-F5344CB8AC3E}">
        <p14:creationId xmlns:p14="http://schemas.microsoft.com/office/powerpoint/2010/main" val="345549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99592" y="44624"/>
            <a:ext cx="8098160" cy="65248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/>
            <a:r>
              <a:rPr lang="he-IL" sz="2200" b="1" u="sng" dirty="0"/>
              <a:t>שאלה </a:t>
            </a:r>
            <a:r>
              <a:rPr lang="he-IL" sz="2200" b="1" u="sng" dirty="0"/>
              <a:t>9</a:t>
            </a:r>
            <a:endParaRPr lang="he-IL" sz="2200" b="1" u="sng" dirty="0"/>
          </a:p>
          <a:p>
            <a:pPr>
              <a:lnSpc>
                <a:spcPct val="150000"/>
              </a:lnSpc>
            </a:pPr>
            <a:r>
              <a:rPr lang="he-IL" sz="2200" b="1" dirty="0"/>
              <a:t>ידוע כי התפלגות מס' הנמשים בקרב ילדים בני חמש היא נורמלית, עם ממוצע 16 וסטיית תקן 4. נבחרו באקראי שלושה ילדים בני חמש. </a:t>
            </a:r>
            <a:endParaRPr lang="he-IL" sz="2200" b="1" dirty="0"/>
          </a:p>
          <a:p>
            <a:pPr>
              <a:lnSpc>
                <a:spcPct val="150000"/>
              </a:lnSpc>
            </a:pPr>
            <a:endParaRPr lang="he-IL" sz="2200" dirty="0"/>
          </a:p>
          <a:p>
            <a:pPr>
              <a:lnSpc>
                <a:spcPct val="150000"/>
              </a:lnSpc>
            </a:pPr>
            <a:r>
              <a:rPr lang="he-IL" sz="2200" dirty="0"/>
              <a:t>א</a:t>
            </a:r>
            <a:r>
              <a:rPr lang="he-IL" sz="2200" dirty="0"/>
              <a:t>. </a:t>
            </a:r>
            <a:r>
              <a:rPr lang="he-IL" sz="2200" dirty="0"/>
              <a:t>מהי </a:t>
            </a:r>
            <a:r>
              <a:rPr lang="he-IL" sz="2200" dirty="0"/>
              <a:t>ההסתברות </a:t>
            </a:r>
            <a:r>
              <a:rPr lang="he-IL" sz="2200" dirty="0"/>
              <a:t>שלפחות </a:t>
            </a:r>
            <a:r>
              <a:rPr lang="he-IL" sz="2200" dirty="0" smtClean="0"/>
              <a:t>לאחד מהם </a:t>
            </a:r>
            <a:r>
              <a:rPr lang="he-IL" sz="2200" dirty="0"/>
              <a:t>יש מעל 20 נמשים? </a:t>
            </a:r>
          </a:p>
          <a:p>
            <a:pPr>
              <a:lnSpc>
                <a:spcPct val="150000"/>
              </a:lnSpc>
            </a:pPr>
            <a:r>
              <a:rPr lang="he-IL" sz="2200" dirty="0"/>
              <a:t>ב. </a:t>
            </a:r>
            <a:r>
              <a:rPr lang="he-IL" sz="2200" dirty="0"/>
              <a:t>מהי ההסתברות </a:t>
            </a:r>
            <a:r>
              <a:rPr lang="he-IL" sz="2200" dirty="0" smtClean="0"/>
              <a:t>שרק לשניים מהם </a:t>
            </a:r>
            <a:r>
              <a:rPr lang="he-IL" sz="2200" dirty="0"/>
              <a:t>יש בין 12-20 נמשים?</a:t>
            </a:r>
            <a:endParaRPr lang="he-IL" sz="2200" dirty="0"/>
          </a:p>
          <a:p>
            <a:pPr>
              <a:lnSpc>
                <a:spcPct val="150000"/>
              </a:lnSpc>
            </a:pPr>
            <a:r>
              <a:rPr lang="he-IL" sz="2200" dirty="0"/>
              <a:t>ג. </a:t>
            </a:r>
            <a:r>
              <a:rPr lang="he-IL" sz="2200" dirty="0"/>
              <a:t>מהי ההסתברות </a:t>
            </a:r>
            <a:r>
              <a:rPr lang="he-IL" sz="2200" dirty="0"/>
              <a:t>שממוצע מס' הנמשים של שלושת הילדים </a:t>
            </a:r>
            <a:endParaRPr lang="he-IL" sz="2200" dirty="0" smtClean="0"/>
          </a:p>
          <a:p>
            <a:pPr>
              <a:lnSpc>
                <a:spcPct val="150000"/>
              </a:lnSpc>
            </a:pPr>
            <a:r>
              <a:rPr lang="he-IL" sz="2200" dirty="0"/>
              <a:t> </a:t>
            </a:r>
            <a:r>
              <a:rPr lang="he-IL" sz="2200" dirty="0" smtClean="0"/>
              <a:t>  נמוך מ-15?</a:t>
            </a:r>
            <a:endParaRPr lang="he-IL" sz="2200" dirty="0"/>
          </a:p>
          <a:p>
            <a:pPr>
              <a:lnSpc>
                <a:spcPct val="150000"/>
              </a:lnSpc>
            </a:pPr>
            <a:r>
              <a:rPr lang="he-IL" sz="2200" dirty="0"/>
              <a:t>ד. חוקר משער שלג'ינג'ים יש יותר נמשים מאשר לשאר האוכלוסייה. הוא דוגם 100 ילדים בני חמש ומקבל ממוצע מדגמי של 18. האם הוא צודק בהשערתו ברמת ביטחון של 95%?</a:t>
            </a:r>
          </a:p>
          <a:p>
            <a:pPr>
              <a:lnSpc>
                <a:spcPct val="150000"/>
              </a:lnSpc>
            </a:pPr>
            <a:endParaRPr lang="he-IL" sz="2200" b="1" dirty="0"/>
          </a:p>
        </p:txBody>
      </p:sp>
    </p:spTree>
    <p:extLst>
      <p:ext uri="{BB962C8B-B14F-4D97-AF65-F5344CB8AC3E}">
        <p14:creationId xmlns:p14="http://schemas.microsoft.com/office/powerpoint/2010/main" val="2584418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99592" y="44624"/>
            <a:ext cx="8098160" cy="33239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he-IL" sz="2200" b="1" u="sng" dirty="0"/>
              <a:t>שאלה </a:t>
            </a:r>
            <a:r>
              <a:rPr lang="he-IL" sz="2200" b="1" u="sng" dirty="0" smtClean="0"/>
              <a:t>10</a:t>
            </a:r>
            <a:endParaRPr lang="he-IL" sz="2200" b="1" u="sng" dirty="0"/>
          </a:p>
          <a:p>
            <a:pPr>
              <a:lnSpc>
                <a:spcPct val="150000"/>
              </a:lnSpc>
            </a:pPr>
            <a:r>
              <a:rPr lang="he-IL" sz="2400" dirty="0" smtClean="0"/>
              <a:t>מטילים </a:t>
            </a:r>
            <a:r>
              <a:rPr lang="he-IL" sz="2400" dirty="0"/>
              <a:t>קובייה תקינה </a:t>
            </a:r>
            <a:r>
              <a:rPr lang="he-IL" sz="2400" dirty="0" smtClean="0"/>
              <a:t>1,000 פעמים. </a:t>
            </a:r>
          </a:p>
          <a:p>
            <a:pPr>
              <a:lnSpc>
                <a:spcPct val="150000"/>
              </a:lnSpc>
            </a:pPr>
            <a:r>
              <a:rPr lang="he-IL" sz="2400" dirty="0" smtClean="0"/>
              <a:t>א. מהי ההסתברות שהתוצאה 6 תתקבל לפחות </a:t>
            </a:r>
            <a:r>
              <a:rPr lang="he-IL" sz="2400" dirty="0"/>
              <a:t>150 פעמים</a:t>
            </a:r>
            <a:r>
              <a:rPr lang="he-IL" sz="2400" dirty="0" smtClean="0"/>
              <a:t>?</a:t>
            </a:r>
          </a:p>
          <a:p>
            <a:pPr>
              <a:lnSpc>
                <a:spcPct val="150000"/>
              </a:lnSpc>
            </a:pPr>
            <a:r>
              <a:rPr lang="he-IL" sz="2400" dirty="0" smtClean="0"/>
              <a:t>ב. מהי התוחלת של תוצאת הטלת הקובייה?</a:t>
            </a:r>
            <a:r>
              <a:rPr lang="en-US" sz="2400" dirty="0"/>
              <a:t/>
            </a:r>
            <a:br>
              <a:rPr lang="en-US" sz="2400" dirty="0"/>
            </a:br>
            <a:endParaRPr lang="he-IL" sz="2200" b="1" dirty="0"/>
          </a:p>
        </p:txBody>
      </p:sp>
    </p:spTree>
    <p:extLst>
      <p:ext uri="{BB962C8B-B14F-4D97-AF65-F5344CB8AC3E}">
        <p14:creationId xmlns:p14="http://schemas.microsoft.com/office/powerpoint/2010/main" val="527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99592" y="44624"/>
            <a:ext cx="8098160" cy="33239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he-IL" sz="2200" b="1" u="sng" dirty="0"/>
              <a:t>שאלה </a:t>
            </a:r>
            <a:r>
              <a:rPr lang="he-IL" sz="2200" b="1" u="sng" dirty="0" smtClean="0"/>
              <a:t>11</a:t>
            </a:r>
          </a:p>
          <a:p>
            <a:pPr>
              <a:lnSpc>
                <a:spcPct val="150000"/>
              </a:lnSpc>
            </a:pPr>
            <a:r>
              <a:rPr lang="he-IL" sz="2400" b="1" dirty="0"/>
              <a:t>שיעור האבטלה בישראל עומד על 16%. נבחן מדגם של 500 תושבי תל אביב ונמצא שמתוכם 60 מובטלים.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האם ניתן לומר ברמת ביטחון 95% שבתל אביב יש פחות מובטלים?</a:t>
            </a:r>
          </a:p>
          <a:p>
            <a:pPr algn="just">
              <a:lnSpc>
                <a:spcPct val="150000"/>
              </a:lnSpc>
            </a:pPr>
            <a:endParaRPr lang="he-IL" sz="2200" dirty="0"/>
          </a:p>
        </p:txBody>
      </p:sp>
    </p:spTree>
    <p:extLst>
      <p:ext uri="{BB962C8B-B14F-4D97-AF65-F5344CB8AC3E}">
        <p14:creationId xmlns:p14="http://schemas.microsoft.com/office/powerpoint/2010/main" val="957413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44624"/>
            <a:ext cx="8458200" cy="662514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he-IL" sz="2200" b="1" u="sng" dirty="0" smtClean="0"/>
              <a:t>שאלה 12</a:t>
            </a:r>
          </a:p>
          <a:p>
            <a:pPr algn="just">
              <a:lnSpc>
                <a:spcPct val="150000"/>
              </a:lnSpc>
            </a:pPr>
            <a:r>
              <a:rPr lang="he-IL" sz="2200" b="1" dirty="0"/>
              <a:t>סטיות התקן של כמות המשקעים הממוצעת בדצמבר ובינואר הינן 5 ו-6 בהתאמה. </a:t>
            </a:r>
          </a:p>
          <a:p>
            <a:pPr algn="just">
              <a:lnSpc>
                <a:spcPct val="150000"/>
              </a:lnSpc>
            </a:pPr>
            <a:r>
              <a:rPr lang="he-IL" sz="2200" b="1" dirty="0"/>
              <a:t>נאספו נתונים מ-30 תחנות מטאורולוגיות, ונמצא שבדצמבר כמות המשקעים הממוצעת הייתה 144 ואילו בינואר היא הייתה 142</a:t>
            </a:r>
            <a:r>
              <a:rPr lang="he-IL" sz="2200" b="1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he-IL" sz="2200" b="1" dirty="0"/>
          </a:p>
          <a:p>
            <a:pPr algn="just">
              <a:lnSpc>
                <a:spcPct val="150000"/>
              </a:lnSpc>
            </a:pPr>
            <a:r>
              <a:rPr lang="he-IL" sz="2200" dirty="0"/>
              <a:t>א. חשב רווח סמך להפרש בכמות המשקעים ברמת ביטחון של 90</a:t>
            </a:r>
            <a:r>
              <a:rPr lang="he-IL" sz="2200" dirty="0" smtClean="0"/>
              <a:t>%</a:t>
            </a:r>
          </a:p>
          <a:p>
            <a:pPr algn="just">
              <a:lnSpc>
                <a:spcPct val="150000"/>
              </a:lnSpc>
            </a:pPr>
            <a:r>
              <a:rPr lang="he-IL" sz="2200" dirty="0"/>
              <a:t>ב. האם ניתן לומר ברמת מובהקות זו שישנו הבדל בתוחלת המשקעים בין דצמבר וינואר?</a:t>
            </a:r>
          </a:p>
          <a:p>
            <a:pPr algn="just">
              <a:lnSpc>
                <a:spcPct val="150000"/>
              </a:lnSpc>
            </a:pPr>
            <a:endParaRPr lang="en-US" sz="2200" dirty="0" smtClean="0"/>
          </a:p>
          <a:p>
            <a:pPr algn="just">
              <a:lnSpc>
                <a:spcPct val="150000"/>
              </a:lnSpc>
            </a:pPr>
            <a:endParaRPr lang="he-IL" sz="2200" dirty="0"/>
          </a:p>
        </p:txBody>
      </p:sp>
    </p:spTree>
    <p:extLst>
      <p:ext uri="{BB962C8B-B14F-4D97-AF65-F5344CB8AC3E}">
        <p14:creationId xmlns:p14="http://schemas.microsoft.com/office/powerpoint/2010/main" val="127150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44624"/>
            <a:ext cx="8602216" cy="443198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he-IL" sz="2200" b="1" u="sng" dirty="0"/>
              <a:t>שאלה </a:t>
            </a:r>
            <a:r>
              <a:rPr lang="he-IL" sz="2200" b="1" u="sng" dirty="0" smtClean="0"/>
              <a:t>13</a:t>
            </a:r>
          </a:p>
          <a:p>
            <a:pPr>
              <a:lnSpc>
                <a:spcPct val="150000"/>
              </a:lnSpc>
            </a:pPr>
            <a:r>
              <a:rPr lang="he-IL" sz="2400" b="1" dirty="0"/>
              <a:t>במחקר שבו נבדקה ההוצאה החודשית הממוצעת על דלק נלקח מדגם של 5 משפחות ונמצאו התוצאות הבאות (בש"ח</a:t>
            </a:r>
            <a:r>
              <a:rPr lang="he-IL" sz="2400" b="1" dirty="0" smtClean="0"/>
              <a:t>): 	</a:t>
            </a:r>
            <a:r>
              <a:rPr lang="en-US" sz="2400" b="1" dirty="0" smtClean="0"/>
              <a:t>1500</a:t>
            </a:r>
            <a:r>
              <a:rPr lang="en-US" sz="2400" b="1" dirty="0"/>
              <a:t>, 1750, 800, 950, 1200</a:t>
            </a:r>
            <a:endParaRPr lang="he-IL" sz="2400" b="1" dirty="0"/>
          </a:p>
          <a:p>
            <a:pPr>
              <a:lnSpc>
                <a:spcPct val="150000"/>
              </a:lnSpc>
            </a:pPr>
            <a:r>
              <a:rPr lang="he-IL" sz="2400" dirty="0"/>
              <a:t>בנו רווח בר-סמך ברמת סמך של 95% לתוחלת ההוצאה החודשית על דלק</a:t>
            </a: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endParaRPr lang="he-IL" sz="2200" b="1" u="sng" dirty="0"/>
          </a:p>
        </p:txBody>
      </p:sp>
    </p:spTree>
    <p:extLst>
      <p:ext uri="{BB962C8B-B14F-4D97-AF65-F5344CB8AC3E}">
        <p14:creationId xmlns:p14="http://schemas.microsoft.com/office/powerpoint/2010/main" val="1909001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44624"/>
            <a:ext cx="8602216" cy="443198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he-IL" sz="2200" b="1" u="sng" dirty="0"/>
              <a:t>שאלה </a:t>
            </a:r>
            <a:r>
              <a:rPr lang="he-IL" sz="2200" b="1" u="sng" dirty="0" smtClean="0"/>
              <a:t>14</a:t>
            </a:r>
          </a:p>
          <a:p>
            <a:pPr>
              <a:lnSpc>
                <a:spcPct val="150000"/>
              </a:lnSpc>
            </a:pPr>
            <a:r>
              <a:rPr lang="he-IL" sz="2400" b="1" dirty="0"/>
              <a:t>למחקר הבודק תלות בין צפייה בתוכנית "האח הגדול" לבין הסיכוי לקבל מיגרנה חריפה, נבחרו אקראית 80 בני אדם, מתוכם 50 השיבו שהם צופים בתוכנית. 40% מבין צופי "האח הגדול" דיווחו על מיגרנה, זאת לעומת 1/3 דיווחים על מיגרנה בקבוצה שלא צפתה בתוכנית. </a:t>
            </a:r>
            <a:endParaRPr lang="he-IL" sz="2400" b="1" dirty="0" smtClean="0"/>
          </a:p>
          <a:p>
            <a:pPr>
              <a:lnSpc>
                <a:spcPct val="150000"/>
              </a:lnSpc>
            </a:pPr>
            <a:r>
              <a:rPr lang="he-IL" sz="2400" dirty="0" smtClean="0"/>
              <a:t>בדוק </a:t>
            </a:r>
            <a:r>
              <a:rPr lang="he-IL" sz="2400" dirty="0"/>
              <a:t>את ההשערה ברמת מובהקות של </a:t>
            </a:r>
            <a:r>
              <a:rPr lang="en-US" sz="2400" dirty="0"/>
              <a:t>.95%</a:t>
            </a:r>
            <a:endParaRPr lang="he-IL" sz="2400" dirty="0"/>
          </a:p>
          <a:p>
            <a:pPr algn="just">
              <a:lnSpc>
                <a:spcPct val="150000"/>
              </a:lnSpc>
            </a:pPr>
            <a:endParaRPr lang="he-IL" sz="2200" b="1" u="sng" dirty="0"/>
          </a:p>
        </p:txBody>
      </p:sp>
    </p:spTree>
    <p:extLst>
      <p:ext uri="{BB962C8B-B14F-4D97-AF65-F5344CB8AC3E}">
        <p14:creationId xmlns:p14="http://schemas.microsoft.com/office/powerpoint/2010/main" val="168591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99592" y="44624"/>
            <a:ext cx="8098160" cy="567847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he-IL" sz="2200" b="1" u="sng" dirty="0"/>
              <a:t>שאלה </a:t>
            </a:r>
            <a:r>
              <a:rPr lang="he-IL" sz="2200" b="1" u="sng" dirty="0" smtClean="0"/>
              <a:t>15</a:t>
            </a:r>
          </a:p>
          <a:p>
            <a:pPr algn="just">
              <a:lnSpc>
                <a:spcPct val="150000"/>
              </a:lnSpc>
            </a:pPr>
            <a:r>
              <a:rPr lang="he-IL" sz="2200" dirty="0" smtClean="0"/>
              <a:t>רוצים לבדוק את ההשערה שהציון במועד ב' בקורס סטטיסטיקה נמוך מהציון במועד א'. נדגמו 8 סטודנטים שנבחנו בשני המועדים, וקיבלו את הציונים הבאים</a:t>
            </a:r>
          </a:p>
          <a:p>
            <a:pPr algn="just">
              <a:lnSpc>
                <a:spcPct val="150000"/>
              </a:lnSpc>
            </a:pPr>
            <a:endParaRPr lang="he-IL" sz="2200" dirty="0"/>
          </a:p>
          <a:p>
            <a:pPr algn="just">
              <a:lnSpc>
                <a:spcPct val="150000"/>
              </a:lnSpc>
            </a:pPr>
            <a:endParaRPr lang="he-IL" sz="2200" dirty="0" smtClean="0"/>
          </a:p>
          <a:p>
            <a:pPr algn="just">
              <a:lnSpc>
                <a:spcPct val="150000"/>
              </a:lnSpc>
            </a:pPr>
            <a:endParaRPr lang="he-IL" sz="2200" dirty="0"/>
          </a:p>
          <a:p>
            <a:pPr algn="just">
              <a:lnSpc>
                <a:spcPct val="150000"/>
              </a:lnSpc>
            </a:pPr>
            <a:endParaRPr lang="he-IL" sz="2200" dirty="0" smtClean="0"/>
          </a:p>
          <a:p>
            <a:pPr algn="just">
              <a:lnSpc>
                <a:spcPct val="150000"/>
              </a:lnSpc>
            </a:pPr>
            <a:r>
              <a:rPr lang="he-IL" sz="2200" dirty="0" smtClean="0"/>
              <a:t>האם עפ"י נתוני המדגם ניתן לקבל את ההשערה ברמת מובהקות של 0.05 ?</a:t>
            </a:r>
          </a:p>
          <a:p>
            <a:pPr algn="just">
              <a:lnSpc>
                <a:spcPct val="150000"/>
              </a:lnSpc>
            </a:pPr>
            <a:endParaRPr lang="he-IL" sz="22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655900"/>
              </p:ext>
            </p:extLst>
          </p:nvPr>
        </p:nvGraphicFramePr>
        <p:xfrm>
          <a:off x="827584" y="2564904"/>
          <a:ext cx="7416826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69298"/>
                <a:gridCol w="769298"/>
                <a:gridCol w="769298"/>
                <a:gridCol w="769298"/>
                <a:gridCol w="769298"/>
                <a:gridCol w="769298"/>
                <a:gridCol w="769298"/>
                <a:gridCol w="769298"/>
                <a:gridCol w="1262442"/>
              </a:tblGrid>
              <a:tr h="370840">
                <a:tc>
                  <a:txBody>
                    <a:bodyPr/>
                    <a:lstStyle/>
                    <a:p>
                      <a:r>
                        <a:rPr lang="he-IL" b="0" dirty="0" smtClean="0"/>
                        <a:t>90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b="0" dirty="0" smtClean="0"/>
                        <a:t>65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b="0" dirty="0" smtClean="0"/>
                        <a:t>70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b="0" dirty="0" smtClean="0"/>
                        <a:t>80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b="0" dirty="0" smtClean="0"/>
                        <a:t>93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b="0" dirty="0" smtClean="0"/>
                        <a:t>71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b="0" dirty="0" smtClean="0"/>
                        <a:t>95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b="0" dirty="0" smtClean="0"/>
                        <a:t>100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b="1" dirty="0" smtClean="0"/>
                        <a:t>מועד א</a:t>
                      </a:r>
                      <a:endParaRPr lang="en-GB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he-IL" b="0" dirty="0" smtClean="0"/>
                        <a:t>80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b="0" dirty="0" smtClean="0"/>
                        <a:t>60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b="0" dirty="0" smtClean="0"/>
                        <a:t>64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b="0" dirty="0" smtClean="0"/>
                        <a:t>70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b="0" dirty="0" smtClean="0"/>
                        <a:t>85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b="0" dirty="0" smtClean="0"/>
                        <a:t>60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b="0" dirty="0" smtClean="0"/>
                        <a:t>96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b="0" dirty="0" smtClean="0"/>
                        <a:t>100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b="1" dirty="0" smtClean="0"/>
                        <a:t>מועד ב</a:t>
                      </a:r>
                      <a:endParaRPr lang="en-GB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7817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התאמה אישית 1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התאמה אישית 1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4651</TotalTime>
  <Words>1260</Words>
  <Application>Microsoft Office PowerPoint</Application>
  <PresentationFormat>On-screen Show (4:3)</PresentationFormat>
  <Paragraphs>228</Paragraphs>
  <Slides>18</Slides>
  <Notes>7</Notes>
  <HiddenSlides>2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Symbol</vt:lpstr>
      <vt:lpstr>Tahoma</vt:lpstr>
      <vt:lpstr>Times New Roman</vt:lpstr>
      <vt:lpstr>ערכת נושא Office</vt:lpstr>
      <vt:lpstr>1_ערכת נושא Office</vt:lpstr>
      <vt:lpstr>Equation</vt:lpstr>
      <vt:lpstr>מבוא לסטטיסטיקה והסתברות</vt:lpstr>
      <vt:lpstr>PowerPoint Presentation</vt:lpstr>
      <vt:lpstr>PowerPoint Presentation</vt:lpstr>
      <vt:lpstr>חישוב קו הרגרסיה</vt:lpstr>
      <vt:lpstr>PowerPoint Presentation</vt:lpstr>
      <vt:lpstr>PowerPoint Presentation</vt:lpstr>
      <vt:lpstr>PowerPoint Presentation</vt:lpstr>
      <vt:lpstr>PowerPoint Presentation</vt:lpstr>
      <vt:lpstr>סוגי התפלגויות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Your Company Name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סטטיסטיקה ב' - תרגיל</dc:title>
  <dc:creator>Yaara</dc:creator>
  <cp:lastModifiedBy>yaara s</cp:lastModifiedBy>
  <cp:revision>162</cp:revision>
  <dcterms:created xsi:type="dcterms:W3CDTF">2011-10-31T22:07:50Z</dcterms:created>
  <dcterms:modified xsi:type="dcterms:W3CDTF">2015-08-26T20:28:36Z</dcterms:modified>
</cp:coreProperties>
</file>