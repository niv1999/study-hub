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56" r:id="rId2"/>
    <p:sldId id="356" r:id="rId3"/>
    <p:sldId id="358" r:id="rId4"/>
    <p:sldId id="363" r:id="rId5"/>
    <p:sldId id="359" r:id="rId6"/>
    <p:sldId id="357" r:id="rId7"/>
    <p:sldId id="364" r:id="rId8"/>
    <p:sldId id="365" r:id="rId9"/>
    <p:sldId id="366" r:id="rId10"/>
    <p:sldId id="367" r:id="rId11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סגנון ערכת נושא 1 - הדגשה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68" autoAdjust="0"/>
    <p:restoredTop sz="91086" autoAdjust="0"/>
  </p:normalViewPr>
  <p:slideViewPr>
    <p:cSldViewPr>
      <p:cViewPr varScale="1">
        <p:scale>
          <a:sx n="82" d="100"/>
          <a:sy n="82" d="100"/>
        </p:scale>
        <p:origin x="121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0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3 ניסיונות </a:t>
            </a:r>
            <a:r>
              <a:rPr lang="he-IL" dirty="0" err="1" smtClean="0"/>
              <a:t>ברנולי</a:t>
            </a:r>
            <a:r>
              <a:rPr lang="he-IL" baseline="0" dirty="0" smtClean="0"/>
              <a:t> </a:t>
            </a:r>
            <a:r>
              <a:rPr lang="he-IL" baseline="0" dirty="0" err="1" smtClean="0"/>
              <a:t>ב"ת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0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>
              <a:lnSpc>
                <a:spcPct val="150000"/>
              </a:lnSpc>
              <a:defRPr sz="2600"/>
            </a:lvl2pPr>
            <a:lvl3pPr>
              <a:lnSpc>
                <a:spcPct val="150000"/>
              </a:lnSpc>
              <a:defRPr sz="2600"/>
            </a:lvl3pPr>
            <a:lvl4pPr>
              <a:lnSpc>
                <a:spcPct val="150000"/>
              </a:lnSpc>
              <a:defRPr sz="2600"/>
            </a:lvl4pPr>
            <a:lvl5pPr>
              <a:lnSpc>
                <a:spcPct val="150000"/>
              </a:lnSpc>
              <a:defRPr sz="26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10/25/2015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</a:t>
            </a:r>
            <a:r>
              <a:rPr lang="en-US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03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b="1" u="sng" dirty="0" smtClean="0"/>
              <a:t>שאלה 1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000" dirty="0" smtClean="0"/>
              <a:t>בקורס בינלאומי בנושא פילוסופיה של המדע משתתפים 46 סטודנטים, חלקם סטודנטים לפילוסופיה וחלקם סטודנטים לביולוגיה, עפ"י הפירוט הבא: </a:t>
            </a:r>
          </a:p>
          <a:p>
            <a:r>
              <a:rPr lang="he-IL" sz="2000" dirty="0" smtClean="0"/>
              <a:t>12 סטודנטים ישראלים, מתוכם 7 לומדים פילוסופיה ו-5 ביולוגיה</a:t>
            </a:r>
          </a:p>
          <a:p>
            <a:r>
              <a:rPr lang="he-IL" sz="2000" dirty="0" smtClean="0"/>
              <a:t>10 סטודנטים יווניים, מתוכם 9 לומדים פילוסופיה ואחד ביולוגיה</a:t>
            </a:r>
          </a:p>
          <a:p>
            <a:r>
              <a:rPr lang="he-IL" sz="2000" dirty="0" smtClean="0"/>
              <a:t>16 סטודנטים אמריקאים, מתוכם 8 לומדים פילוסופיה ו-8 ביולוגיה</a:t>
            </a:r>
          </a:p>
          <a:p>
            <a:r>
              <a:rPr lang="he-IL" sz="2000" dirty="0" smtClean="0"/>
              <a:t>8 סטודנטים בריטים, כולם לומדים ביולוגיה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000" dirty="0" smtClean="0"/>
              <a:t>בוחרים באקראי סטודנט אחד מקרב המשתתפים בקורס. מהי ההסתברות שהוא יהיה: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000" dirty="0" smtClean="0"/>
              <a:t>א. ישראלי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000" dirty="0" smtClean="0"/>
              <a:t>ב. סטודנט לביולוגיה</a:t>
            </a:r>
            <a:endParaRPr lang="he-IL" sz="2000" dirty="0"/>
          </a:p>
          <a:p>
            <a:pPr marL="0" indent="0">
              <a:lnSpc>
                <a:spcPct val="150000"/>
              </a:lnSpc>
              <a:buNone/>
            </a:pPr>
            <a:r>
              <a:rPr lang="he-IL" sz="2000" dirty="0" smtClean="0"/>
              <a:t>ג. סטודנט בריטי לפילוסופיה</a:t>
            </a:r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8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b="1" u="sng" dirty="0" smtClean="0"/>
              <a:t>שאלה 2</a:t>
            </a:r>
            <a:endParaRPr lang="he-IL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שחקן שש-בש מטיל שתי קוביות. מהי ההסתברות ש: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א. התוצאה תהיה 6,6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ב. התוצאה תהיה שני מספרים שווים זה לזה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ג. שעל אחת הקוביות בלבד </a:t>
            </a:r>
            <a:r>
              <a:rPr lang="he-IL" dirty="0" smtClean="0"/>
              <a:t>התוצאה </a:t>
            </a:r>
            <a:r>
              <a:rPr lang="he-IL" dirty="0" smtClean="0"/>
              <a:t>תהיה 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 smtClean="0"/>
              <a:t>ד. שלפחות על אחת הקוביות התוצאה תהיה 1</a:t>
            </a:r>
          </a:p>
          <a:p>
            <a:pPr marL="0" indent="0">
              <a:lnSpc>
                <a:spcPct val="150000"/>
              </a:lnSpc>
              <a:buNone/>
            </a:pPr>
            <a:endParaRPr lang="he-IL" dirty="0" smtClean="0"/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62066"/>
              </p:ext>
            </p:extLst>
          </p:nvPr>
        </p:nvGraphicFramePr>
        <p:xfrm>
          <a:off x="3707904" y="4373552"/>
          <a:ext cx="3240363" cy="20368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130304">
                <a:tc>
                  <a:txBody>
                    <a:bodyPr/>
                    <a:lstStyle/>
                    <a:p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1,2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1,3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1,4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1,5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1,6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2,6</a:t>
                      </a:r>
                      <a:endParaRPr lang="en-GB" sz="1200" dirty="0"/>
                    </a:p>
                  </a:txBody>
                  <a:tcPr/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3,6</a:t>
                      </a:r>
                      <a:endParaRPr lang="en-GB" sz="1200" dirty="0"/>
                    </a:p>
                  </a:txBody>
                  <a:tcPr/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4,6</a:t>
                      </a:r>
                      <a:endParaRPr lang="en-GB" sz="1200" dirty="0"/>
                    </a:p>
                  </a:txBody>
                  <a:tcPr/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5,6</a:t>
                      </a:r>
                      <a:endParaRPr lang="en-GB" sz="1200" dirty="0"/>
                    </a:p>
                  </a:txBody>
                  <a:tcPr/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6,6</a:t>
                      </a:r>
                      <a:endParaRPr lang="en-GB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49329"/>
              </p:ext>
            </p:extLst>
          </p:nvPr>
        </p:nvGraphicFramePr>
        <p:xfrm>
          <a:off x="3707904" y="4373552"/>
          <a:ext cx="3240363" cy="20368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149736">
                <a:tc>
                  <a:txBody>
                    <a:bodyPr/>
                    <a:lstStyle/>
                    <a:p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1,2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1,3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1,4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1,5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1,6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865696"/>
              </p:ext>
            </p:extLst>
          </p:nvPr>
        </p:nvGraphicFramePr>
        <p:xfrm>
          <a:off x="3707904" y="4373552"/>
          <a:ext cx="3240363" cy="20368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149736">
                <a:tc>
                  <a:txBody>
                    <a:bodyPr/>
                    <a:lstStyle/>
                    <a:p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1,1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2,2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3,3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4,4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5,5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6,6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63880"/>
              </p:ext>
            </p:extLst>
          </p:nvPr>
        </p:nvGraphicFramePr>
        <p:xfrm>
          <a:off x="3707904" y="4373552"/>
          <a:ext cx="3240363" cy="20368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202312">
                <a:tc>
                  <a:txBody>
                    <a:bodyPr/>
                    <a:lstStyle/>
                    <a:p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6,6</a:t>
                      </a:r>
                      <a:endParaRPr lang="en-GB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930074"/>
              </p:ext>
            </p:extLst>
          </p:nvPr>
        </p:nvGraphicFramePr>
        <p:xfrm>
          <a:off x="3707904" y="4373552"/>
          <a:ext cx="3240363" cy="20368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2909"/>
                <a:gridCol w="462909"/>
                <a:gridCol w="462909"/>
                <a:gridCol w="462909"/>
                <a:gridCol w="462909"/>
                <a:gridCol w="462909"/>
                <a:gridCol w="462909"/>
              </a:tblGrid>
              <a:tr h="149736">
                <a:tc>
                  <a:txBody>
                    <a:bodyPr/>
                    <a:lstStyle/>
                    <a:p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</a:t>
                      </a:r>
                      <a:endParaRPr lang="en-GB" sz="1200" b="1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6,1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6,2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6,3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6,4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6,5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6,6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264834"/>
              </p:ext>
            </p:extLst>
          </p:nvPr>
        </p:nvGraphicFramePr>
        <p:xfrm>
          <a:off x="827584" y="5085184"/>
          <a:ext cx="2203960" cy="613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1" name="Equation" r:id="rId3" imgW="1549080" imgH="431640" progId="Equation.3">
                  <p:embed/>
                </p:oleObj>
              </mc:Choice>
              <mc:Fallback>
                <p:oleObj name="Equation" r:id="rId3" imgW="1549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085184"/>
                        <a:ext cx="2203960" cy="613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735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44624"/>
            <a:ext cx="9144000" cy="612616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he-IL" b="1" u="sng" dirty="0" smtClean="0"/>
              <a:t>שאלה 3</a:t>
            </a:r>
            <a:endParaRPr lang="he-IL" dirty="0" smtClean="0"/>
          </a:p>
          <a:p>
            <a:pPr marL="0" lvl="0" indent="0"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</a:rPr>
              <a:t>הסיכוי של לברון ג'יימס להצליח בקליעה מקו השלוש </a:t>
            </a:r>
            <a:r>
              <a:rPr lang="he-IL" dirty="0" smtClean="0">
                <a:solidFill>
                  <a:prstClr val="black"/>
                </a:solidFill>
              </a:rPr>
              <a:t>הוא </a:t>
            </a:r>
            <a:r>
              <a:rPr lang="he-IL" dirty="0">
                <a:solidFill>
                  <a:prstClr val="black"/>
                </a:solidFill>
              </a:rPr>
              <a:t>0.4. הוא מקבל 3 ניסיונות לקלוע לסל.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</a:rPr>
              <a:t>מה ההסתברות ש: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</a:rPr>
              <a:t>א. הוא יצליח בכל הניסיונות?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</a:rPr>
              <a:t>ב. הוא יצליח רק בשני ניסיונות?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he-IL" dirty="0">
                <a:solidFill>
                  <a:prstClr val="black"/>
                </a:solidFill>
              </a:rPr>
              <a:t>ג. הוא יצליח לכל היותר בשני ניסיונות? </a:t>
            </a:r>
            <a:endParaRPr lang="he-IL" dirty="0" smtClean="0">
              <a:solidFill>
                <a:prstClr val="black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he-IL" dirty="0" smtClean="0">
                <a:solidFill>
                  <a:prstClr val="black"/>
                </a:solidFill>
              </a:rPr>
              <a:t>ד. הוא ייכשל לפחות בנסיון אחד?</a:t>
            </a:r>
            <a:endParaRPr lang="he-IL" dirty="0">
              <a:solidFill>
                <a:prstClr val="black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he-IL" dirty="0" smtClean="0"/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128199"/>
              </p:ext>
            </p:extLst>
          </p:nvPr>
        </p:nvGraphicFramePr>
        <p:xfrm>
          <a:off x="488950" y="5157788"/>
          <a:ext cx="27559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6" name="Equation" r:id="rId3" imgW="1028520" imgH="457200" progId="Equation.3">
                  <p:embed/>
                </p:oleObj>
              </mc:Choice>
              <mc:Fallback>
                <p:oleObj name="Equation" r:id="rId3" imgW="10285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5157788"/>
                        <a:ext cx="2755900" cy="1223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763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46935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600" b="1" u="sng" dirty="0" smtClean="0"/>
              <a:t>שאלה </a:t>
            </a:r>
            <a:r>
              <a:rPr lang="en-US" sz="2600" b="1" u="sng" dirty="0" smtClean="0"/>
              <a:t>4</a:t>
            </a:r>
            <a:endParaRPr lang="he-IL" sz="2600" b="1" u="sng" dirty="0" smtClean="0"/>
          </a:p>
          <a:p>
            <a:pPr>
              <a:lnSpc>
                <a:spcPct val="150000"/>
              </a:lnSpc>
            </a:pPr>
            <a:r>
              <a:rPr lang="he-IL" sz="2600" dirty="0" smtClean="0"/>
              <a:t>הטילו מטבע 6 פעמים. מהי ההסתברות ש:</a:t>
            </a:r>
          </a:p>
          <a:p>
            <a:pPr>
              <a:lnSpc>
                <a:spcPct val="150000"/>
              </a:lnSpc>
            </a:pPr>
            <a:r>
              <a:rPr lang="he-IL" sz="2600" dirty="0" smtClean="0"/>
              <a:t>א. רק בשתי ההטלות הראשונות ייצא עץ</a:t>
            </a:r>
          </a:p>
          <a:p>
            <a:pPr>
              <a:lnSpc>
                <a:spcPct val="150000"/>
              </a:lnSpc>
            </a:pPr>
            <a:r>
              <a:rPr lang="he-IL" sz="2600" dirty="0" smtClean="0"/>
              <a:t>ב. ייצא מס' שווה של עץ ופלי</a:t>
            </a:r>
          </a:p>
          <a:p>
            <a:pPr>
              <a:lnSpc>
                <a:spcPct val="150000"/>
              </a:lnSpc>
            </a:pPr>
            <a:r>
              <a:rPr lang="he-IL" sz="2600" dirty="0" smtClean="0"/>
              <a:t>ג. בכל ההטלות ייצא פלי</a:t>
            </a:r>
          </a:p>
          <a:p>
            <a:pPr>
              <a:lnSpc>
                <a:spcPct val="150000"/>
              </a:lnSpc>
            </a:pPr>
            <a:r>
              <a:rPr lang="he-IL" sz="2600" dirty="0" smtClean="0"/>
              <a:t>ד. ייצא פלי בלא יותר מ-5 פעמים</a:t>
            </a:r>
          </a:p>
          <a:p>
            <a:pPr>
              <a:lnSpc>
                <a:spcPct val="150000"/>
              </a:lnSpc>
            </a:pPr>
            <a:endParaRPr lang="he-IL" sz="2600" dirty="0" smtClean="0"/>
          </a:p>
          <a:p>
            <a:pPr>
              <a:lnSpc>
                <a:spcPct val="150000"/>
              </a:lnSpc>
            </a:pPr>
            <a:endParaRPr lang="he-IL" sz="2600" dirty="0" smtClean="0"/>
          </a:p>
        </p:txBody>
      </p:sp>
    </p:spTree>
    <p:extLst>
      <p:ext uri="{BB962C8B-B14F-4D97-AF65-F5344CB8AC3E}">
        <p14:creationId xmlns:p14="http://schemas.microsoft.com/office/powerpoint/2010/main" val="10040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5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כמה אפשרויות ישנן ליצירת מילה </a:t>
            </a:r>
            <a:r>
              <a:rPr lang="he-IL" dirty="0"/>
              <a:t>בת 3 אותיות</a:t>
            </a:r>
            <a:r>
              <a:rPr lang="he-IL" dirty="0" smtClean="0"/>
              <a:t> (לאו </a:t>
            </a:r>
            <a:r>
              <a:rPr lang="he-IL" dirty="0"/>
              <a:t>דווקא בעלת </a:t>
            </a:r>
            <a:r>
              <a:rPr lang="he-IL" dirty="0" smtClean="0"/>
              <a:t>משמעות, אך ללא חזרה על אותה אות פעמיים) מתוך האלף-בית העברי, שמכיל 22 אותיות.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57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6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he-IL" dirty="0"/>
              <a:t>מסדרים 12 חוברות של הירחון "מסע אחר" על מדף באופן מקרי.</a:t>
            </a:r>
            <a:endParaRPr lang="en-GB" dirty="0"/>
          </a:p>
          <a:p>
            <a:pPr marL="0" lvl="0" indent="0">
              <a:buNone/>
            </a:pPr>
            <a:r>
              <a:rPr lang="he-IL" dirty="0" smtClean="0"/>
              <a:t>א. כמה סידורים אפשריים יש שבהם החוברות </a:t>
            </a:r>
            <a:r>
              <a:rPr lang="he-IL" dirty="0"/>
              <a:t>של חודשים ינואר, פברואר ומרץ יופיעו בשכנות</a:t>
            </a:r>
            <a:r>
              <a:rPr lang="he-IL" dirty="0" smtClean="0"/>
              <a:t>?</a:t>
            </a:r>
            <a:r>
              <a:rPr lang="en-US" dirty="0" smtClean="0"/>
              <a:t>  </a:t>
            </a:r>
            <a:r>
              <a:rPr lang="he-IL" dirty="0" smtClean="0"/>
              <a:t>מהי ההסתברות לכך?</a:t>
            </a:r>
            <a:endParaRPr lang="en-GB" dirty="0"/>
          </a:p>
          <a:p>
            <a:pPr marL="0" lvl="0" indent="0">
              <a:buNone/>
            </a:pPr>
            <a:r>
              <a:rPr lang="he-IL" dirty="0" smtClean="0"/>
              <a:t>ב. כמה סידורים אפשריים יש שבהם החוברות של כל רבעון יעמדו זו לצד זו?</a:t>
            </a: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81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7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he-IL" dirty="0"/>
              <a:t>כמה אפשרויות יש לבחירת 5 ספרים מתוך 12 ספרים שעל המדף כאשר :</a:t>
            </a:r>
            <a:endParaRPr lang="en-GB" dirty="0"/>
          </a:p>
          <a:p>
            <a:pPr marL="0" lvl="0" indent="0">
              <a:buNone/>
            </a:pPr>
            <a:r>
              <a:rPr lang="he-IL" dirty="0" smtClean="0"/>
              <a:t>א. ספר </a:t>
            </a:r>
            <a:r>
              <a:rPr lang="he-IL" dirty="0"/>
              <a:t>מסוים אחד חייב להיות בין 5 הספרים הנבחרים.</a:t>
            </a:r>
            <a:endParaRPr lang="en-GB" dirty="0"/>
          </a:p>
          <a:p>
            <a:pPr marL="0" indent="0">
              <a:buNone/>
            </a:pPr>
            <a:r>
              <a:rPr lang="he-IL" dirty="0" smtClean="0"/>
              <a:t>ב. ספר </a:t>
            </a:r>
            <a:r>
              <a:rPr lang="he-IL" dirty="0"/>
              <a:t>מסוים אחד אסור שיהיה בין 5 הספרים הנבחרים.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21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8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e-IL" dirty="0" smtClean="0"/>
              <a:t>סטודנט ניגש למבחן שבו 5 שאלות אמריקאיות, שמשקלן לציון הסופי זהה. הוא מנחש את התשובות לכל השאלות, </a:t>
            </a:r>
            <a:r>
              <a:rPr lang="he-IL" dirty="0" smtClean="0"/>
              <a:t>כלומר </a:t>
            </a:r>
            <a:r>
              <a:rPr lang="he-IL" dirty="0" smtClean="0"/>
              <a:t>בוחר באקראי תשובה אחת מתוך ארבע תשובות אפשריות.</a:t>
            </a:r>
          </a:p>
          <a:p>
            <a:pPr marL="0" indent="0">
              <a:buNone/>
            </a:pPr>
            <a:r>
              <a:rPr lang="he-IL" dirty="0" smtClean="0"/>
              <a:t>א. מהי ההסתברות שהוא יענה נכון על שאלה </a:t>
            </a:r>
            <a:r>
              <a:rPr lang="en-US" dirty="0" smtClean="0"/>
              <a:t>4</a:t>
            </a:r>
            <a:r>
              <a:rPr lang="he-IL" dirty="0" smtClean="0"/>
              <a:t>? </a:t>
            </a:r>
          </a:p>
          <a:p>
            <a:pPr marL="0" indent="0">
              <a:buNone/>
            </a:pPr>
            <a:r>
              <a:rPr lang="he-IL" dirty="0" smtClean="0"/>
              <a:t>ב. מהי ההסתברות </a:t>
            </a:r>
            <a:r>
              <a:rPr lang="he-IL" dirty="0"/>
              <a:t>שהוא </a:t>
            </a:r>
            <a:r>
              <a:rPr lang="he-IL" dirty="0" smtClean="0"/>
              <a:t>יקבל ציון עובר (60 ומעלה)?</a:t>
            </a:r>
          </a:p>
          <a:p>
            <a:pPr marL="0" indent="0">
              <a:buNone/>
            </a:pPr>
            <a:r>
              <a:rPr lang="he-IL" dirty="0" smtClean="0"/>
              <a:t>ג. מהי ההסתברות ששני סטודנטים שניחשו את כל התשובות ייכשלו שניהם?</a:t>
            </a:r>
          </a:p>
          <a:p>
            <a:pPr marL="0" indent="0">
              <a:buNone/>
            </a:pPr>
            <a:r>
              <a:rPr lang="he-IL" dirty="0" smtClean="0"/>
              <a:t>ד. מהי ההסתברות שאחד מהם ייכשל והשני יעבור?</a:t>
            </a:r>
          </a:p>
          <a:p>
            <a:pPr marL="0" indent="0">
              <a:buNone/>
            </a:pPr>
            <a:r>
              <a:rPr lang="he-IL" dirty="0" smtClean="0"/>
              <a:t>ה. מהי ההסתברות ששניהם יעברו?</a:t>
            </a:r>
            <a:endParaRPr lang="he-IL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121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9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e-IL" dirty="0" smtClean="0"/>
              <a:t>ההסתברות שזוג ייצא במהלך חודש כלשהו </a:t>
            </a:r>
            <a:r>
              <a:rPr lang="he-IL" dirty="0"/>
              <a:t>למסעדה </a:t>
            </a:r>
            <a:endParaRPr lang="en-GB" dirty="0"/>
          </a:p>
          <a:p>
            <a:pPr marL="0" indent="0">
              <a:buNone/>
            </a:pPr>
            <a:r>
              <a:rPr lang="he-IL" dirty="0" smtClean="0"/>
              <a:t>היא 0.8, לקולנוע היא 0.6 ולהופעה היא 0.3, באופן בלתי תלוי (אך לא יותר מפעם אחת לכל מקום).</a:t>
            </a:r>
          </a:p>
          <a:p>
            <a:pPr marL="0" indent="0">
              <a:buNone/>
            </a:pPr>
            <a:r>
              <a:rPr lang="he-IL" dirty="0" smtClean="0"/>
              <a:t>א. מהי ההסתברות שבמהלך החודש הזוג יצא רק להופעה?</a:t>
            </a:r>
          </a:p>
          <a:p>
            <a:pPr marL="0" indent="0">
              <a:buNone/>
            </a:pPr>
            <a:r>
              <a:rPr lang="he-IL" dirty="0" smtClean="0"/>
              <a:t>ב. מהי ההסתברות שבמהלך החודש הזוג יצא לפחות פעם אחת?</a:t>
            </a:r>
          </a:p>
          <a:p>
            <a:pPr marL="0" indent="0">
              <a:buNone/>
            </a:pPr>
            <a:r>
              <a:rPr lang="he-IL" dirty="0"/>
              <a:t>ג</a:t>
            </a:r>
            <a:r>
              <a:rPr lang="he-IL" dirty="0" smtClean="0"/>
              <a:t>. </a:t>
            </a:r>
            <a:r>
              <a:rPr lang="he-IL" dirty="0" smtClean="0"/>
              <a:t>נבחנו 3 חודשים. מה הסיכוי שבשניים מהם הזוג יצא ל-2 מקומות לפחות?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1039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5979</TotalTime>
  <Words>756</Words>
  <Application>Microsoft Office PowerPoint</Application>
  <PresentationFormat>On-screen Show (4:3)</PresentationFormat>
  <Paragraphs>296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Tahoma</vt:lpstr>
      <vt:lpstr>ערכת נושא Office</vt:lpstr>
      <vt:lpstr>Equation</vt:lpstr>
      <vt:lpstr>Microsoft Equation 3.0</vt:lpstr>
      <vt:lpstr>מבוא לסטטיסטיקה והסתברות</vt:lpstr>
      <vt:lpstr>PowerPoint Presentation</vt:lpstr>
      <vt:lpstr>PowerPoint Presentation</vt:lpstr>
      <vt:lpstr>PowerPoint Presentation</vt:lpstr>
      <vt:lpstr>PowerPoint Presentation</vt:lpstr>
      <vt:lpstr>שאלה 5 </vt:lpstr>
      <vt:lpstr>שאלה 6</vt:lpstr>
      <vt:lpstr>שאלה 7</vt:lpstr>
      <vt:lpstr>שאלה 8</vt:lpstr>
      <vt:lpstr>שאלה 9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yaara s</cp:lastModifiedBy>
  <cp:revision>133</cp:revision>
  <dcterms:created xsi:type="dcterms:W3CDTF">2011-10-31T22:07:50Z</dcterms:created>
  <dcterms:modified xsi:type="dcterms:W3CDTF">2015-10-25T21:41:12Z</dcterms:modified>
</cp:coreProperties>
</file>