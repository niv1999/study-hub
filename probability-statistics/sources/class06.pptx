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  <p:sldMasterId id="2147483660" r:id="rId2"/>
  </p:sldMasterIdLst>
  <p:notesMasterIdLst>
    <p:notesMasterId r:id="rId17"/>
  </p:notesMasterIdLst>
  <p:sldIdLst>
    <p:sldId id="299" r:id="rId3"/>
    <p:sldId id="321" r:id="rId4"/>
    <p:sldId id="320" r:id="rId5"/>
    <p:sldId id="322" r:id="rId6"/>
    <p:sldId id="324" r:id="rId7"/>
    <p:sldId id="325" r:id="rId8"/>
    <p:sldId id="327" r:id="rId9"/>
    <p:sldId id="340" r:id="rId10"/>
    <p:sldId id="341" r:id="rId11"/>
    <p:sldId id="342" r:id="rId12"/>
    <p:sldId id="343" r:id="rId13"/>
    <p:sldId id="344" r:id="rId14"/>
    <p:sldId id="345" r:id="rId15"/>
    <p:sldId id="346" r:id="rId16"/>
  </p:sldIdLst>
  <p:sldSz cx="9144000" cy="6858000" type="screen4x3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Yaara" initials="YS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ללא סגנון, רשת טבלה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ללא סגנון, ללא רשת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סגנון בהיר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C4B1156A-380E-4F78-BDF5-A606A8083BF9}" styleName="סגנון ביניים 4 - הדגשה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7417" autoAdjust="0"/>
    <p:restoredTop sz="84211" autoAdjust="0"/>
  </p:normalViewPr>
  <p:slideViewPr>
    <p:cSldViewPr>
      <p:cViewPr varScale="1">
        <p:scale>
          <a:sx n="91" d="100"/>
          <a:sy n="91" d="100"/>
        </p:scale>
        <p:origin x="1061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commentAuthors" Target="commentAuthors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13" Type="http://schemas.openxmlformats.org/officeDocument/2006/relationships/image" Target="../media/image13.wmf"/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12" Type="http://schemas.openxmlformats.org/officeDocument/2006/relationships/image" Target="../media/image12.wmf"/><Relationship Id="rId17" Type="http://schemas.openxmlformats.org/officeDocument/2006/relationships/image" Target="../media/image17.wmf"/><Relationship Id="rId2" Type="http://schemas.openxmlformats.org/officeDocument/2006/relationships/image" Target="../media/image2.wmf"/><Relationship Id="rId16" Type="http://schemas.openxmlformats.org/officeDocument/2006/relationships/image" Target="../media/image16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11" Type="http://schemas.openxmlformats.org/officeDocument/2006/relationships/image" Target="../media/image11.wmf"/><Relationship Id="rId5" Type="http://schemas.openxmlformats.org/officeDocument/2006/relationships/image" Target="../media/image5.wmf"/><Relationship Id="rId15" Type="http://schemas.openxmlformats.org/officeDocument/2006/relationships/image" Target="../media/image15.wmf"/><Relationship Id="rId10" Type="http://schemas.openxmlformats.org/officeDocument/2006/relationships/image" Target="../media/image10.wmf"/><Relationship Id="rId4" Type="http://schemas.openxmlformats.org/officeDocument/2006/relationships/image" Target="../media/image4.wmf"/><Relationship Id="rId9" Type="http://schemas.openxmlformats.org/officeDocument/2006/relationships/image" Target="../media/image9.wmf"/><Relationship Id="rId14" Type="http://schemas.openxmlformats.org/officeDocument/2006/relationships/image" Target="../media/image1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" Type="http://schemas.openxmlformats.org/officeDocument/2006/relationships/image" Target="../media/image18.jpe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CEBD65CB-48E8-480E-A0E5-0F4F671C7C4B}" type="datetimeFigureOut">
              <a:rPr lang="en-US" smtClean="0"/>
              <a:pPr/>
              <a:t>8/7/2015</a:t>
            </a:fld>
            <a:endParaRPr lang="en-US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en-US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5763812F-8A06-48A8-8436-7483109B6D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9258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he-IL" dirty="0" smtClean="0"/>
              <a:t>התפלגות </a:t>
            </a:r>
            <a:r>
              <a:rPr lang="he-IL" dirty="0" err="1" smtClean="0"/>
              <a:t>פואסון</a:t>
            </a:r>
            <a:r>
              <a:rPr lang="he-IL" baseline="0" dirty="0" smtClean="0"/>
              <a:t> - </a:t>
            </a:r>
            <a:r>
              <a:rPr lang="he-IL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נוצרת כאשר סופרים אירועים שמתרחשים בפרק זמן נתון</a:t>
            </a:r>
          </a:p>
          <a:p>
            <a:r>
              <a:rPr lang="he-IL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התפלגות מעריכית – מתאימה </a:t>
            </a:r>
            <a:r>
              <a:rPr lang="he-IL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למדל</a:t>
            </a:r>
            <a:r>
              <a:rPr lang="he-IL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את הזמן הבין מופעי</a:t>
            </a:r>
            <a:r>
              <a:rPr lang="he-IL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בין האירועים</a:t>
            </a:r>
            <a:endParaRPr lang="en-US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63812F-8A06-48A8-8436-7483109B6D13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4497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he-IL" dirty="0" smtClean="0"/>
              <a:t>התפלגות </a:t>
            </a:r>
            <a:r>
              <a:rPr lang="he-IL" dirty="0" err="1" smtClean="0"/>
              <a:t>פואסון</a:t>
            </a:r>
            <a:r>
              <a:rPr lang="he-IL" baseline="0" dirty="0" smtClean="0"/>
              <a:t> - </a:t>
            </a:r>
            <a:r>
              <a:rPr lang="he-IL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נוצרת כאשר סופרים אירועים שמתרחשים בפרק זמן נתון</a:t>
            </a:r>
          </a:p>
          <a:p>
            <a:r>
              <a:rPr lang="he-IL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התפלגות מעריכית – מתאימה </a:t>
            </a:r>
            <a:r>
              <a:rPr lang="he-IL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למדל</a:t>
            </a:r>
            <a:r>
              <a:rPr lang="he-IL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את הזמן הבין מופעי</a:t>
            </a:r>
            <a:r>
              <a:rPr lang="he-IL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בין האירועים</a:t>
            </a:r>
            <a:endParaRPr lang="en-US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63812F-8A06-48A8-8436-7483109B6D13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5624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he-IL" dirty="0" smtClean="0"/>
              <a:t>התפלגות </a:t>
            </a:r>
            <a:r>
              <a:rPr lang="he-IL" dirty="0" err="1" smtClean="0"/>
              <a:t>פואסון</a:t>
            </a:r>
            <a:r>
              <a:rPr lang="he-IL" baseline="0" dirty="0" smtClean="0"/>
              <a:t> - </a:t>
            </a:r>
            <a:r>
              <a:rPr lang="he-IL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נוצרת כאשר סופרים אירועים שמתרחשים בפרק זמן נתון</a:t>
            </a:r>
          </a:p>
          <a:p>
            <a:r>
              <a:rPr lang="he-IL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התפלגות מעריכית – מתאימה </a:t>
            </a:r>
            <a:r>
              <a:rPr lang="he-IL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למדל</a:t>
            </a:r>
            <a:r>
              <a:rPr lang="he-IL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את הזמן הבין מופעי</a:t>
            </a:r>
            <a:r>
              <a:rPr lang="he-IL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בין האירועים</a:t>
            </a:r>
            <a:endParaRPr lang="en-US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63812F-8A06-48A8-8436-7483109B6D13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9747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he-IL" dirty="0" smtClean="0"/>
              <a:t>התפלגות </a:t>
            </a:r>
            <a:r>
              <a:rPr lang="he-IL" dirty="0" err="1" smtClean="0"/>
              <a:t>פואסון</a:t>
            </a:r>
            <a:r>
              <a:rPr lang="he-IL" baseline="0" dirty="0" smtClean="0"/>
              <a:t> - </a:t>
            </a:r>
            <a:r>
              <a:rPr lang="he-IL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נוצרת כאשר סופרים אירועים שמתרחשים בפרק זמן נתון</a:t>
            </a:r>
          </a:p>
          <a:p>
            <a:r>
              <a:rPr lang="he-IL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התפלגות מעריכית – מתאימה </a:t>
            </a:r>
            <a:r>
              <a:rPr lang="he-IL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למדל</a:t>
            </a:r>
            <a:r>
              <a:rPr lang="he-IL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את הזמן הבין מופעי</a:t>
            </a:r>
            <a:r>
              <a:rPr lang="he-IL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בין האירועים</a:t>
            </a:r>
            <a:endParaRPr lang="en-US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63812F-8A06-48A8-8436-7483109B6D13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2236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he-IL" dirty="0" smtClean="0"/>
              <a:t>התפלגות </a:t>
            </a:r>
            <a:r>
              <a:rPr lang="he-IL" dirty="0" err="1" smtClean="0"/>
              <a:t>פואסון</a:t>
            </a:r>
            <a:r>
              <a:rPr lang="he-IL" baseline="0" dirty="0" smtClean="0"/>
              <a:t> - </a:t>
            </a:r>
            <a:r>
              <a:rPr lang="he-IL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נוצרת כאשר סופרים אירועים שמתרחשים בפרק זמן נתון</a:t>
            </a:r>
          </a:p>
          <a:p>
            <a:r>
              <a:rPr lang="he-IL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התפלגות מעריכית – מתאימה </a:t>
            </a:r>
            <a:r>
              <a:rPr lang="he-IL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למדל</a:t>
            </a:r>
            <a:r>
              <a:rPr lang="he-IL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את הזמן הבין מופעי</a:t>
            </a:r>
            <a:r>
              <a:rPr lang="he-IL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בין האירועים</a:t>
            </a:r>
            <a:endParaRPr lang="en-US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63812F-8A06-48A8-8436-7483109B6D13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4310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he-IL" dirty="0" smtClean="0"/>
              <a:t>התפלגות </a:t>
            </a:r>
            <a:r>
              <a:rPr lang="he-IL" dirty="0" err="1" smtClean="0"/>
              <a:t>פואסון</a:t>
            </a:r>
            <a:r>
              <a:rPr lang="he-IL" baseline="0" dirty="0" smtClean="0"/>
              <a:t> - </a:t>
            </a:r>
            <a:r>
              <a:rPr lang="he-IL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נוצרת כאשר סופרים אירועים שמתרחשים בפרק זמן נתון</a:t>
            </a:r>
          </a:p>
          <a:p>
            <a:r>
              <a:rPr lang="he-IL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התפלגות מעריכית – מתאימה </a:t>
            </a:r>
            <a:r>
              <a:rPr lang="he-IL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למדל</a:t>
            </a:r>
            <a:r>
              <a:rPr lang="he-IL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את הזמן הבין מופעי</a:t>
            </a:r>
            <a:r>
              <a:rPr lang="he-IL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בין האירועים</a:t>
            </a:r>
            <a:endParaRPr lang="en-US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63812F-8A06-48A8-8436-7483109B6D13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1254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he-IL" dirty="0" smtClean="0"/>
              <a:t>התפלגות </a:t>
            </a:r>
            <a:r>
              <a:rPr lang="he-IL" dirty="0" err="1" smtClean="0"/>
              <a:t>פואסון</a:t>
            </a:r>
            <a:r>
              <a:rPr lang="he-IL" baseline="0" dirty="0" smtClean="0"/>
              <a:t> - </a:t>
            </a:r>
            <a:r>
              <a:rPr lang="he-IL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נוצרת כאשר סופרים אירועים שמתרחשים בפרק זמן נתון</a:t>
            </a:r>
          </a:p>
          <a:p>
            <a:r>
              <a:rPr lang="he-IL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התפלגות מעריכית – מתאימה </a:t>
            </a:r>
            <a:r>
              <a:rPr lang="he-IL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למדל</a:t>
            </a:r>
            <a:r>
              <a:rPr lang="he-IL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את הזמן הבין מופעי</a:t>
            </a:r>
            <a:r>
              <a:rPr lang="he-IL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בין האירועים</a:t>
            </a:r>
            <a:endParaRPr lang="en-US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63812F-8A06-48A8-8436-7483109B6D13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952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he-IL" dirty="0" smtClean="0"/>
              <a:t>התפלגות </a:t>
            </a:r>
            <a:r>
              <a:rPr lang="he-IL" dirty="0" err="1" smtClean="0"/>
              <a:t>פואסון</a:t>
            </a:r>
            <a:r>
              <a:rPr lang="he-IL" baseline="0" dirty="0" smtClean="0"/>
              <a:t> - </a:t>
            </a:r>
            <a:r>
              <a:rPr lang="he-IL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נוצרת כאשר סופרים אירועים שמתרחשים בפרק זמן נתון</a:t>
            </a:r>
          </a:p>
          <a:p>
            <a:r>
              <a:rPr lang="he-IL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התפלגות מעריכית – מתאימה </a:t>
            </a:r>
            <a:r>
              <a:rPr lang="he-IL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למדל</a:t>
            </a:r>
            <a:r>
              <a:rPr lang="he-IL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את הזמן הבין מופעי</a:t>
            </a:r>
            <a:r>
              <a:rPr lang="he-IL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בין האירועים</a:t>
            </a:r>
            <a:endParaRPr lang="en-US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63812F-8A06-48A8-8436-7483109B6D13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6645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e-IL" smtClean="0"/>
              <a:t>לחץ כדי לערוך סגנון כותרת משנה של תבנית בסיס</a:t>
            </a:r>
            <a:endParaRPr lang="en-US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/>
              <a:pPr/>
              <a:t>8/7/2015</a:t>
            </a:fld>
            <a:endParaRPr lang="en-US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/>
              <a:pPr/>
              <a:t>8/7/2015</a:t>
            </a:fld>
            <a:endParaRPr lang="en-US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/>
              <a:pPr/>
              <a:t>8/7/2015</a:t>
            </a:fld>
            <a:endParaRPr lang="en-US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תוכן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/>
              <a:pPr/>
              <a:t>8/7/2015</a:t>
            </a:fld>
            <a:endParaRPr lang="en-US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7" name="מציין מיקום של תאריך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/>
              <a:pPr/>
              <a:t>8/7/2015</a:t>
            </a:fld>
            <a:endParaRPr lang="en-US"/>
          </a:p>
        </p:txBody>
      </p:sp>
      <p:sp>
        <p:nvSpPr>
          <p:cNvPr id="8" name="מציין מיקום של כותרת תחתונה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מציין מיקום של מספר שקופית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/>
              <a:pPr/>
              <a:t>8/7/2015</a:t>
            </a:fld>
            <a:endParaRPr lang="en-US"/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/>
              <a:pPr/>
              <a:t>8/7/2015</a:t>
            </a:fld>
            <a:endParaRPr lang="en-US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/>
              <a:pPr/>
              <a:t>8/7/2015</a:t>
            </a:fld>
            <a:endParaRPr lang="en-US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של תמונה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/>
              <a:pPr/>
              <a:t>8/7/2015</a:t>
            </a:fld>
            <a:endParaRPr lang="en-US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/>
              <a:pPr/>
              <a:t>8/7/2015</a:t>
            </a:fld>
            <a:endParaRPr lang="en-US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/>
              <a:pPr/>
              <a:t>8/7/2015</a:t>
            </a:fld>
            <a:endParaRPr lang="en-US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e-IL" smtClean="0"/>
              <a:t>לחץ כדי לערוך סגנון כותרת משנה של תבנית בסיס</a:t>
            </a:r>
            <a:endParaRPr lang="en-US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8/7/2015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09270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 hasCustomPrompt="1"/>
          </p:nvPr>
        </p:nvSpPr>
        <p:spPr>
          <a:xfrm>
            <a:off x="457200" y="274638"/>
            <a:ext cx="8229600" cy="994122"/>
          </a:xfrm>
        </p:spPr>
        <p:txBody>
          <a:bodyPr anchor="t">
            <a:normAutofit/>
          </a:bodyPr>
          <a:lstStyle>
            <a:lvl1pPr algn="r">
              <a:defRPr sz="2800" b="1" u="sng"/>
            </a:lvl1pPr>
          </a:lstStyle>
          <a:p>
            <a:r>
              <a:rPr lang="he-IL" dirty="0" smtClean="0"/>
              <a:t>לחץ כדי לערוך סגנון כותרת של תבנית בסיס</a:t>
            </a:r>
            <a:br>
              <a:rPr lang="he-IL" dirty="0" smtClean="0"/>
            </a:br>
            <a:endParaRPr lang="en-US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087591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600"/>
            </a:lvl1pPr>
            <a:lvl2pPr>
              <a:lnSpc>
                <a:spcPct val="150000"/>
              </a:lnSpc>
              <a:defRPr sz="2600"/>
            </a:lvl2pPr>
            <a:lvl3pPr>
              <a:lnSpc>
                <a:spcPct val="150000"/>
              </a:lnSpc>
              <a:defRPr sz="2600"/>
            </a:lvl3pPr>
            <a:lvl4pPr>
              <a:lnSpc>
                <a:spcPct val="150000"/>
              </a:lnSpc>
              <a:defRPr sz="2600"/>
            </a:lvl4pPr>
            <a:lvl5pPr>
              <a:lnSpc>
                <a:spcPct val="150000"/>
              </a:lnSpc>
              <a:defRPr sz="2600"/>
            </a:lvl5pPr>
          </a:lstStyle>
          <a:p>
            <a:pPr lvl="0"/>
            <a:r>
              <a:rPr lang="he-IL" dirty="0" smtClean="0"/>
              <a:t>לחץ כדי לערוך סגנונות טקסט של תבנית בסיס</a:t>
            </a:r>
          </a:p>
          <a:p>
            <a:pPr lvl="1"/>
            <a:r>
              <a:rPr lang="he-IL" dirty="0" smtClean="0"/>
              <a:t>רמה שנייה</a:t>
            </a:r>
          </a:p>
          <a:p>
            <a:pPr lvl="2"/>
            <a:r>
              <a:rPr lang="he-IL" dirty="0" smtClean="0"/>
              <a:t>רמה שלישית</a:t>
            </a:r>
          </a:p>
          <a:p>
            <a:pPr lvl="3"/>
            <a:r>
              <a:rPr lang="he-IL" dirty="0" smtClean="0"/>
              <a:t>רמה רביעית</a:t>
            </a:r>
          </a:p>
          <a:p>
            <a:pPr lvl="4"/>
            <a:r>
              <a:rPr lang="he-IL" dirty="0" smtClean="0"/>
              <a:t>רמה חמישית</a:t>
            </a:r>
            <a:endParaRPr lang="en-US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8/7/2015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53981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8/7/2015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88693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תוכן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8/7/2015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40315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7" name="מציין מיקום של תאריך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8/7/2015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מציין מיקום של כותרת תחתונה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מציין מיקום של מספר שקופית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20885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890666"/>
          </a:xfrm>
        </p:spPr>
        <p:txBody>
          <a:bodyPr anchor="t">
            <a:normAutofit/>
          </a:bodyPr>
          <a:lstStyle>
            <a:lvl1pPr algn="r">
              <a:defRPr sz="2800" b="1"/>
            </a:lvl1pPr>
          </a:lstStyle>
          <a:p>
            <a:r>
              <a:rPr lang="he-IL" dirty="0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8/7/2015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4250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8/7/2015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37705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8/7/2015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759570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של תמונה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8/7/2015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61383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8/7/2015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1419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8/7/2015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5576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537C78-363E-4A5D-BEBD-B88A33B7E228}" type="datetimeFigureOut">
              <a:rPr lang="en-US" smtClean="0"/>
              <a:pPr/>
              <a:t>8/7/2015</a:t>
            </a:fld>
            <a:endParaRPr lang="en-US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4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5051C5-77F0-490C-8AFB-03AE9C3F43D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1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r" defTabSz="914400" rtl="1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defTabSz="914400" rtl="1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 dirty="0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537C78-363E-4A5D-BEBD-B88A33B7E22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8/7/2015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4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5051C5-77F0-490C-8AFB-03AE9C3F43D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0494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1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r" defTabSz="914400" rtl="1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defTabSz="914400" rtl="1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5.wmf"/><Relationship Id="rId18" Type="http://schemas.openxmlformats.org/officeDocument/2006/relationships/oleObject" Target="../embeddings/oleObject8.bin"/><Relationship Id="rId26" Type="http://schemas.openxmlformats.org/officeDocument/2006/relationships/oleObject" Target="../embeddings/oleObject12.bin"/><Relationship Id="rId39" Type="http://schemas.openxmlformats.org/officeDocument/2006/relationships/image" Target="../media/image16.wmf"/><Relationship Id="rId3" Type="http://schemas.openxmlformats.org/officeDocument/2006/relationships/image" Target="../media/image18.jpeg"/><Relationship Id="rId21" Type="http://schemas.openxmlformats.org/officeDocument/2006/relationships/image" Target="../media/image9.wmf"/><Relationship Id="rId34" Type="http://schemas.openxmlformats.org/officeDocument/2006/relationships/oleObject" Target="../embeddings/oleObject16.bin"/><Relationship Id="rId7" Type="http://schemas.openxmlformats.org/officeDocument/2006/relationships/image" Target="../media/image2.wmf"/><Relationship Id="rId12" Type="http://schemas.openxmlformats.org/officeDocument/2006/relationships/oleObject" Target="../embeddings/oleObject5.bin"/><Relationship Id="rId17" Type="http://schemas.openxmlformats.org/officeDocument/2006/relationships/image" Target="../media/image7.wmf"/><Relationship Id="rId25" Type="http://schemas.openxmlformats.org/officeDocument/2006/relationships/image" Target="../media/image11.wmf"/><Relationship Id="rId33" Type="http://schemas.openxmlformats.org/officeDocument/2006/relationships/image" Target="../media/image20.png"/><Relationship Id="rId38" Type="http://schemas.openxmlformats.org/officeDocument/2006/relationships/oleObject" Target="../embeddings/oleObject18.bin"/><Relationship Id="rId2" Type="http://schemas.openxmlformats.org/officeDocument/2006/relationships/slideLayout" Target="../slideLayouts/slideLayout13.xml"/><Relationship Id="rId16" Type="http://schemas.openxmlformats.org/officeDocument/2006/relationships/oleObject" Target="../embeddings/oleObject7.bin"/><Relationship Id="rId20" Type="http://schemas.openxmlformats.org/officeDocument/2006/relationships/oleObject" Target="../embeddings/oleObject9.bin"/><Relationship Id="rId29" Type="http://schemas.openxmlformats.org/officeDocument/2006/relationships/oleObject" Target="../embeddings/oleObject14.bin"/><Relationship Id="rId41" Type="http://schemas.openxmlformats.org/officeDocument/2006/relationships/image" Target="../media/image17.wmf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4.wmf"/><Relationship Id="rId24" Type="http://schemas.openxmlformats.org/officeDocument/2006/relationships/oleObject" Target="../embeddings/oleObject11.bin"/><Relationship Id="rId32" Type="http://schemas.openxmlformats.org/officeDocument/2006/relationships/image" Target="../media/image19.png"/><Relationship Id="rId37" Type="http://schemas.openxmlformats.org/officeDocument/2006/relationships/image" Target="../media/image15.wmf"/><Relationship Id="rId40" Type="http://schemas.openxmlformats.org/officeDocument/2006/relationships/oleObject" Target="../embeddings/oleObject19.bin"/><Relationship Id="rId5" Type="http://schemas.openxmlformats.org/officeDocument/2006/relationships/image" Target="../media/image1.wmf"/><Relationship Id="rId15" Type="http://schemas.openxmlformats.org/officeDocument/2006/relationships/image" Target="../media/image6.wmf"/><Relationship Id="rId23" Type="http://schemas.openxmlformats.org/officeDocument/2006/relationships/image" Target="../media/image10.wmf"/><Relationship Id="rId28" Type="http://schemas.openxmlformats.org/officeDocument/2006/relationships/oleObject" Target="../embeddings/oleObject13.bin"/><Relationship Id="rId36" Type="http://schemas.openxmlformats.org/officeDocument/2006/relationships/oleObject" Target="../embeddings/oleObject17.bin"/><Relationship Id="rId10" Type="http://schemas.openxmlformats.org/officeDocument/2006/relationships/oleObject" Target="../embeddings/oleObject4.bin"/><Relationship Id="rId19" Type="http://schemas.openxmlformats.org/officeDocument/2006/relationships/image" Target="../media/image8.wmf"/><Relationship Id="rId31" Type="http://schemas.openxmlformats.org/officeDocument/2006/relationships/oleObject" Target="../embeddings/oleObject15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3.wmf"/><Relationship Id="rId14" Type="http://schemas.openxmlformats.org/officeDocument/2006/relationships/oleObject" Target="../embeddings/oleObject6.bin"/><Relationship Id="rId22" Type="http://schemas.openxmlformats.org/officeDocument/2006/relationships/oleObject" Target="../embeddings/oleObject10.bin"/><Relationship Id="rId27" Type="http://schemas.openxmlformats.org/officeDocument/2006/relationships/image" Target="../media/image12.wmf"/><Relationship Id="rId30" Type="http://schemas.openxmlformats.org/officeDocument/2006/relationships/image" Target="../media/image13.wmf"/><Relationship Id="rId35" Type="http://schemas.openxmlformats.org/officeDocument/2006/relationships/image" Target="../media/image14.w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3" Type="http://schemas.openxmlformats.org/officeDocument/2006/relationships/image" Target="../media/image18.jpeg"/><Relationship Id="rId7" Type="http://schemas.openxmlformats.org/officeDocument/2006/relationships/image" Target="../media/image15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21.bin"/><Relationship Id="rId5" Type="http://schemas.openxmlformats.org/officeDocument/2006/relationships/image" Target="../media/image14.wmf"/><Relationship Id="rId4" Type="http://schemas.openxmlformats.org/officeDocument/2006/relationships/oleObject" Target="../embeddings/oleObject20.bin"/><Relationship Id="rId9" Type="http://schemas.openxmlformats.org/officeDocument/2006/relationships/image" Target="../media/image16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7" Type="http://schemas.openxmlformats.org/officeDocument/2006/relationships/image" Target="../media/image22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24.bin"/><Relationship Id="rId5" Type="http://schemas.openxmlformats.org/officeDocument/2006/relationships/image" Target="../media/image18.jpeg"/><Relationship Id="rId4" Type="http://schemas.openxmlformats.org/officeDocument/2006/relationships/image" Target="../media/image21.w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683568" y="836712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he-IL" sz="5200" b="1" u="sng" dirty="0" smtClean="0">
                <a:solidFill>
                  <a:schemeClr val="accent4"/>
                </a:solidFill>
                <a:latin typeface="Tahoma" pitchFamily="34" charset="0"/>
                <a:cs typeface="Tahoma" pitchFamily="34" charset="0"/>
              </a:rPr>
              <a:t>מבוא לסטטיסטיקה והסתברות</a:t>
            </a:r>
            <a:endParaRPr lang="en-US" sz="5200" b="1" u="sng" dirty="0">
              <a:solidFill>
                <a:schemeClr val="accent4"/>
              </a:solidFill>
              <a:latin typeface="Tahoma" pitchFamily="34" charset="0"/>
              <a:cs typeface="Tahoma" pitchFamily="34" charset="0"/>
            </a:endParaRPr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1331640" y="2900536"/>
            <a:ext cx="6400800" cy="1752600"/>
          </a:xfrm>
        </p:spPr>
        <p:txBody>
          <a:bodyPr>
            <a:normAutofit/>
          </a:bodyPr>
          <a:lstStyle/>
          <a:p>
            <a:r>
              <a:rPr lang="he-IL" sz="3600" b="1" dirty="0" smtClean="0">
                <a:solidFill>
                  <a:schemeClr val="tx1"/>
                </a:solidFill>
                <a:latin typeface="Tahoma" pitchFamily="34" charset="0"/>
                <a:cs typeface="Tahoma" pitchFamily="34" charset="0"/>
              </a:rPr>
              <a:t>תרגיל </a:t>
            </a:r>
            <a:r>
              <a:rPr lang="en-US" sz="3600" b="1" dirty="0" smtClean="0">
                <a:solidFill>
                  <a:schemeClr val="tx1"/>
                </a:solidFill>
                <a:latin typeface="Tahoma" pitchFamily="34" charset="0"/>
                <a:cs typeface="Tahoma" pitchFamily="34" charset="0"/>
              </a:rPr>
              <a:t>06</a:t>
            </a:r>
            <a:endParaRPr lang="en-US" sz="3600" b="1" dirty="0">
              <a:solidFill>
                <a:schemeClr val="tx1"/>
              </a:solidFill>
              <a:latin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4734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טבלה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5667431"/>
              </p:ext>
            </p:extLst>
          </p:nvPr>
        </p:nvGraphicFramePr>
        <p:xfrm>
          <a:off x="814224" y="836712"/>
          <a:ext cx="7848872" cy="5899355"/>
        </p:xfrm>
        <a:graphic>
          <a:graphicData uri="http://schemas.openxmlformats.org/drawingml/2006/table">
            <a:tbl>
              <a:tblPr rtl="1"/>
              <a:tblGrid>
                <a:gridCol w="1564801"/>
                <a:gridCol w="2028992"/>
                <a:gridCol w="1683612"/>
                <a:gridCol w="2571467"/>
              </a:tblGrid>
              <a:tr h="950947"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he-IL" sz="1400" b="1" cap="all" dirty="0">
                          <a:latin typeface="Times New Roman"/>
                          <a:ea typeface="Calibri"/>
                          <a:cs typeface="Tahoma"/>
                        </a:rPr>
                        <a:t>משפחת </a:t>
                      </a:r>
                      <a:r>
                        <a:rPr lang="he-IL" sz="1400" b="1" cap="all" dirty="0" smtClean="0">
                          <a:latin typeface="Times New Roman"/>
                          <a:ea typeface="Calibri"/>
                          <a:cs typeface="Tahoma"/>
                        </a:rPr>
                        <a:t>התפלגות</a:t>
                      </a:r>
                      <a:r>
                        <a:rPr lang="en-US" sz="1400" b="1" cap="all" dirty="0" smtClean="0">
                          <a:latin typeface="Times New Roman"/>
                          <a:ea typeface="Calibri"/>
                          <a:cs typeface="Tahoma"/>
                        </a:rPr>
                        <a:t/>
                      </a:r>
                      <a:br>
                        <a:rPr lang="en-US" sz="1400" b="1" cap="all" dirty="0" smtClean="0">
                          <a:latin typeface="Times New Roman"/>
                          <a:ea typeface="Calibri"/>
                          <a:cs typeface="Tahoma"/>
                        </a:rPr>
                      </a:br>
                      <a:r>
                        <a:rPr lang="he-IL" sz="1400" b="1" cap="all" dirty="0" smtClean="0">
                          <a:latin typeface="Times New Roman"/>
                          <a:ea typeface="Calibri"/>
                          <a:cs typeface="Tahoma"/>
                        </a:rPr>
                        <a:t>(פרמטרים</a:t>
                      </a:r>
                      <a:r>
                        <a:rPr lang="he-IL" sz="1400" b="1" cap="all" dirty="0">
                          <a:latin typeface="Times New Roman"/>
                          <a:ea typeface="Calibri"/>
                          <a:cs typeface="Tahoma"/>
                        </a:rPr>
                        <a:t>)</a:t>
                      </a:r>
                      <a:endParaRPr lang="en-US" sz="14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he-IL" sz="1400" b="1" dirty="0">
                          <a:latin typeface="Times New Roman"/>
                          <a:ea typeface="Times New Roman"/>
                          <a:cs typeface="Tahoma"/>
                        </a:rPr>
                        <a:t>פונקצית צפיפות </a:t>
                      </a:r>
                      <a:r>
                        <a:rPr lang="he-IL" sz="1400" b="1" dirty="0" smtClean="0">
                          <a:latin typeface="Times New Roman"/>
                          <a:ea typeface="Times New Roman"/>
                          <a:cs typeface="Tahoma"/>
                        </a:rPr>
                        <a:t>ההסתברות</a:t>
                      </a:r>
                      <a:r>
                        <a:rPr lang="en-US" sz="1400" b="1" dirty="0" smtClean="0">
                          <a:latin typeface="Times New Roman"/>
                          <a:ea typeface="Times New Roman"/>
                          <a:cs typeface="Tahoma"/>
                        </a:rPr>
                        <a:t/>
                      </a:r>
                      <a:br>
                        <a:rPr lang="en-US" sz="1400" b="1" dirty="0" smtClean="0">
                          <a:latin typeface="Times New Roman"/>
                          <a:ea typeface="Times New Roman"/>
                          <a:cs typeface="Tahoma"/>
                        </a:rPr>
                      </a:br>
                      <a:r>
                        <a:rPr lang="en-US" sz="1400" b="1" dirty="0" smtClean="0">
                          <a:latin typeface="Times New Roman"/>
                          <a:ea typeface="Times New Roman"/>
                          <a:cs typeface="Tahoma"/>
                        </a:rPr>
                        <a:t>p(x</a:t>
                      </a:r>
                      <a:r>
                        <a:rPr lang="en-US" sz="1400" b="1" dirty="0">
                          <a:latin typeface="Times New Roman"/>
                          <a:ea typeface="Times New Roman"/>
                          <a:cs typeface="Tahoma"/>
                        </a:rPr>
                        <a:t>)</a:t>
                      </a:r>
                      <a:endParaRPr lang="en-US" sz="14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he-IL" sz="1400" b="1" cap="all" dirty="0" smtClean="0">
                          <a:latin typeface="Times New Roman"/>
                          <a:ea typeface="Calibri"/>
                          <a:cs typeface="Tahoma"/>
                        </a:rPr>
                        <a:t>תוחלת</a:t>
                      </a:r>
                      <a:r>
                        <a:rPr lang="en-US" sz="1400" b="1" cap="all" dirty="0" smtClean="0">
                          <a:latin typeface="Times New Roman"/>
                          <a:ea typeface="Calibri"/>
                          <a:cs typeface="Tahoma"/>
                        </a:rPr>
                        <a:t/>
                      </a:r>
                      <a:br>
                        <a:rPr lang="en-US" sz="1400" b="1" cap="all" dirty="0" smtClean="0">
                          <a:latin typeface="Times New Roman"/>
                          <a:ea typeface="Calibri"/>
                          <a:cs typeface="Tahoma"/>
                        </a:rPr>
                      </a:br>
                      <a:r>
                        <a:rPr lang="en-US" sz="1400" b="1" cap="all" dirty="0" smtClean="0">
                          <a:latin typeface="Tahoma"/>
                          <a:ea typeface="Calibri"/>
                          <a:cs typeface="Tahoma"/>
                        </a:rPr>
                        <a:t>E(x</a:t>
                      </a:r>
                      <a:r>
                        <a:rPr lang="en-US" sz="1400" b="1" cap="all" dirty="0">
                          <a:latin typeface="Tahoma"/>
                          <a:ea typeface="Calibri"/>
                          <a:cs typeface="Tahoma"/>
                        </a:rPr>
                        <a:t>)</a:t>
                      </a:r>
                      <a:endParaRPr lang="en-US" sz="14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he-IL" sz="1400" b="1" cap="all" dirty="0" smtClean="0">
                          <a:latin typeface="Times New Roman"/>
                          <a:ea typeface="Calibri"/>
                          <a:cs typeface="Tahoma"/>
                        </a:rPr>
                        <a:t>שונות</a:t>
                      </a:r>
                      <a:r>
                        <a:rPr lang="en-US" sz="1400" b="1" cap="all" dirty="0" smtClean="0">
                          <a:latin typeface="Times New Roman"/>
                          <a:ea typeface="Calibri"/>
                          <a:cs typeface="Tahoma"/>
                        </a:rPr>
                        <a:t/>
                      </a:r>
                      <a:br>
                        <a:rPr lang="en-US" sz="1400" b="1" cap="all" dirty="0" smtClean="0">
                          <a:latin typeface="Times New Roman"/>
                          <a:ea typeface="Calibri"/>
                          <a:cs typeface="Tahoma"/>
                        </a:rPr>
                      </a:br>
                      <a:r>
                        <a:rPr lang="en-US" sz="1400" b="1" cap="all" dirty="0" err="1" smtClean="0">
                          <a:latin typeface="Tahoma"/>
                          <a:ea typeface="Calibri"/>
                          <a:cs typeface="Tahoma"/>
                        </a:rPr>
                        <a:t>Var</a:t>
                      </a:r>
                      <a:r>
                        <a:rPr lang="en-US" sz="1400" b="1" cap="all" dirty="0" smtClean="0">
                          <a:latin typeface="Tahoma"/>
                          <a:ea typeface="Calibri"/>
                          <a:cs typeface="Tahoma"/>
                        </a:rPr>
                        <a:t>(x</a:t>
                      </a:r>
                      <a:r>
                        <a:rPr lang="en-US" sz="1400" b="1" cap="all" dirty="0">
                          <a:latin typeface="Tahoma"/>
                          <a:ea typeface="Calibri"/>
                          <a:cs typeface="Tahoma"/>
                        </a:rPr>
                        <a:t>)</a:t>
                      </a:r>
                      <a:endParaRPr lang="en-US" sz="14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</a:tr>
              <a:tr h="705605"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he-IL" sz="1400" b="0" dirty="0">
                          <a:solidFill>
                            <a:schemeClr val="tx1"/>
                          </a:solidFill>
                          <a:latin typeface="Times New Roman"/>
                          <a:ea typeface="Calibri"/>
                          <a:cs typeface="Tahoma"/>
                        </a:rPr>
                        <a:t>אחידה בדידה (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ahoma"/>
                          <a:ea typeface="Calibri"/>
                          <a:cs typeface="Tahoma"/>
                        </a:rPr>
                        <a:t>n</a:t>
                      </a:r>
                      <a:r>
                        <a:rPr lang="he-IL" sz="1400" b="0" dirty="0">
                          <a:solidFill>
                            <a:schemeClr val="tx1"/>
                          </a:solidFill>
                          <a:latin typeface="Times New Roman"/>
                          <a:ea typeface="Calibri"/>
                          <a:cs typeface="Tahoma"/>
                        </a:rPr>
                        <a:t>)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he-IL" sz="1400" dirty="0">
                        <a:solidFill>
                          <a:srgbClr val="FF0000"/>
                        </a:solidFill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he-IL" sz="1400" dirty="0">
                        <a:solidFill>
                          <a:srgbClr val="FF0000"/>
                        </a:solidFill>
                        <a:latin typeface="Tahoma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US" sz="1400" dirty="0">
                        <a:solidFill>
                          <a:srgbClr val="FF0000"/>
                        </a:solidFill>
                        <a:latin typeface="Tahoma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</a:tr>
              <a:tr h="705605"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he-IL" sz="1400">
                          <a:latin typeface="Times New Roman"/>
                          <a:ea typeface="Calibri"/>
                          <a:cs typeface="Tahoma"/>
                        </a:rPr>
                        <a:t>בינומית (</a:t>
                      </a:r>
                      <a:r>
                        <a:rPr lang="en-US" sz="1400">
                          <a:latin typeface="Tahoma"/>
                          <a:ea typeface="Calibri"/>
                          <a:cs typeface="Tahoma"/>
                        </a:rPr>
                        <a:t>n,p</a:t>
                      </a:r>
                      <a:r>
                        <a:rPr lang="he-IL" sz="1400">
                          <a:latin typeface="Times New Roman"/>
                          <a:ea typeface="Calibri"/>
                          <a:cs typeface="Tahoma"/>
                        </a:rPr>
                        <a:t>)</a:t>
                      </a:r>
                      <a:endParaRPr lang="en-US" sz="140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he-IL" sz="14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he-IL" sz="14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he-IL" sz="14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</a:tr>
              <a:tr h="705605"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he-IL" sz="1400" dirty="0">
                          <a:latin typeface="Times New Roman"/>
                          <a:ea typeface="Calibri"/>
                          <a:cs typeface="Tahoma"/>
                        </a:rPr>
                        <a:t>גיאומטרית  (</a:t>
                      </a:r>
                      <a:r>
                        <a:rPr lang="en-US" sz="1400" dirty="0">
                          <a:latin typeface="Tahoma"/>
                          <a:ea typeface="Calibri"/>
                          <a:cs typeface="Tahoma"/>
                        </a:rPr>
                        <a:t>p</a:t>
                      </a:r>
                      <a:r>
                        <a:rPr lang="he-IL" sz="1400" dirty="0">
                          <a:latin typeface="Times New Roman"/>
                          <a:ea typeface="Calibri"/>
                          <a:cs typeface="Tahoma"/>
                        </a:rPr>
                        <a:t>)</a:t>
                      </a:r>
                      <a:endParaRPr lang="en-US" sz="14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400" dirty="0" smtClean="0">
                          <a:latin typeface="Times New Roman"/>
                          <a:ea typeface="Calibri"/>
                          <a:cs typeface="Tahoma"/>
                        </a:rPr>
                        <a:t> </a:t>
                      </a:r>
                      <a:endParaRPr lang="he-IL" sz="14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he-IL" sz="14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he-IL" sz="14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</a:tr>
              <a:tr h="705605">
                <a:tc>
                  <a:txBody>
                    <a:bodyPr/>
                    <a:lstStyle/>
                    <a:p>
                      <a:pPr algn="ctr"/>
                      <a:r>
                        <a:rPr lang="he-IL" sz="1400" dirty="0" smtClean="0"/>
                        <a:t>היפר-גיאומטרית (</a:t>
                      </a:r>
                      <a:r>
                        <a:rPr lang="en-US" sz="1400" dirty="0" smtClean="0"/>
                        <a:t>p</a:t>
                      </a:r>
                      <a:r>
                        <a:rPr lang="he-IL" sz="1400" dirty="0" smtClean="0"/>
                        <a:t>)</a:t>
                      </a:r>
                      <a:endParaRPr lang="en-GB" dirty="0"/>
                    </a:p>
                  </a:txBody>
                  <a:tcPr marL="68580" marR="68580" marT="0" marB="0" anchor="ctr">
                    <a:lnL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US" sz="1400" dirty="0">
                        <a:latin typeface="Tahoma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he-IL" sz="14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he-IL" sz="14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</a:tr>
              <a:tr h="705605"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he-IL" sz="1400" dirty="0" err="1">
                          <a:latin typeface="Times New Roman"/>
                          <a:ea typeface="Calibri"/>
                          <a:cs typeface="Tahoma"/>
                        </a:rPr>
                        <a:t>פואסון</a:t>
                      </a:r>
                      <a:r>
                        <a:rPr lang="he-IL" sz="1400" dirty="0">
                          <a:latin typeface="Times New Roman"/>
                          <a:ea typeface="Calibri"/>
                          <a:cs typeface="Tahoma"/>
                        </a:rPr>
                        <a:t> (</a:t>
                      </a:r>
                      <a:r>
                        <a:rPr lang="en-US" sz="1400" dirty="0">
                          <a:latin typeface="Tahoma"/>
                          <a:ea typeface="Calibri"/>
                          <a:cs typeface="Tahoma"/>
                          <a:sym typeface="Symbol"/>
                        </a:rPr>
                        <a:t></a:t>
                      </a:r>
                      <a:r>
                        <a:rPr lang="he-IL" sz="1400" dirty="0">
                          <a:latin typeface="Times New Roman"/>
                          <a:ea typeface="Calibri"/>
                          <a:cs typeface="Tahoma"/>
                        </a:rPr>
                        <a:t>)</a:t>
                      </a:r>
                      <a:endParaRPr lang="en-US" sz="14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US" sz="140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he-IL" sz="140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he-IL" sz="14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</a:tr>
              <a:tr h="705605"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he-IL" sz="1400" dirty="0" smtClean="0">
                          <a:latin typeface="Times New Roman"/>
                          <a:ea typeface="Calibri"/>
                          <a:cs typeface="Tahoma"/>
                        </a:rPr>
                        <a:t>נורמלית</a:t>
                      </a:r>
                      <a:r>
                        <a:rPr lang="he-IL" sz="1400" baseline="0" dirty="0" smtClean="0">
                          <a:latin typeface="Times New Roman"/>
                          <a:ea typeface="Calibri"/>
                          <a:cs typeface="Tahoma"/>
                        </a:rPr>
                        <a:t> (</a:t>
                      </a:r>
                      <a:r>
                        <a:rPr lang="en-US" sz="1400" baseline="0" dirty="0" smtClean="0"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μ,</a:t>
                      </a:r>
                      <a:r>
                        <a:rPr lang="el-GR" sz="1400" baseline="0" dirty="0" smtClean="0"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σ</a:t>
                      </a:r>
                      <a:r>
                        <a:rPr lang="en-US" sz="1400" baseline="30000" dirty="0" smtClean="0"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he-IL" sz="1400" kern="1200" dirty="0" smtClean="0">
                          <a:solidFill>
                            <a:schemeClr val="tx1"/>
                          </a:solidFill>
                          <a:latin typeface="Times New Roman"/>
                          <a:ea typeface="Calibri"/>
                          <a:cs typeface="Tahoma"/>
                        </a:rPr>
                        <a:t>)</a:t>
                      </a:r>
                      <a:endParaRPr lang="en-US" sz="1400" kern="1200" dirty="0">
                        <a:solidFill>
                          <a:schemeClr val="tx1"/>
                        </a:solidFill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he-IL" sz="1400" dirty="0" smtClean="0">
                          <a:latin typeface="Times New Roman"/>
                          <a:ea typeface="Calibri"/>
                          <a:cs typeface="Tahoma"/>
                        </a:rPr>
                        <a:t>חישוב עפ"י טבלת  </a:t>
                      </a:r>
                      <a:r>
                        <a:rPr lang="en-US" sz="1400" dirty="0" smtClean="0">
                          <a:latin typeface="Times New Roman"/>
                          <a:ea typeface="Calibri"/>
                          <a:cs typeface="Tahoma"/>
                        </a:rPr>
                        <a:t>Z</a:t>
                      </a:r>
                      <a:r>
                        <a:rPr lang="he-IL" sz="1400" dirty="0" smtClean="0">
                          <a:latin typeface="Times New Roman"/>
                          <a:ea typeface="Calibri"/>
                          <a:cs typeface="Tahoma"/>
                        </a:rPr>
                        <a:t> </a:t>
                      </a:r>
                      <a:endParaRPr lang="he-IL" sz="14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600" baseline="0" dirty="0" smtClean="0"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μ</a:t>
                      </a:r>
                      <a:endParaRPr lang="he-IL" sz="26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l-GR" sz="2600" baseline="0" dirty="0" smtClean="0"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σ</a:t>
                      </a:r>
                      <a:r>
                        <a:rPr lang="en-US" sz="2600" baseline="30000" dirty="0" smtClean="0"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2</a:t>
                      </a:r>
                      <a:endParaRPr lang="he-IL" sz="26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</a:tr>
              <a:tr h="705605"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he-IL" sz="1400" dirty="0" err="1">
                          <a:latin typeface="Times New Roman"/>
                          <a:ea typeface="Calibri"/>
                          <a:cs typeface="Tahoma"/>
                        </a:rPr>
                        <a:t>מעריכית</a:t>
                      </a:r>
                      <a:r>
                        <a:rPr lang="he-IL" sz="1400" dirty="0">
                          <a:latin typeface="Times New Roman"/>
                          <a:ea typeface="Calibri"/>
                          <a:cs typeface="Tahoma"/>
                        </a:rPr>
                        <a:t> </a:t>
                      </a:r>
                      <a:r>
                        <a:rPr lang="en-US" sz="1400" dirty="0">
                          <a:latin typeface="Tahoma"/>
                          <a:ea typeface="Calibri"/>
                          <a:cs typeface="Tahoma"/>
                        </a:rPr>
                        <a:t>(k)</a:t>
                      </a:r>
                      <a:endParaRPr lang="en-US" sz="14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he-IL" sz="14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he-IL" sz="14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he-IL" sz="14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</a:tr>
            </a:tbl>
          </a:graphicData>
        </a:graphic>
      </p:graphicFrame>
      <p:grpSp>
        <p:nvGrpSpPr>
          <p:cNvPr id="2" name="קבוצה 30"/>
          <p:cNvGrpSpPr/>
          <p:nvPr/>
        </p:nvGrpSpPr>
        <p:grpSpPr>
          <a:xfrm>
            <a:off x="1606312" y="1772815"/>
            <a:ext cx="4752528" cy="699086"/>
            <a:chOff x="1547664" y="1412776"/>
            <a:chExt cx="4752528" cy="699086"/>
          </a:xfrm>
        </p:grpSpPr>
        <p:graphicFrame>
          <p:nvGraphicFramePr>
            <p:cNvPr id="1048" name="Object 24"/>
            <p:cNvGraphicFramePr>
              <a:graphicFrameLocks noChangeAspect="1"/>
            </p:cNvGraphicFramePr>
            <p:nvPr/>
          </p:nvGraphicFramePr>
          <p:xfrm>
            <a:off x="5769607" y="1628800"/>
            <a:ext cx="530585" cy="3600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824" name="Equation" r:id="rId4" imgW="266353" imgH="177569" progId="Equation.3">
                    <p:embed/>
                  </p:oleObj>
                </mc:Choice>
                <mc:Fallback>
                  <p:oleObj name="Equation" r:id="rId4" imgW="266353" imgH="17756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69607" y="1628800"/>
                          <a:ext cx="530585" cy="3600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47" name="Object 23"/>
            <p:cNvGraphicFramePr>
              <a:graphicFrameLocks noChangeAspect="1"/>
            </p:cNvGraphicFramePr>
            <p:nvPr/>
          </p:nvGraphicFramePr>
          <p:xfrm>
            <a:off x="3956974" y="1412776"/>
            <a:ext cx="471010" cy="6816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825" name="Equation" r:id="rId6" imgW="380835" imgH="609336" progId="Equation.3">
                    <p:embed/>
                  </p:oleObj>
                </mc:Choice>
                <mc:Fallback>
                  <p:oleObj name="Equation" r:id="rId6" imgW="380835" imgH="60933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56974" y="1412776"/>
                          <a:ext cx="471010" cy="68160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46" name="Object 22"/>
            <p:cNvGraphicFramePr>
              <a:graphicFrameLocks noChangeAspect="1"/>
            </p:cNvGraphicFramePr>
            <p:nvPr/>
          </p:nvGraphicFramePr>
          <p:xfrm>
            <a:off x="1547664" y="1412776"/>
            <a:ext cx="1125091" cy="6990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826" name="Equation" r:id="rId8" imgW="977900" imgH="609600" progId="Equation.3">
                    <p:embed/>
                  </p:oleObj>
                </mc:Choice>
                <mc:Fallback>
                  <p:oleObj name="Equation" r:id="rId8" imgW="977900" imgH="609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47664" y="1412776"/>
                          <a:ext cx="1125091" cy="69908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045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1691476"/>
              </p:ext>
            </p:extLst>
          </p:nvPr>
        </p:nvGraphicFramePr>
        <p:xfrm>
          <a:off x="5177199" y="2556821"/>
          <a:ext cx="1109633" cy="512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827" name="Equation" r:id="rId10" imgW="990600" imgH="457200" progId="Equation.3">
                  <p:embed/>
                </p:oleObj>
              </mc:Choice>
              <mc:Fallback>
                <p:oleObj name="Equation" r:id="rId10" imgW="9906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7199" y="2556821"/>
                        <a:ext cx="1109633" cy="512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1920351"/>
              </p:ext>
            </p:extLst>
          </p:nvPr>
        </p:nvGraphicFramePr>
        <p:xfrm>
          <a:off x="6358840" y="5038349"/>
          <a:ext cx="657225" cy="20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828" name="Equation" r:id="rId12" imgW="660113" imgH="203112" progId="Equation.3">
                  <p:embed/>
                </p:oleObj>
              </mc:Choice>
              <mc:Fallback>
                <p:oleObj name="Equation" r:id="rId12" imgW="660113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8840" y="5038349"/>
                        <a:ext cx="657225" cy="200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3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2855229"/>
              </p:ext>
            </p:extLst>
          </p:nvPr>
        </p:nvGraphicFramePr>
        <p:xfrm>
          <a:off x="4022958" y="2694453"/>
          <a:ext cx="463674" cy="3745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829" name="Equation" r:id="rId14" imgW="203024" imgH="164957" progId="Equation.3">
                  <p:embed/>
                </p:oleObj>
              </mc:Choice>
              <mc:Fallback>
                <p:oleObj name="Equation" r:id="rId14" imgW="203024" imgH="16495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2958" y="2694453"/>
                        <a:ext cx="463674" cy="37450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2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8130875"/>
              </p:ext>
            </p:extLst>
          </p:nvPr>
        </p:nvGraphicFramePr>
        <p:xfrm>
          <a:off x="1476713" y="2623193"/>
          <a:ext cx="1569759" cy="3737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830" r:id="rId16" imgW="596641" imgH="203112" progId="">
                  <p:embed/>
                </p:oleObj>
              </mc:Choice>
              <mc:Fallback>
                <p:oleObj r:id="rId16" imgW="596641" imgH="203112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713" y="2623193"/>
                        <a:ext cx="1569759" cy="37375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1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6679535"/>
              </p:ext>
            </p:extLst>
          </p:nvPr>
        </p:nvGraphicFramePr>
        <p:xfrm>
          <a:off x="5134704" y="3212975"/>
          <a:ext cx="1224136" cy="4080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831" name="Equation" r:id="rId18" imgW="685800" imgH="228600" progId="Equation.3">
                  <p:embed/>
                </p:oleObj>
              </mc:Choice>
              <mc:Fallback>
                <p:oleObj name="Equation" r:id="rId18" imgW="6858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4704" y="3212975"/>
                        <a:ext cx="1224136" cy="40804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0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2744936"/>
              </p:ext>
            </p:extLst>
          </p:nvPr>
        </p:nvGraphicFramePr>
        <p:xfrm>
          <a:off x="6358840" y="3645023"/>
          <a:ext cx="657225" cy="20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832" name="Equation" r:id="rId20" imgW="660113" imgH="203112" progId="Equation.3">
                  <p:embed/>
                </p:oleObj>
              </mc:Choice>
              <mc:Fallback>
                <p:oleObj name="Equation" r:id="rId20" imgW="660113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8840" y="3645023"/>
                        <a:ext cx="657225" cy="200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9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5913948"/>
              </p:ext>
            </p:extLst>
          </p:nvPr>
        </p:nvGraphicFramePr>
        <p:xfrm>
          <a:off x="3910568" y="3323755"/>
          <a:ext cx="720080" cy="4431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833" r:id="rId22" imgW="253780" imgH="215713" progId="">
                  <p:embed/>
                </p:oleObj>
              </mc:Choice>
              <mc:Fallback>
                <p:oleObj r:id="rId22" imgW="253780" imgH="215713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10568" y="3323755"/>
                        <a:ext cx="720080" cy="44312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8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3207672"/>
              </p:ext>
            </p:extLst>
          </p:nvPr>
        </p:nvGraphicFramePr>
        <p:xfrm>
          <a:off x="2038360" y="3212975"/>
          <a:ext cx="629791" cy="6297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834" r:id="rId24" imgW="355446" imgH="418918" progId="">
                  <p:embed/>
                </p:oleObj>
              </mc:Choice>
              <mc:Fallback>
                <p:oleObj r:id="rId24" imgW="355446" imgH="418918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8360" y="3212975"/>
                        <a:ext cx="629791" cy="62979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1904093"/>
              </p:ext>
            </p:extLst>
          </p:nvPr>
        </p:nvGraphicFramePr>
        <p:xfrm>
          <a:off x="5206712" y="4590301"/>
          <a:ext cx="792088" cy="7260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835" name="Equation" r:id="rId26" imgW="457200" imgH="419100" progId="Equation.3">
                  <p:embed/>
                </p:oleObj>
              </mc:Choice>
              <mc:Fallback>
                <p:oleObj name="Equation" r:id="rId26" imgW="4572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6712" y="4590301"/>
                        <a:ext cx="792088" cy="72608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2877029"/>
              </p:ext>
            </p:extLst>
          </p:nvPr>
        </p:nvGraphicFramePr>
        <p:xfrm>
          <a:off x="6358840" y="2924943"/>
          <a:ext cx="657225" cy="20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836" name="Equation" r:id="rId28" imgW="660113" imgH="203112" progId="Equation.3">
                  <p:embed/>
                </p:oleObj>
              </mc:Choice>
              <mc:Fallback>
                <p:oleObj name="Equation" r:id="rId28" imgW="660113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8840" y="2924943"/>
                        <a:ext cx="657225" cy="200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1897798"/>
              </p:ext>
            </p:extLst>
          </p:nvPr>
        </p:nvGraphicFramePr>
        <p:xfrm>
          <a:off x="1966352" y="4806326"/>
          <a:ext cx="648071" cy="4320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837" name="Equation" r:id="rId29" imgW="126780" imgH="164814" progId="Equation.3">
                  <p:embed/>
                </p:oleObj>
              </mc:Choice>
              <mc:Fallback>
                <p:oleObj name="Equation" r:id="rId29" imgW="126780" imgH="16481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6352" y="4806326"/>
                        <a:ext cx="648071" cy="43204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9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4665703"/>
              </p:ext>
            </p:extLst>
          </p:nvPr>
        </p:nvGraphicFramePr>
        <p:xfrm>
          <a:off x="3982576" y="4782192"/>
          <a:ext cx="648271" cy="4321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838" name="Equation" r:id="rId31" imgW="126780" imgH="164814" progId="Equation.3">
                  <p:embed/>
                </p:oleObj>
              </mc:Choice>
              <mc:Fallback>
                <p:oleObj name="Equation" r:id="rId31" imgW="126780" imgH="16481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2576" y="4782192"/>
                        <a:ext cx="648271" cy="4321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4122"/>
          </a:xfrm>
        </p:spPr>
        <p:txBody>
          <a:bodyPr/>
          <a:lstStyle/>
          <a:p>
            <a:pPr algn="ctr"/>
            <a:r>
              <a:rPr lang="he-IL" dirty="0" smtClean="0"/>
              <a:t>סוגי התפלגויות</a:t>
            </a:r>
            <a:endParaRPr lang="en-GB" dirty="0"/>
          </a:p>
        </p:txBody>
      </p:sp>
      <p:pic>
        <p:nvPicPr>
          <p:cNvPr id="100510" name="Picture 158" descr="nD\over N"/>
          <p:cNvPicPr>
            <a:picLocks noChangeAspect="1" noChangeArrowheads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3014" y="4021677"/>
            <a:ext cx="349498" cy="494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0512" name="Picture 160" descr="n(D/N)(1-D/N)(N-n)\over (N-1)"/>
          <p:cNvPicPr>
            <a:picLocks noChangeAspect="1" noChangeArrowheads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957" y="4003205"/>
            <a:ext cx="22098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6260121"/>
              </p:ext>
            </p:extLst>
          </p:nvPr>
        </p:nvGraphicFramePr>
        <p:xfrm>
          <a:off x="5494744" y="6060247"/>
          <a:ext cx="1029841" cy="5647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839" name="Equation" r:id="rId34" imgW="888614" imgH="482391" progId="Equation.3">
                  <p:embed/>
                </p:oleObj>
              </mc:Choice>
              <mc:Fallback>
                <p:oleObj name="Equation" r:id="rId34" imgW="888614" imgH="48239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4744" y="6060247"/>
                        <a:ext cx="1029841" cy="56475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4332187"/>
              </p:ext>
            </p:extLst>
          </p:nvPr>
        </p:nvGraphicFramePr>
        <p:xfrm>
          <a:off x="4190216" y="6060247"/>
          <a:ext cx="152400" cy="6480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840" name="Equation" r:id="rId36" imgW="152280" imgH="393480" progId="Equation.3">
                  <p:embed/>
                </p:oleObj>
              </mc:Choice>
              <mc:Fallback>
                <p:oleObj name="Equation" r:id="rId36" imgW="15228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0216" y="6060247"/>
                        <a:ext cx="152400" cy="64807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0918627"/>
              </p:ext>
            </p:extLst>
          </p:nvPr>
        </p:nvGraphicFramePr>
        <p:xfrm>
          <a:off x="1750328" y="6021288"/>
          <a:ext cx="682526" cy="6150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841" name="Equation" r:id="rId38" imgW="431640" imgH="393480" progId="Equation.3">
                  <p:embed/>
                </p:oleObj>
              </mc:Choice>
              <mc:Fallback>
                <p:oleObj name="Equation" r:id="rId38" imgW="43164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0328" y="6021288"/>
                        <a:ext cx="682526" cy="61502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153326"/>
              </p:ext>
            </p:extLst>
          </p:nvPr>
        </p:nvGraphicFramePr>
        <p:xfrm>
          <a:off x="5279662" y="3982196"/>
          <a:ext cx="1438275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842" name="Equation" r:id="rId40" imgW="1282680" imgH="457200" progId="Equation.3">
                  <p:embed/>
                </p:oleObj>
              </mc:Choice>
              <mc:Fallback>
                <p:oleObj name="Equation" r:id="rId40" imgW="128268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79662" y="3982196"/>
                        <a:ext cx="1438275" cy="511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00596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496" y="44624"/>
            <a:ext cx="889248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just"/>
            <a:r>
              <a:rPr lang="he-IL" sz="3200" b="1" u="sng" dirty="0" smtClean="0">
                <a:solidFill>
                  <a:prstClr val="black"/>
                </a:solidFill>
              </a:rPr>
              <a:t>שאלה </a:t>
            </a:r>
            <a:r>
              <a:rPr lang="en-US" sz="3200" b="1" u="sng" dirty="0" smtClean="0">
                <a:solidFill>
                  <a:prstClr val="black"/>
                </a:solidFill>
              </a:rPr>
              <a:t>1</a:t>
            </a:r>
          </a:p>
        </p:txBody>
      </p:sp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355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8677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8678" name="Rectangle 6"/>
          <p:cNvSpPr>
            <a:spLocks noChangeArrowheads="1"/>
          </p:cNvSpPr>
          <p:nvPr/>
        </p:nvSpPr>
        <p:spPr bwMode="auto">
          <a:xfrm>
            <a:off x="0" y="2190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he-IL" sz="1100" smtClean="0">
                <a:solidFill>
                  <a:prstClr val="black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  </a:t>
            </a:r>
            <a:endParaRPr lang="he-IL" smtClean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8680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8681" name="Rectangle 9"/>
          <p:cNvSpPr>
            <a:spLocks noChangeArrowheads="1"/>
          </p:cNvSpPr>
          <p:nvPr/>
        </p:nvSpPr>
        <p:spPr bwMode="auto">
          <a:xfrm>
            <a:off x="0" y="2190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he-IL" sz="1100" smtClean="0">
                <a:solidFill>
                  <a:prstClr val="black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  </a:t>
            </a:r>
            <a:endParaRPr lang="he-IL" smtClean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789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1" name="Content Placeholder 20"/>
          <p:cNvSpPr>
            <a:spLocks noGrp="1"/>
          </p:cNvSpPr>
          <p:nvPr>
            <p:ph idx="1"/>
          </p:nvPr>
        </p:nvSpPr>
        <p:spPr>
          <a:xfrm>
            <a:off x="457200" y="803850"/>
            <a:ext cx="8229600" cy="5322313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he-IL" dirty="0"/>
              <a:t>ציוני בחינה בבית ספר גדול מתפלגים נורמלית.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he-IL" dirty="0"/>
              <a:t>הציון הממוצע הוא  </a:t>
            </a:r>
            <a:r>
              <a:rPr lang="he-IL" dirty="0" smtClean="0"/>
              <a:t>68, והשונות היא 100.</a:t>
            </a:r>
          </a:p>
          <a:p>
            <a:pPr marL="0" indent="0">
              <a:lnSpc>
                <a:spcPct val="170000"/>
              </a:lnSpc>
              <a:buNone/>
            </a:pPr>
            <a:endParaRPr lang="he-IL" dirty="0"/>
          </a:p>
          <a:p>
            <a:pPr marL="0" indent="0">
              <a:lnSpc>
                <a:spcPct val="170000"/>
              </a:lnSpc>
              <a:buNone/>
            </a:pPr>
            <a:r>
              <a:rPr lang="he-IL" dirty="0"/>
              <a:t>א. </a:t>
            </a:r>
            <a:r>
              <a:rPr lang="he-IL" dirty="0" smtClean="0"/>
              <a:t>מהו </a:t>
            </a:r>
            <a:r>
              <a:rPr lang="he-IL" dirty="0"/>
              <a:t>חציון ציוני </a:t>
            </a:r>
            <a:r>
              <a:rPr lang="he-IL" dirty="0" smtClean="0"/>
              <a:t>הבחינה?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he-IL" dirty="0" smtClean="0"/>
              <a:t>ב. </a:t>
            </a:r>
            <a:r>
              <a:rPr lang="he-IL" dirty="0"/>
              <a:t>בוחרים באקראי תלמיד. מה ההסתברות שציונו בין  </a:t>
            </a:r>
            <a:r>
              <a:rPr lang="he-IL" dirty="0" smtClean="0"/>
              <a:t>58 </a:t>
            </a:r>
            <a:r>
              <a:rPr lang="he-IL" dirty="0"/>
              <a:t>ל-  </a:t>
            </a:r>
            <a:r>
              <a:rPr lang="he-IL" dirty="0" smtClean="0"/>
              <a:t>88 </a:t>
            </a:r>
            <a:r>
              <a:rPr lang="he-IL" dirty="0"/>
              <a:t>?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he-IL" dirty="0" smtClean="0"/>
              <a:t>ג. </a:t>
            </a:r>
            <a:r>
              <a:rPr lang="he-IL" dirty="0"/>
              <a:t>מספר התלמידים שציוניהם בבחינה הם בין  </a:t>
            </a:r>
            <a:r>
              <a:rPr lang="he-IL" dirty="0" smtClean="0"/>
              <a:t>58 </a:t>
            </a:r>
            <a:r>
              <a:rPr lang="he-IL" dirty="0"/>
              <a:t>ל-  </a:t>
            </a:r>
            <a:r>
              <a:rPr lang="he-IL" dirty="0" smtClean="0"/>
              <a:t>88 </a:t>
            </a:r>
            <a:r>
              <a:rPr lang="he-IL" dirty="0"/>
              <a:t>הוא  </a:t>
            </a:r>
            <a:r>
              <a:rPr lang="he-IL" dirty="0" smtClean="0"/>
              <a:t>902. מהי </a:t>
            </a:r>
            <a:r>
              <a:rPr lang="he-IL" dirty="0"/>
              <a:t>ההערכה שניתן להסיק מנתון </a:t>
            </a:r>
            <a:r>
              <a:rPr lang="he-IL" dirty="0" smtClean="0"/>
              <a:t>זה </a:t>
            </a:r>
            <a:r>
              <a:rPr lang="he-IL" dirty="0"/>
              <a:t>לגבי מספר התלמידים בבית הספר שניגשו לבחינה.</a:t>
            </a:r>
          </a:p>
          <a:p>
            <a:pPr marL="0" indent="0">
              <a:lnSpc>
                <a:spcPct val="170000"/>
              </a:lnSpc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16192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79512" y="21607"/>
            <a:ext cx="8748464" cy="469359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just"/>
            <a:r>
              <a:rPr lang="he-IL" sz="2600" b="1" u="sng" dirty="0" smtClean="0"/>
              <a:t>שאלה </a:t>
            </a:r>
            <a:r>
              <a:rPr lang="en-US" sz="2600" b="1" u="sng" dirty="0" smtClean="0"/>
              <a:t>2</a:t>
            </a:r>
            <a:endParaRPr lang="he-IL" sz="2600" b="1" u="sng" dirty="0" smtClean="0"/>
          </a:p>
          <a:p>
            <a:pPr>
              <a:lnSpc>
                <a:spcPct val="150000"/>
              </a:lnSpc>
            </a:pPr>
            <a:r>
              <a:rPr lang="he-IL" sz="2600" dirty="0" smtClean="0"/>
              <a:t>משך הזמן עד להתפרקות של חלקיק רדיואקטיבי </a:t>
            </a:r>
            <a:r>
              <a:rPr lang="en-US" sz="2600" dirty="0" smtClean="0"/>
              <a:t>R </a:t>
            </a:r>
            <a:r>
              <a:rPr lang="he-IL" sz="2600" dirty="0" smtClean="0"/>
              <a:t> מתפלג מעריכית עם ממוצע של 2000 שנים. סונתז חומר אשר מכיל 10 חלקיקי </a:t>
            </a:r>
            <a:r>
              <a:rPr lang="en-US" sz="2600" dirty="0" smtClean="0"/>
              <a:t>R</a:t>
            </a:r>
            <a:r>
              <a:rPr lang="he-IL" sz="2600" dirty="0" smtClean="0"/>
              <a:t>. מה ההסתברות שלאחר 500 שנים החומר יכיל 50% מהחלקיקים הרדיואקטיביים?</a:t>
            </a:r>
          </a:p>
          <a:p>
            <a:pPr algn="ctr">
              <a:lnSpc>
                <a:spcPct val="150000"/>
              </a:lnSpc>
            </a:pPr>
            <a:r>
              <a:rPr lang="he-IL" sz="2600" b="1" dirty="0" smtClean="0">
                <a:solidFill>
                  <a:srgbClr val="FF0000"/>
                </a:solidFill>
              </a:rPr>
              <a:t>התפלגות מעריכית(?</a:t>
            </a:r>
            <a:r>
              <a:rPr lang="en-US" sz="2600" b="1" dirty="0" smtClean="0">
                <a:solidFill>
                  <a:srgbClr val="FF0000"/>
                </a:solidFill>
              </a:rPr>
              <a:t>k=</a:t>
            </a:r>
            <a:r>
              <a:rPr lang="he-IL" sz="2600" b="1" dirty="0" smtClean="0">
                <a:solidFill>
                  <a:srgbClr val="FF0000"/>
                </a:solidFill>
              </a:rPr>
              <a:t>)</a:t>
            </a:r>
            <a:endParaRPr lang="en-US" sz="2600" b="1" dirty="0" smtClean="0">
              <a:solidFill>
                <a:srgbClr val="FF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sz="2600" dirty="0" smtClean="0">
                <a:solidFill>
                  <a:srgbClr val="FF0000"/>
                </a:solidFill>
              </a:rPr>
              <a:t> X</a:t>
            </a:r>
            <a:r>
              <a:rPr lang="he-IL" sz="2600" dirty="0" smtClean="0">
                <a:solidFill>
                  <a:srgbClr val="FF0000"/>
                </a:solidFill>
              </a:rPr>
              <a:t>- משך הזמן עד להתפרקות חלקיק </a:t>
            </a:r>
            <a:r>
              <a:rPr lang="he-IL" sz="2600" u="sng" dirty="0" smtClean="0">
                <a:solidFill>
                  <a:srgbClr val="FF0000"/>
                </a:solidFill>
              </a:rPr>
              <a:t>בודד</a:t>
            </a:r>
          </a:p>
          <a:p>
            <a:pPr algn="ctr">
              <a:lnSpc>
                <a:spcPct val="150000"/>
              </a:lnSpc>
            </a:pPr>
            <a:r>
              <a:rPr lang="he-IL" sz="2600" dirty="0">
                <a:solidFill>
                  <a:srgbClr val="FF0000"/>
                </a:solidFill>
              </a:rPr>
              <a:t>מתארת תופעות אקראיות שהסיכוי להתרחשותן קבוע </a:t>
            </a:r>
            <a:r>
              <a:rPr lang="he-IL" sz="2600" dirty="0" smtClean="0">
                <a:solidFill>
                  <a:srgbClr val="FF0000"/>
                </a:solidFill>
              </a:rPr>
              <a:t>בזמן</a:t>
            </a:r>
            <a:endParaRPr lang="he-IL" sz="2600" dirty="0">
              <a:solidFill>
                <a:srgbClr val="FF0000"/>
              </a:solidFill>
            </a:endParaRPr>
          </a:p>
        </p:txBody>
      </p:sp>
      <p:graphicFrame>
        <p:nvGraphicFramePr>
          <p:cNvPr id="3" name="טבלה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2780058"/>
              </p:ext>
            </p:extLst>
          </p:nvPr>
        </p:nvGraphicFramePr>
        <p:xfrm>
          <a:off x="755576" y="4869160"/>
          <a:ext cx="7848872" cy="1573663"/>
        </p:xfrm>
        <a:graphic>
          <a:graphicData uri="http://schemas.openxmlformats.org/drawingml/2006/table">
            <a:tbl>
              <a:tblPr rtl="1"/>
              <a:tblGrid>
                <a:gridCol w="1564801"/>
                <a:gridCol w="2028992"/>
                <a:gridCol w="1683612"/>
                <a:gridCol w="2571467"/>
              </a:tblGrid>
              <a:tr h="886953"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he-IL" sz="1400" b="1" cap="all" dirty="0">
                          <a:latin typeface="Times New Roman"/>
                          <a:ea typeface="Calibri"/>
                          <a:cs typeface="Tahoma"/>
                        </a:rPr>
                        <a:t>משפחת </a:t>
                      </a:r>
                      <a:r>
                        <a:rPr lang="he-IL" sz="1400" b="1" cap="all" dirty="0" smtClean="0">
                          <a:latin typeface="Times New Roman"/>
                          <a:ea typeface="Calibri"/>
                          <a:cs typeface="Tahoma"/>
                        </a:rPr>
                        <a:t>התפלגות</a:t>
                      </a:r>
                      <a:r>
                        <a:rPr lang="en-US" sz="1400" b="1" cap="all" dirty="0" smtClean="0">
                          <a:latin typeface="Times New Roman"/>
                          <a:ea typeface="Calibri"/>
                          <a:cs typeface="Tahoma"/>
                        </a:rPr>
                        <a:t/>
                      </a:r>
                      <a:br>
                        <a:rPr lang="en-US" sz="1400" b="1" cap="all" dirty="0" smtClean="0">
                          <a:latin typeface="Times New Roman"/>
                          <a:ea typeface="Calibri"/>
                          <a:cs typeface="Tahoma"/>
                        </a:rPr>
                      </a:br>
                      <a:r>
                        <a:rPr lang="he-IL" sz="1400" b="1" cap="all" dirty="0" smtClean="0">
                          <a:latin typeface="Times New Roman"/>
                          <a:ea typeface="Calibri"/>
                          <a:cs typeface="Tahoma"/>
                        </a:rPr>
                        <a:t>(פרמטרים</a:t>
                      </a:r>
                      <a:r>
                        <a:rPr lang="he-IL" sz="1400" b="1" cap="all" dirty="0">
                          <a:latin typeface="Times New Roman"/>
                          <a:ea typeface="Calibri"/>
                          <a:cs typeface="Tahoma"/>
                        </a:rPr>
                        <a:t>)</a:t>
                      </a:r>
                      <a:endParaRPr lang="en-US" sz="14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he-IL" sz="1400" b="1" dirty="0">
                          <a:latin typeface="Times New Roman"/>
                          <a:ea typeface="Times New Roman"/>
                          <a:cs typeface="Tahoma"/>
                        </a:rPr>
                        <a:t>פונקצית צפיפות </a:t>
                      </a:r>
                      <a:r>
                        <a:rPr lang="he-IL" sz="1400" b="1" dirty="0" smtClean="0">
                          <a:latin typeface="Times New Roman"/>
                          <a:ea typeface="Times New Roman"/>
                          <a:cs typeface="Tahoma"/>
                        </a:rPr>
                        <a:t>ההסתברות</a:t>
                      </a:r>
                      <a:r>
                        <a:rPr lang="en-US" sz="1400" b="1" dirty="0" smtClean="0">
                          <a:latin typeface="Times New Roman"/>
                          <a:ea typeface="Times New Roman"/>
                          <a:cs typeface="Tahoma"/>
                        </a:rPr>
                        <a:t/>
                      </a:r>
                      <a:br>
                        <a:rPr lang="en-US" sz="1400" b="1" dirty="0" smtClean="0">
                          <a:latin typeface="Times New Roman"/>
                          <a:ea typeface="Times New Roman"/>
                          <a:cs typeface="Tahoma"/>
                        </a:rPr>
                      </a:br>
                      <a:r>
                        <a:rPr lang="en-US" sz="1400" b="1" dirty="0" smtClean="0">
                          <a:latin typeface="Times New Roman"/>
                          <a:ea typeface="Times New Roman"/>
                          <a:cs typeface="Tahoma"/>
                        </a:rPr>
                        <a:t>p(x</a:t>
                      </a:r>
                      <a:r>
                        <a:rPr lang="en-US" sz="1400" b="1" dirty="0">
                          <a:latin typeface="Times New Roman"/>
                          <a:ea typeface="Times New Roman"/>
                          <a:cs typeface="Tahoma"/>
                        </a:rPr>
                        <a:t>)</a:t>
                      </a:r>
                      <a:endParaRPr lang="en-US" sz="14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he-IL" sz="1400" b="1" cap="all" dirty="0" smtClean="0">
                          <a:latin typeface="Times New Roman"/>
                          <a:ea typeface="Calibri"/>
                          <a:cs typeface="Tahoma"/>
                        </a:rPr>
                        <a:t>תוחלת</a:t>
                      </a:r>
                      <a:r>
                        <a:rPr lang="en-US" sz="1400" b="1" cap="all" dirty="0" smtClean="0">
                          <a:latin typeface="Times New Roman"/>
                          <a:ea typeface="Calibri"/>
                          <a:cs typeface="Tahoma"/>
                        </a:rPr>
                        <a:t/>
                      </a:r>
                      <a:br>
                        <a:rPr lang="en-US" sz="1400" b="1" cap="all" dirty="0" smtClean="0">
                          <a:latin typeface="Times New Roman"/>
                          <a:ea typeface="Calibri"/>
                          <a:cs typeface="Tahoma"/>
                        </a:rPr>
                      </a:br>
                      <a:r>
                        <a:rPr lang="en-US" sz="1400" b="1" cap="all" dirty="0" smtClean="0">
                          <a:latin typeface="Tahoma"/>
                          <a:ea typeface="Calibri"/>
                          <a:cs typeface="Tahoma"/>
                        </a:rPr>
                        <a:t>E(x</a:t>
                      </a:r>
                      <a:r>
                        <a:rPr lang="en-US" sz="1400" b="1" cap="all" dirty="0">
                          <a:latin typeface="Tahoma"/>
                          <a:ea typeface="Calibri"/>
                          <a:cs typeface="Tahoma"/>
                        </a:rPr>
                        <a:t>)</a:t>
                      </a:r>
                      <a:endParaRPr lang="en-US" sz="14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he-IL" sz="1400" b="1" cap="all" dirty="0" smtClean="0">
                          <a:latin typeface="Times New Roman"/>
                          <a:ea typeface="Calibri"/>
                          <a:cs typeface="Tahoma"/>
                        </a:rPr>
                        <a:t>שונות</a:t>
                      </a:r>
                      <a:r>
                        <a:rPr lang="en-US" sz="1400" b="1" cap="all" dirty="0" smtClean="0">
                          <a:latin typeface="Times New Roman"/>
                          <a:ea typeface="Calibri"/>
                          <a:cs typeface="Tahoma"/>
                        </a:rPr>
                        <a:t/>
                      </a:r>
                      <a:br>
                        <a:rPr lang="en-US" sz="1400" b="1" cap="all" dirty="0" smtClean="0">
                          <a:latin typeface="Times New Roman"/>
                          <a:ea typeface="Calibri"/>
                          <a:cs typeface="Tahoma"/>
                        </a:rPr>
                      </a:br>
                      <a:r>
                        <a:rPr lang="en-US" sz="1400" b="1" cap="all" dirty="0" err="1" smtClean="0">
                          <a:latin typeface="Tahoma"/>
                          <a:ea typeface="Calibri"/>
                          <a:cs typeface="Tahoma"/>
                        </a:rPr>
                        <a:t>Var</a:t>
                      </a:r>
                      <a:r>
                        <a:rPr lang="en-US" sz="1400" b="1" cap="all" dirty="0" smtClean="0">
                          <a:latin typeface="Tahoma"/>
                          <a:ea typeface="Calibri"/>
                          <a:cs typeface="Tahoma"/>
                        </a:rPr>
                        <a:t>(x</a:t>
                      </a:r>
                      <a:r>
                        <a:rPr lang="en-US" sz="1400" b="1" cap="all" dirty="0">
                          <a:latin typeface="Tahoma"/>
                          <a:ea typeface="Calibri"/>
                          <a:cs typeface="Tahoma"/>
                        </a:rPr>
                        <a:t>)</a:t>
                      </a:r>
                      <a:endParaRPr lang="en-US" sz="14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</a:tr>
              <a:tr h="651833"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he-IL" sz="1400" dirty="0" err="1">
                          <a:latin typeface="Times New Roman"/>
                          <a:ea typeface="Calibri"/>
                          <a:cs typeface="Tahoma"/>
                        </a:rPr>
                        <a:t>מעריכית</a:t>
                      </a:r>
                      <a:r>
                        <a:rPr lang="he-IL" sz="1400" dirty="0">
                          <a:latin typeface="Times New Roman"/>
                          <a:ea typeface="Calibri"/>
                          <a:cs typeface="Tahoma"/>
                        </a:rPr>
                        <a:t> </a:t>
                      </a:r>
                      <a:r>
                        <a:rPr lang="en-US" sz="1400" dirty="0">
                          <a:latin typeface="Tahoma"/>
                          <a:ea typeface="Calibri"/>
                          <a:cs typeface="Tahoma"/>
                        </a:rPr>
                        <a:t>(k)</a:t>
                      </a:r>
                      <a:endParaRPr lang="en-US" sz="14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he-IL" sz="14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he-IL" sz="14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he-IL" sz="14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</a:tr>
            </a:tbl>
          </a:graphicData>
        </a:graphic>
      </p:graphicFrame>
      <p:graphicFrame>
        <p:nvGraphicFramePr>
          <p:cNvPr id="2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9390179"/>
              </p:ext>
            </p:extLst>
          </p:nvPr>
        </p:nvGraphicFramePr>
        <p:xfrm>
          <a:off x="5494744" y="5822604"/>
          <a:ext cx="1029841" cy="5647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69" name="Equation" r:id="rId4" imgW="888614" imgH="482391" progId="Equation.3">
                  <p:embed/>
                </p:oleObj>
              </mc:Choice>
              <mc:Fallback>
                <p:oleObj name="Equation" r:id="rId4" imgW="888614" imgH="48239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4744" y="5822604"/>
                        <a:ext cx="1029841" cy="56475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8943268"/>
              </p:ext>
            </p:extLst>
          </p:nvPr>
        </p:nvGraphicFramePr>
        <p:xfrm>
          <a:off x="4190216" y="5822604"/>
          <a:ext cx="152400" cy="6480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70" name="Equation" r:id="rId6" imgW="152280" imgH="393480" progId="Equation.3">
                  <p:embed/>
                </p:oleObj>
              </mc:Choice>
              <mc:Fallback>
                <p:oleObj name="Equation" r:id="rId6" imgW="15228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0216" y="5822604"/>
                        <a:ext cx="152400" cy="64807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3109344"/>
              </p:ext>
            </p:extLst>
          </p:nvPr>
        </p:nvGraphicFramePr>
        <p:xfrm>
          <a:off x="1750328" y="5783645"/>
          <a:ext cx="682526" cy="6150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71" name="Equation" r:id="rId8" imgW="431640" imgH="393480" progId="Equation.3">
                  <p:embed/>
                </p:oleObj>
              </mc:Choice>
              <mc:Fallback>
                <p:oleObj name="Equation" r:id="rId8" imgW="43164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0328" y="5783645"/>
                        <a:ext cx="682526" cy="61502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88385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4016" y="44624"/>
            <a:ext cx="8748464" cy="73058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lnSpc>
                <a:spcPct val="150000"/>
              </a:lnSpc>
            </a:pPr>
            <a:r>
              <a:rPr lang="he-IL" sz="3200" b="1" dirty="0" smtClean="0"/>
              <a:t> </a:t>
            </a:r>
            <a:endParaRPr lang="en-US" sz="3200" b="1" dirty="0"/>
          </a:p>
        </p:txBody>
      </p:sp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891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8918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cxnSp>
        <p:nvCxnSpPr>
          <p:cNvPr id="9" name="מחבר ישר 8"/>
          <p:cNvCxnSpPr/>
          <p:nvPr/>
        </p:nvCxnSpPr>
        <p:spPr>
          <a:xfrm>
            <a:off x="827584" y="2566065"/>
            <a:ext cx="0" cy="324036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מחבר ישר 9"/>
          <p:cNvCxnSpPr/>
          <p:nvPr/>
        </p:nvCxnSpPr>
        <p:spPr>
          <a:xfrm>
            <a:off x="827584" y="5878433"/>
            <a:ext cx="576064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צורה חופשית 10"/>
          <p:cNvSpPr/>
          <p:nvPr/>
        </p:nvSpPr>
        <p:spPr>
          <a:xfrm>
            <a:off x="867611" y="2834760"/>
            <a:ext cx="5315857" cy="2779486"/>
          </a:xfrm>
          <a:custGeom>
            <a:avLst/>
            <a:gdLst>
              <a:gd name="connsiteX0" fmla="*/ 0 w 5315857"/>
              <a:gd name="connsiteY0" fmla="*/ 0 h 2779486"/>
              <a:gd name="connsiteX1" fmla="*/ 1240972 w 5315857"/>
              <a:gd name="connsiteY1" fmla="*/ 2068286 h 2779486"/>
              <a:gd name="connsiteX2" fmla="*/ 4724400 w 5315857"/>
              <a:gd name="connsiteY2" fmla="*/ 2677886 h 2779486"/>
              <a:gd name="connsiteX3" fmla="*/ 4789715 w 5315857"/>
              <a:gd name="connsiteY3" fmla="*/ 2677886 h 2779486"/>
              <a:gd name="connsiteX4" fmla="*/ 4789715 w 5315857"/>
              <a:gd name="connsiteY4" fmla="*/ 2677886 h 2779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15857" h="2779486">
                <a:moveTo>
                  <a:pt x="0" y="0"/>
                </a:moveTo>
                <a:cubicBezTo>
                  <a:pt x="226786" y="810986"/>
                  <a:pt x="453572" y="1621972"/>
                  <a:pt x="1240972" y="2068286"/>
                </a:cubicBezTo>
                <a:cubicBezTo>
                  <a:pt x="2028372" y="2514600"/>
                  <a:pt x="4132943" y="2576286"/>
                  <a:pt x="4724400" y="2677886"/>
                </a:cubicBezTo>
                <a:cubicBezTo>
                  <a:pt x="5315857" y="2779486"/>
                  <a:pt x="4789715" y="2677886"/>
                  <a:pt x="4789715" y="2677886"/>
                </a:cubicBezTo>
                <a:lnTo>
                  <a:pt x="4789715" y="2677886"/>
                </a:lnTo>
              </a:path>
            </a:pathLst>
          </a:cu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1" anchor="ctr"/>
          <a:lstStyle>
            <a:defPPr>
              <a:defRPr lang="he-IL"/>
            </a:defPPr>
            <a:lvl1pPr marL="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12" name="מחבר ישר 11"/>
          <p:cNvCxnSpPr/>
          <p:nvPr/>
        </p:nvCxnSpPr>
        <p:spPr>
          <a:xfrm>
            <a:off x="2915816" y="4222249"/>
            <a:ext cx="0" cy="1584176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TextBox 42"/>
          <p:cNvSpPr txBox="1"/>
          <p:nvPr/>
        </p:nvSpPr>
        <p:spPr>
          <a:xfrm>
            <a:off x="2555776" y="5950441"/>
            <a:ext cx="792088" cy="43088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>
            <a:defPPr>
              <a:defRPr lang="he-IL"/>
            </a:defPPr>
            <a:lvl1pPr marL="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b="1" dirty="0" smtClean="0">
                <a:solidFill>
                  <a:schemeClr val="accent2"/>
                </a:solidFill>
              </a:rPr>
              <a:t>500</a:t>
            </a:r>
            <a:endParaRPr lang="en-US" sz="2200" b="1" dirty="0">
              <a:solidFill>
                <a:schemeClr val="accent2"/>
              </a:solidFill>
            </a:endParaRPr>
          </a:p>
        </p:txBody>
      </p:sp>
      <p:sp>
        <p:nvSpPr>
          <p:cNvPr id="14" name="TextBox 43"/>
          <p:cNvSpPr txBox="1"/>
          <p:nvPr/>
        </p:nvSpPr>
        <p:spPr>
          <a:xfrm>
            <a:off x="6084168" y="5878433"/>
            <a:ext cx="936104" cy="43088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>
            <a:defPPr>
              <a:defRPr lang="he-IL"/>
            </a:defPPr>
            <a:lvl1pPr marL="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200" b="1" dirty="0" smtClean="0"/>
              <a:t>∞</a:t>
            </a:r>
            <a:endParaRPr lang="en-US" sz="2200" b="1" dirty="0"/>
          </a:p>
        </p:txBody>
      </p:sp>
      <p:sp>
        <p:nvSpPr>
          <p:cNvPr id="15" name="TextBox 44"/>
          <p:cNvSpPr txBox="1"/>
          <p:nvPr/>
        </p:nvSpPr>
        <p:spPr>
          <a:xfrm>
            <a:off x="323528" y="5950441"/>
            <a:ext cx="936104" cy="43088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>
            <a:defPPr>
              <a:defRPr lang="he-IL"/>
            </a:defPPr>
            <a:lvl1pPr marL="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200" b="1" dirty="0" smtClean="0"/>
              <a:t>0</a:t>
            </a:r>
            <a:endParaRPr lang="en-US" sz="2200" b="1" dirty="0"/>
          </a:p>
        </p:txBody>
      </p:sp>
      <p:cxnSp>
        <p:nvCxnSpPr>
          <p:cNvPr id="16" name="מחבר חץ ישר 15"/>
          <p:cNvCxnSpPr/>
          <p:nvPr/>
        </p:nvCxnSpPr>
        <p:spPr>
          <a:xfrm flipH="1">
            <a:off x="4067944" y="4798313"/>
            <a:ext cx="504056" cy="7920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2" name="Object 6"/>
          <p:cNvGraphicFramePr>
            <a:graphicFrameLocks noChangeAspect="1"/>
          </p:cNvGraphicFramePr>
          <p:nvPr/>
        </p:nvGraphicFramePr>
        <p:xfrm>
          <a:off x="5076056" y="260648"/>
          <a:ext cx="3424237" cy="1274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98" name="Equation" r:id="rId3" imgW="1307880" imgH="482400" progId="Equation.3">
                  <p:embed/>
                </p:oleObj>
              </mc:Choice>
              <mc:Fallback>
                <p:oleObj name="Equation" r:id="rId3" imgW="130788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056" y="260648"/>
                        <a:ext cx="3424237" cy="1274763"/>
                      </a:xfrm>
                      <a:prstGeom prst="rect">
                        <a:avLst/>
                      </a:prstGeom>
                      <a:blipFill dpi="0" rotWithShape="1">
                        <a:blip r:embed="rId5"/>
                        <a:srcRect/>
                        <a:tile tx="0" ty="0" sx="100000" sy="100000" flip="none" algn="tl"/>
                      </a:blipFill>
                      <a:ln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מלבן 25"/>
          <p:cNvSpPr/>
          <p:nvPr/>
        </p:nvSpPr>
        <p:spPr>
          <a:xfrm>
            <a:off x="2987824" y="1772816"/>
            <a:ext cx="5508104" cy="8669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he-IL" b="1" dirty="0" smtClean="0">
                <a:solidFill>
                  <a:srgbClr val="FF0000"/>
                </a:solidFill>
              </a:rPr>
              <a:t>התפלגות מעריכית (1/2000</a:t>
            </a:r>
            <a:r>
              <a:rPr lang="en-US" b="1" dirty="0" smtClean="0">
                <a:solidFill>
                  <a:srgbClr val="FF0000"/>
                </a:solidFill>
              </a:rPr>
              <a:t>k=</a:t>
            </a:r>
            <a:r>
              <a:rPr lang="he-IL" b="1" dirty="0" smtClean="0">
                <a:solidFill>
                  <a:srgbClr val="FF0000"/>
                </a:solidFill>
              </a:rPr>
              <a:t>)</a:t>
            </a:r>
            <a:endParaRPr lang="en-US" b="1" dirty="0" smtClean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b="1" dirty="0" smtClean="0">
                <a:solidFill>
                  <a:srgbClr val="FF0000"/>
                </a:solidFill>
              </a:rPr>
              <a:t> X</a:t>
            </a:r>
            <a:r>
              <a:rPr lang="he-IL" b="1" dirty="0" smtClean="0">
                <a:solidFill>
                  <a:srgbClr val="FF0000"/>
                </a:solidFill>
              </a:rPr>
              <a:t>- משך הזמן עד להתפרקות חלקיק </a:t>
            </a:r>
            <a:r>
              <a:rPr lang="he-IL" b="1" u="sng" dirty="0" smtClean="0">
                <a:solidFill>
                  <a:srgbClr val="FF0000"/>
                </a:solidFill>
              </a:rPr>
              <a:t>בודד</a:t>
            </a:r>
          </a:p>
        </p:txBody>
      </p:sp>
      <p:graphicFrame>
        <p:nvGraphicFramePr>
          <p:cNvPr id="38921" name="Object 9"/>
          <p:cNvGraphicFramePr>
            <a:graphicFrameLocks noChangeAspect="1"/>
          </p:cNvGraphicFramePr>
          <p:nvPr/>
        </p:nvGraphicFramePr>
        <p:xfrm>
          <a:off x="4139952" y="3501008"/>
          <a:ext cx="1764621" cy="11746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99" name="Equation" r:id="rId6" imgW="723600" imgH="482400" progId="Equation.3">
                  <p:embed/>
                </p:oleObj>
              </mc:Choice>
              <mc:Fallback>
                <p:oleObj name="Equation" r:id="rId6" imgW="72360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9952" y="3501008"/>
                        <a:ext cx="1764621" cy="11746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16646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מחבר ישר 3"/>
          <p:cNvCxnSpPr/>
          <p:nvPr/>
        </p:nvCxnSpPr>
        <p:spPr>
          <a:xfrm>
            <a:off x="1727684" y="1387021"/>
            <a:ext cx="0" cy="324036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מחבר ישר 4"/>
          <p:cNvCxnSpPr/>
          <p:nvPr/>
        </p:nvCxnSpPr>
        <p:spPr>
          <a:xfrm>
            <a:off x="1727684" y="4699389"/>
            <a:ext cx="576064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צורה חופשית 5"/>
          <p:cNvSpPr/>
          <p:nvPr/>
        </p:nvSpPr>
        <p:spPr>
          <a:xfrm>
            <a:off x="1767711" y="1655716"/>
            <a:ext cx="5315857" cy="2779486"/>
          </a:xfrm>
          <a:custGeom>
            <a:avLst/>
            <a:gdLst>
              <a:gd name="connsiteX0" fmla="*/ 0 w 5315857"/>
              <a:gd name="connsiteY0" fmla="*/ 0 h 2779486"/>
              <a:gd name="connsiteX1" fmla="*/ 1240972 w 5315857"/>
              <a:gd name="connsiteY1" fmla="*/ 2068286 h 2779486"/>
              <a:gd name="connsiteX2" fmla="*/ 4724400 w 5315857"/>
              <a:gd name="connsiteY2" fmla="*/ 2677886 h 2779486"/>
              <a:gd name="connsiteX3" fmla="*/ 4789715 w 5315857"/>
              <a:gd name="connsiteY3" fmla="*/ 2677886 h 2779486"/>
              <a:gd name="connsiteX4" fmla="*/ 4789715 w 5315857"/>
              <a:gd name="connsiteY4" fmla="*/ 2677886 h 2779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15857" h="2779486">
                <a:moveTo>
                  <a:pt x="0" y="0"/>
                </a:moveTo>
                <a:cubicBezTo>
                  <a:pt x="226786" y="810986"/>
                  <a:pt x="453572" y="1621972"/>
                  <a:pt x="1240972" y="2068286"/>
                </a:cubicBezTo>
                <a:cubicBezTo>
                  <a:pt x="2028372" y="2514600"/>
                  <a:pt x="4132943" y="2576286"/>
                  <a:pt x="4724400" y="2677886"/>
                </a:cubicBezTo>
                <a:cubicBezTo>
                  <a:pt x="5315857" y="2779486"/>
                  <a:pt x="4789715" y="2677886"/>
                  <a:pt x="4789715" y="2677886"/>
                </a:cubicBezTo>
                <a:lnTo>
                  <a:pt x="4789715" y="2677886"/>
                </a:lnTo>
              </a:path>
            </a:pathLst>
          </a:cu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1" anchor="ctr"/>
          <a:lstStyle>
            <a:defPPr>
              <a:defRPr lang="he-IL"/>
            </a:defPPr>
            <a:lvl1pPr marL="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7" name="מחבר ישר 6"/>
          <p:cNvCxnSpPr/>
          <p:nvPr/>
        </p:nvCxnSpPr>
        <p:spPr>
          <a:xfrm>
            <a:off x="3815916" y="3043205"/>
            <a:ext cx="0" cy="1584176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TextBox 42"/>
          <p:cNvSpPr txBox="1"/>
          <p:nvPr/>
        </p:nvSpPr>
        <p:spPr>
          <a:xfrm>
            <a:off x="3527884" y="4771397"/>
            <a:ext cx="432048" cy="43088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>
            <a:defPPr>
              <a:defRPr lang="he-IL"/>
            </a:defPPr>
            <a:lvl1pPr marL="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b="1" dirty="0" smtClean="0">
                <a:solidFill>
                  <a:schemeClr val="accent2"/>
                </a:solidFill>
              </a:rPr>
              <a:t>X</a:t>
            </a:r>
            <a:endParaRPr lang="en-US" sz="2200" b="1" dirty="0">
              <a:solidFill>
                <a:schemeClr val="accent2"/>
              </a:solidFill>
            </a:endParaRPr>
          </a:p>
        </p:txBody>
      </p:sp>
      <p:sp>
        <p:nvSpPr>
          <p:cNvPr id="9" name="TextBox 43"/>
          <p:cNvSpPr txBox="1"/>
          <p:nvPr/>
        </p:nvSpPr>
        <p:spPr>
          <a:xfrm>
            <a:off x="6984268" y="4699389"/>
            <a:ext cx="936104" cy="43088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>
            <a:defPPr>
              <a:defRPr lang="he-IL"/>
            </a:defPPr>
            <a:lvl1pPr marL="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200" b="1" dirty="0" smtClean="0"/>
              <a:t>∞</a:t>
            </a:r>
            <a:endParaRPr lang="en-US" sz="2200" b="1" dirty="0"/>
          </a:p>
        </p:txBody>
      </p:sp>
      <p:sp>
        <p:nvSpPr>
          <p:cNvPr id="10" name="TextBox 44"/>
          <p:cNvSpPr txBox="1"/>
          <p:nvPr/>
        </p:nvSpPr>
        <p:spPr>
          <a:xfrm>
            <a:off x="1223628" y="4771397"/>
            <a:ext cx="936104" cy="43088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>
            <a:defPPr>
              <a:defRPr lang="he-IL"/>
            </a:defPPr>
            <a:lvl1pPr marL="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200" b="1" dirty="0" smtClean="0"/>
              <a:t>0</a:t>
            </a:r>
            <a:endParaRPr lang="en-US" sz="2200" b="1" dirty="0"/>
          </a:p>
        </p:txBody>
      </p:sp>
      <p:cxnSp>
        <p:nvCxnSpPr>
          <p:cNvPr id="11" name="מחבר חץ ישר 10"/>
          <p:cNvCxnSpPr/>
          <p:nvPr/>
        </p:nvCxnSpPr>
        <p:spPr>
          <a:xfrm flipH="1">
            <a:off x="4968044" y="3619269"/>
            <a:ext cx="504056" cy="7920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46"/>
          <p:cNvSpPr txBox="1"/>
          <p:nvPr/>
        </p:nvSpPr>
        <p:spPr>
          <a:xfrm>
            <a:off x="2375756" y="2251117"/>
            <a:ext cx="1080120" cy="55399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>
            <a:defPPr>
              <a:defRPr lang="he-IL"/>
            </a:defPPr>
            <a:lvl1pPr marL="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000" dirty="0" smtClean="0"/>
              <a:t>1-e</a:t>
            </a:r>
            <a:r>
              <a:rPr lang="en-US" sz="3000" baseline="30000" dirty="0" smtClean="0"/>
              <a:t>-kx</a:t>
            </a:r>
            <a:endParaRPr lang="en-US" sz="3000" dirty="0"/>
          </a:p>
        </p:txBody>
      </p:sp>
      <p:sp>
        <p:nvSpPr>
          <p:cNvPr id="13" name="TextBox 47"/>
          <p:cNvSpPr txBox="1"/>
          <p:nvPr/>
        </p:nvSpPr>
        <p:spPr>
          <a:xfrm>
            <a:off x="5040052" y="2899189"/>
            <a:ext cx="1080120" cy="55399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>
            <a:defPPr>
              <a:defRPr lang="he-IL"/>
            </a:defPPr>
            <a:lvl1pPr marL="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000" dirty="0" smtClean="0"/>
              <a:t>e</a:t>
            </a:r>
            <a:r>
              <a:rPr lang="en-US" sz="3000" baseline="30000" dirty="0" smtClean="0"/>
              <a:t>-</a:t>
            </a:r>
            <a:r>
              <a:rPr lang="en-US" sz="3000" baseline="30000" dirty="0" err="1" smtClean="0"/>
              <a:t>kx</a:t>
            </a:r>
            <a:endParaRPr lang="en-US" sz="3000" dirty="0"/>
          </a:p>
        </p:txBody>
      </p:sp>
      <p:cxnSp>
        <p:nvCxnSpPr>
          <p:cNvPr id="14" name="מחבר חץ ישר 13"/>
          <p:cNvCxnSpPr/>
          <p:nvPr/>
        </p:nvCxnSpPr>
        <p:spPr>
          <a:xfrm flipH="1">
            <a:off x="2303748" y="2827181"/>
            <a:ext cx="504056" cy="7920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6801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44624"/>
            <a:ext cx="8892480" cy="686341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just"/>
            <a:r>
              <a:rPr lang="he-IL" sz="2600" b="1" u="sng" dirty="0" smtClean="0"/>
              <a:t>שאלה 3</a:t>
            </a:r>
          </a:p>
          <a:p>
            <a:pPr>
              <a:lnSpc>
                <a:spcPct val="150000"/>
              </a:lnSpc>
            </a:pPr>
            <a:r>
              <a:rPr lang="he-IL" sz="2600" dirty="0" smtClean="0"/>
              <a:t>משך הזמן הבין-מופעי של מטוסים הממריאים מנתב"ג הינו 15 דקות בממוצע, כאשר ידוע כי התפלגות משך הזמן עד להמראת מטוס הינה מעריכית. </a:t>
            </a:r>
          </a:p>
          <a:p>
            <a:pPr>
              <a:lnSpc>
                <a:spcPct val="150000"/>
              </a:lnSpc>
            </a:pPr>
            <a:r>
              <a:rPr lang="he-IL" sz="2400" dirty="0"/>
              <a:t>מאיר אוהב להביט במטוסים ממריאים. מה ההסתברות שבמשך שעה שהוא מבלה בנמל התעופה:</a:t>
            </a:r>
            <a:endParaRPr lang="he-IL" sz="2400" b="1" dirty="0"/>
          </a:p>
          <a:p>
            <a:pPr>
              <a:lnSpc>
                <a:spcPct val="150000"/>
              </a:lnSpc>
            </a:pPr>
            <a:r>
              <a:rPr lang="he-IL" sz="2400" b="1" dirty="0"/>
              <a:t>א. הוא יראה מטוס אחד ממריא? </a:t>
            </a:r>
          </a:p>
          <a:p>
            <a:pPr>
              <a:lnSpc>
                <a:spcPct val="150000"/>
              </a:lnSpc>
            </a:pPr>
            <a:r>
              <a:rPr lang="he-IL" sz="2400" b="1" dirty="0" smtClean="0"/>
              <a:t>ב</a:t>
            </a:r>
            <a:r>
              <a:rPr lang="he-IL" sz="2400" b="1" dirty="0"/>
              <a:t>. הוא לא יראה אף מטוס ממריא? </a:t>
            </a:r>
          </a:p>
          <a:p>
            <a:pPr>
              <a:lnSpc>
                <a:spcPct val="150000"/>
              </a:lnSpc>
            </a:pPr>
            <a:r>
              <a:rPr lang="he-IL" sz="2400" b="1" dirty="0" smtClean="0"/>
              <a:t>ג</a:t>
            </a:r>
            <a:r>
              <a:rPr lang="he-IL" sz="2400" b="1" dirty="0"/>
              <a:t>. הוא יראה לכל היותר </a:t>
            </a:r>
            <a:r>
              <a:rPr lang="he-IL" sz="2400" b="1" dirty="0" smtClean="0"/>
              <a:t>שני מטוסים ממריאים?</a:t>
            </a:r>
            <a:endParaRPr lang="he-IL" sz="2400" b="1" dirty="0"/>
          </a:p>
          <a:p>
            <a:pPr algn="ctr">
              <a:lnSpc>
                <a:spcPct val="150000"/>
              </a:lnSpc>
            </a:pPr>
            <a:endParaRPr lang="he-IL" sz="2600" b="1" dirty="0" smtClean="0">
              <a:solidFill>
                <a:srgbClr val="FF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he-IL" sz="2600" b="1" dirty="0" smtClean="0">
                <a:solidFill>
                  <a:srgbClr val="FF0000"/>
                </a:solidFill>
              </a:rPr>
              <a:t>התפלגות מעריכית(1/15</a:t>
            </a:r>
            <a:r>
              <a:rPr lang="en-US" sz="2600" b="1" dirty="0" smtClean="0">
                <a:solidFill>
                  <a:srgbClr val="FF0000"/>
                </a:solidFill>
              </a:rPr>
              <a:t>k=</a:t>
            </a:r>
            <a:r>
              <a:rPr lang="he-IL" sz="2600" b="1" dirty="0" smtClean="0">
                <a:solidFill>
                  <a:srgbClr val="FF0000"/>
                </a:solidFill>
              </a:rPr>
              <a:t>)</a:t>
            </a:r>
            <a:endParaRPr lang="en-US" sz="2600" b="1" dirty="0" smtClean="0">
              <a:solidFill>
                <a:srgbClr val="FF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sz="2600" dirty="0" smtClean="0">
                <a:solidFill>
                  <a:srgbClr val="FF0000"/>
                </a:solidFill>
              </a:rPr>
              <a:t> X</a:t>
            </a:r>
            <a:r>
              <a:rPr lang="he-IL" sz="2600" dirty="0" smtClean="0">
                <a:solidFill>
                  <a:srgbClr val="FF0000"/>
                </a:solidFill>
              </a:rPr>
              <a:t>- משך הזמן עד להמראת מטוס</a:t>
            </a:r>
            <a:endParaRPr lang="he-IL" sz="2600" u="sng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5475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44624"/>
            <a:ext cx="8892480" cy="489364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lnSpc>
                <a:spcPct val="150000"/>
              </a:lnSpc>
            </a:pPr>
            <a:r>
              <a:rPr lang="he-IL" sz="2600" b="1" u="sng" dirty="0" smtClean="0"/>
              <a:t>שאלה 4</a:t>
            </a:r>
          </a:p>
          <a:p>
            <a:pPr>
              <a:lnSpc>
                <a:spcPct val="150000"/>
              </a:lnSpc>
            </a:pPr>
            <a:r>
              <a:rPr lang="he-IL" sz="2600" dirty="0"/>
              <a:t>בכיתה ארבעים </a:t>
            </a:r>
            <a:r>
              <a:rPr lang="he-IL" sz="2600" dirty="0" smtClean="0"/>
              <a:t>תלמידים: 13 בנים ו-27 בנות. </a:t>
            </a:r>
            <a:r>
              <a:rPr lang="he-IL" sz="2600" dirty="0"/>
              <a:t>ועד של 4 תלמידים נבחר באופן מקרי מתוך </a:t>
            </a:r>
            <a:r>
              <a:rPr lang="he-IL" sz="2600" dirty="0" smtClean="0"/>
              <a:t>תלמידי </a:t>
            </a:r>
            <a:r>
              <a:rPr lang="he-IL" sz="2600" dirty="0"/>
              <a:t>הכיתה</a:t>
            </a:r>
            <a:r>
              <a:rPr lang="he-IL" sz="2600" dirty="0" smtClean="0"/>
              <a:t>. חשבו </a:t>
            </a:r>
            <a:r>
              <a:rPr lang="he-IL" sz="2600" dirty="0"/>
              <a:t>את ההסתברויות הבאות</a:t>
            </a:r>
            <a:r>
              <a:rPr lang="he-IL" sz="2600" dirty="0" smtClean="0"/>
              <a:t>:</a:t>
            </a:r>
          </a:p>
          <a:p>
            <a:pPr>
              <a:lnSpc>
                <a:spcPct val="150000"/>
              </a:lnSpc>
            </a:pPr>
            <a:endParaRPr lang="en-GB" sz="2600" dirty="0"/>
          </a:p>
          <a:p>
            <a:pPr>
              <a:lnSpc>
                <a:spcPct val="150000"/>
              </a:lnSpc>
            </a:pPr>
            <a:r>
              <a:rPr lang="he-IL" sz="2600" dirty="0"/>
              <a:t>       </a:t>
            </a:r>
            <a:r>
              <a:rPr lang="he-IL" sz="2600" dirty="0" smtClean="0"/>
              <a:t>א.    בוועד יש רק בנות</a:t>
            </a:r>
            <a:endParaRPr lang="en-GB" sz="2600" dirty="0"/>
          </a:p>
          <a:p>
            <a:pPr>
              <a:lnSpc>
                <a:spcPct val="150000"/>
              </a:lnSpc>
            </a:pPr>
            <a:r>
              <a:rPr lang="he-IL" sz="2600" dirty="0" smtClean="0"/>
              <a:t>       ב.  בוועד יותר בנות מבנים</a:t>
            </a:r>
            <a:endParaRPr lang="en-GB" sz="2600" dirty="0" smtClean="0"/>
          </a:p>
          <a:p>
            <a:pPr>
              <a:lnSpc>
                <a:spcPct val="150000"/>
              </a:lnSpc>
            </a:pPr>
            <a:endParaRPr lang="he-IL" sz="2600" b="1" u="sng" dirty="0" smtClean="0"/>
          </a:p>
        </p:txBody>
      </p:sp>
    </p:spTree>
    <p:extLst>
      <p:ext uri="{BB962C8B-B14F-4D97-AF65-F5344CB8AC3E}">
        <p14:creationId xmlns:p14="http://schemas.microsoft.com/office/powerpoint/2010/main" val="3318228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44624"/>
            <a:ext cx="8892480" cy="517064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lnSpc>
                <a:spcPct val="150000"/>
              </a:lnSpc>
            </a:pPr>
            <a:r>
              <a:rPr lang="he-IL" sz="2600" b="1" u="sng" dirty="0" smtClean="0"/>
              <a:t>שאלה 5</a:t>
            </a:r>
          </a:p>
          <a:p>
            <a:pPr lvl="0">
              <a:lnSpc>
                <a:spcPct val="150000"/>
              </a:lnSpc>
            </a:pPr>
            <a:r>
              <a:rPr lang="he-IL" sz="2800" dirty="0"/>
              <a:t>ראובן מציע לשמעון את המשחק הבא. תטיל קובייה פעם אחת. אם התוצאה </a:t>
            </a:r>
            <a:r>
              <a:rPr lang="en-US" sz="2800" dirty="0"/>
              <a:t>n</a:t>
            </a:r>
            <a:r>
              <a:rPr lang="he-IL" sz="2800" dirty="0"/>
              <a:t> היא מספר  זוגי  אני אשלם לך  </a:t>
            </a:r>
            <a:r>
              <a:rPr lang="en-US" sz="2800" dirty="0"/>
              <a:t>4n</a:t>
            </a:r>
            <a:r>
              <a:rPr lang="he-IL" sz="2800" dirty="0"/>
              <a:t> ₪.  אם התוצאה היא מספר אי זוגי אז אתה תשלם לי  </a:t>
            </a:r>
            <a:r>
              <a:rPr lang="en-US" sz="2800" dirty="0"/>
              <a:t>5n</a:t>
            </a:r>
            <a:r>
              <a:rPr lang="he-IL" sz="2800" dirty="0"/>
              <a:t>  ₪ . האם כדאי לשמעון  לשחק במשחק זה?</a:t>
            </a:r>
            <a:br>
              <a:rPr lang="he-IL" sz="2800" dirty="0"/>
            </a:br>
            <a:r>
              <a:rPr lang="he-IL" sz="2800" dirty="0"/>
              <a:t> </a:t>
            </a:r>
            <a:endParaRPr lang="en-GB" sz="2800" dirty="0"/>
          </a:p>
          <a:p>
            <a:pPr>
              <a:lnSpc>
                <a:spcPct val="150000"/>
              </a:lnSpc>
            </a:pPr>
            <a:endParaRPr lang="he-IL" sz="2600" b="1" u="sng" dirty="0" smtClean="0"/>
          </a:p>
        </p:txBody>
      </p:sp>
    </p:spTree>
    <p:extLst>
      <p:ext uri="{BB962C8B-B14F-4D97-AF65-F5344CB8AC3E}">
        <p14:creationId xmlns:p14="http://schemas.microsoft.com/office/powerpoint/2010/main" val="3676626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44624"/>
            <a:ext cx="8892480" cy="452431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lnSpc>
                <a:spcPct val="150000"/>
              </a:lnSpc>
            </a:pPr>
            <a:r>
              <a:rPr lang="he-IL" sz="2600" b="1" u="sng" dirty="0" smtClean="0"/>
              <a:t>שאלה 6</a:t>
            </a:r>
          </a:p>
          <a:p>
            <a:pPr>
              <a:lnSpc>
                <a:spcPct val="150000"/>
              </a:lnSpc>
            </a:pPr>
            <a:r>
              <a:rPr lang="he-IL" sz="2800" dirty="0"/>
              <a:t>מטילים קובייה הוגנת 6 </a:t>
            </a:r>
            <a:r>
              <a:rPr lang="he-IL" sz="2800" dirty="0" smtClean="0"/>
              <a:t>פעמים. </a:t>
            </a:r>
            <a:r>
              <a:rPr lang="he-IL" sz="2800" dirty="0"/>
              <a:t>מה ההסתברות שהמספר 3 יתקבל פעמיים?</a:t>
            </a:r>
            <a:br>
              <a:rPr lang="he-IL" sz="2800" dirty="0"/>
            </a:br>
            <a:r>
              <a:rPr lang="he-IL" sz="2800" dirty="0" smtClean="0"/>
              <a:t>מהו </a:t>
            </a:r>
            <a:r>
              <a:rPr lang="he-IL" sz="2800" dirty="0"/>
              <a:t>המשתנה המקרי? כיצד הוא מתפלג? מה התוחלת והשונות של התפלגות זו?</a:t>
            </a:r>
            <a:endParaRPr lang="en-GB" sz="2800" dirty="0"/>
          </a:p>
          <a:p>
            <a:pPr lvl="0">
              <a:lnSpc>
                <a:spcPct val="150000"/>
              </a:lnSpc>
            </a:pPr>
            <a:r>
              <a:rPr lang="he-IL" sz="2800" dirty="0" smtClean="0"/>
              <a:t> </a:t>
            </a:r>
            <a:endParaRPr lang="en-GB" sz="2800" dirty="0"/>
          </a:p>
          <a:p>
            <a:pPr>
              <a:lnSpc>
                <a:spcPct val="150000"/>
              </a:lnSpc>
            </a:pPr>
            <a:endParaRPr lang="he-IL" sz="2600" b="1" u="sng" dirty="0" smtClean="0"/>
          </a:p>
        </p:txBody>
      </p:sp>
    </p:spTree>
    <p:extLst>
      <p:ext uri="{BB962C8B-B14F-4D97-AF65-F5344CB8AC3E}">
        <p14:creationId xmlns:p14="http://schemas.microsoft.com/office/powerpoint/2010/main" val="3641097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44624"/>
            <a:ext cx="8892480" cy="646330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lnSpc>
                <a:spcPct val="150000"/>
              </a:lnSpc>
            </a:pPr>
            <a:r>
              <a:rPr lang="he-IL" sz="2600" b="1" u="sng" dirty="0" smtClean="0"/>
              <a:t>שאלה </a:t>
            </a:r>
            <a:r>
              <a:rPr lang="en-US" sz="2600" b="1" u="sng" dirty="0" smtClean="0"/>
              <a:t>7</a:t>
            </a:r>
            <a:endParaRPr lang="he-IL" sz="2600" b="1" u="sng" dirty="0" smtClean="0"/>
          </a:p>
          <a:p>
            <a:pPr>
              <a:lnSpc>
                <a:spcPct val="150000"/>
              </a:lnSpc>
            </a:pPr>
            <a:r>
              <a:rPr lang="he-IL" sz="2800" dirty="0"/>
              <a:t>בכד 10 כדורים מהם 2 כחולים והשאר אדומים. שולפים מהכד כדור אחד ומחזירים אותו חזרה </a:t>
            </a:r>
            <a:r>
              <a:rPr lang="he-IL" sz="2800" dirty="0" smtClean="0"/>
              <a:t>עד </a:t>
            </a:r>
            <a:r>
              <a:rPr lang="he-IL" sz="2800" dirty="0"/>
              <a:t>שמצליחים להוציא כדור כחול. חשב את ההסתברויות הבאות:</a:t>
            </a:r>
          </a:p>
          <a:p>
            <a:pPr>
              <a:lnSpc>
                <a:spcPct val="150000"/>
              </a:lnSpc>
            </a:pPr>
            <a:r>
              <a:rPr lang="he-IL" sz="2800" dirty="0" smtClean="0"/>
              <a:t>א</a:t>
            </a:r>
            <a:r>
              <a:rPr lang="he-IL" sz="2800" dirty="0"/>
              <a:t>.  </a:t>
            </a:r>
            <a:r>
              <a:rPr lang="he-IL" sz="2800" dirty="0" smtClean="0"/>
              <a:t>שהוצאו </a:t>
            </a:r>
            <a:r>
              <a:rPr lang="he-IL" sz="2800" dirty="0"/>
              <a:t>בדיוק 4 </a:t>
            </a:r>
            <a:r>
              <a:rPr lang="he-IL" sz="2800" dirty="0" smtClean="0"/>
              <a:t>כדורים</a:t>
            </a:r>
          </a:p>
          <a:p>
            <a:pPr>
              <a:lnSpc>
                <a:spcPct val="150000"/>
              </a:lnSpc>
            </a:pPr>
            <a:r>
              <a:rPr lang="he-IL" sz="2800" dirty="0" smtClean="0"/>
              <a:t>ב.  שהוצאו לפחות 2 כדורים</a:t>
            </a:r>
          </a:p>
          <a:p>
            <a:pPr>
              <a:lnSpc>
                <a:spcPct val="150000"/>
              </a:lnSpc>
            </a:pPr>
            <a:r>
              <a:rPr lang="he-IL" sz="2800" dirty="0" smtClean="0"/>
              <a:t>ג.   שהוצאו </a:t>
            </a:r>
            <a:r>
              <a:rPr lang="he-IL" sz="2800" dirty="0"/>
              <a:t>לכל היותר </a:t>
            </a:r>
            <a:r>
              <a:rPr lang="he-IL" sz="2800" dirty="0" smtClean="0"/>
              <a:t>3 כדורים</a:t>
            </a:r>
          </a:p>
          <a:p>
            <a:pPr>
              <a:lnSpc>
                <a:spcPct val="150000"/>
              </a:lnSpc>
            </a:pPr>
            <a:r>
              <a:rPr lang="he-IL" sz="2800" dirty="0" smtClean="0"/>
              <a:t>ד. מה התוחלת והשונות של מס' השליפות עד להוצאת כחול?</a:t>
            </a:r>
            <a:r>
              <a:rPr lang="he-IL" sz="2800" dirty="0"/>
              <a:t/>
            </a:r>
            <a:br>
              <a:rPr lang="he-IL" sz="2800" dirty="0"/>
            </a:br>
            <a:endParaRPr lang="he-IL" sz="2600" b="1" u="sng" dirty="0" smtClean="0"/>
          </a:p>
        </p:txBody>
      </p:sp>
    </p:spTree>
    <p:extLst>
      <p:ext uri="{BB962C8B-B14F-4D97-AF65-F5344CB8AC3E}">
        <p14:creationId xmlns:p14="http://schemas.microsoft.com/office/powerpoint/2010/main" val="3469854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44624"/>
            <a:ext cx="8892480" cy="521681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lnSpc>
                <a:spcPct val="150000"/>
              </a:lnSpc>
            </a:pPr>
            <a:r>
              <a:rPr lang="he-IL" sz="2600" b="1" u="sng" dirty="0" smtClean="0"/>
              <a:t>שאלה 8</a:t>
            </a:r>
          </a:p>
          <a:p>
            <a:pPr>
              <a:lnSpc>
                <a:spcPct val="150000"/>
              </a:lnSpc>
            </a:pPr>
            <a:r>
              <a:rPr lang="he-IL" sz="2800" dirty="0" smtClean="0"/>
              <a:t>הזמן </a:t>
            </a:r>
            <a:r>
              <a:rPr lang="he-IL" sz="2800" dirty="0"/>
              <a:t>שעובר בכביש מסוים עד להתרחשות תאונה מתפלג מעריכית עם תוחלת של 24 שעות</a:t>
            </a:r>
            <a:r>
              <a:rPr lang="he-IL" sz="2800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he-IL" sz="2800" dirty="0" smtClean="0"/>
              <a:t>א</a:t>
            </a:r>
            <a:r>
              <a:rPr lang="he-IL" sz="2800" dirty="0"/>
              <a:t>. מהי סטית התקן של הזמן עד להתרחשות תאונה? </a:t>
            </a:r>
            <a:endParaRPr lang="he-IL" sz="2800" dirty="0" smtClean="0"/>
          </a:p>
          <a:p>
            <a:pPr>
              <a:lnSpc>
                <a:spcPct val="150000"/>
              </a:lnSpc>
            </a:pPr>
            <a:r>
              <a:rPr lang="he-IL" sz="2800" dirty="0" smtClean="0"/>
              <a:t>ב</a:t>
            </a:r>
            <a:r>
              <a:rPr lang="he-IL" sz="2800" dirty="0"/>
              <a:t>. מה ההסתברות שהתאונה הבאה תתרחש תוך פחות מיממה</a:t>
            </a:r>
            <a:r>
              <a:rPr lang="he-IL" sz="2800" dirty="0" smtClean="0"/>
              <a:t>?</a:t>
            </a:r>
          </a:p>
          <a:p>
            <a:pPr>
              <a:lnSpc>
                <a:spcPct val="150000"/>
              </a:lnSpc>
            </a:pPr>
            <a:r>
              <a:rPr lang="he-IL" sz="2800" dirty="0" smtClean="0"/>
              <a:t> </a:t>
            </a:r>
            <a:r>
              <a:rPr lang="he-IL" sz="2800" dirty="0"/>
              <a:t>ג. מהי ההסתברות שהתאונה הבאה תתרחש תוך לפחות יומיים? </a:t>
            </a:r>
            <a:endParaRPr lang="he-IL" sz="2600" b="1" u="sng" dirty="0" smtClean="0"/>
          </a:p>
        </p:txBody>
      </p:sp>
    </p:spTree>
    <p:extLst>
      <p:ext uri="{BB962C8B-B14F-4D97-AF65-F5344CB8AC3E}">
        <p14:creationId xmlns:p14="http://schemas.microsoft.com/office/powerpoint/2010/main" val="886294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44624"/>
            <a:ext cx="8892480" cy="586314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lnSpc>
                <a:spcPct val="150000"/>
              </a:lnSpc>
            </a:pPr>
            <a:r>
              <a:rPr lang="he-IL" sz="2600" b="1" u="sng" dirty="0" smtClean="0"/>
              <a:t>שאלה 9</a:t>
            </a:r>
          </a:p>
          <a:p>
            <a:pPr>
              <a:lnSpc>
                <a:spcPct val="150000"/>
              </a:lnSpc>
            </a:pPr>
            <a:r>
              <a:rPr lang="he-IL" sz="2800" dirty="0"/>
              <a:t>מחקרי חברת ביטוח מורים כי בשנה אחת 0.08% מהאוכלוסייה נפגעים בתאונות דרכים. 6000 איש </a:t>
            </a:r>
            <a:br>
              <a:rPr lang="he-IL" sz="2800" dirty="0"/>
            </a:br>
            <a:r>
              <a:rPr lang="he-IL" sz="2800" dirty="0" smtClean="0"/>
              <a:t>מבוטחים </a:t>
            </a:r>
            <a:r>
              <a:rPr lang="he-IL" sz="2800" dirty="0"/>
              <a:t>נגד תאונות דרכים בחברת ביטוח זו. מה ההסתברות שהחברה תקבל בשנה מסוימת</a:t>
            </a:r>
            <a:endParaRPr lang="en-GB" sz="2800" dirty="0"/>
          </a:p>
          <a:p>
            <a:pPr>
              <a:lnSpc>
                <a:spcPct val="150000"/>
              </a:lnSpc>
            </a:pPr>
            <a:r>
              <a:rPr lang="he-IL" sz="2800" dirty="0" smtClean="0"/>
              <a:t>א</a:t>
            </a:r>
            <a:r>
              <a:rPr lang="he-IL" sz="2800" dirty="0"/>
              <a:t>.    לפחות תביעה אחת.</a:t>
            </a:r>
            <a:endParaRPr lang="en-GB" sz="2800" dirty="0"/>
          </a:p>
          <a:p>
            <a:pPr>
              <a:lnSpc>
                <a:spcPct val="150000"/>
              </a:lnSpc>
            </a:pPr>
            <a:r>
              <a:rPr lang="he-IL" sz="2800" dirty="0" smtClean="0"/>
              <a:t>ב.    </a:t>
            </a:r>
            <a:r>
              <a:rPr lang="he-IL" sz="2800" dirty="0"/>
              <a:t>בין 2 ל-4 תביעות (כולל</a:t>
            </a:r>
            <a:r>
              <a:rPr lang="he-IL" sz="2800" dirty="0" smtClean="0"/>
              <a:t>)</a:t>
            </a:r>
            <a:endParaRPr lang="he-IL" sz="2800" dirty="0"/>
          </a:p>
          <a:p>
            <a:pPr>
              <a:lnSpc>
                <a:spcPct val="150000"/>
              </a:lnSpc>
            </a:pPr>
            <a:r>
              <a:rPr lang="he-IL" sz="2800" dirty="0" smtClean="0"/>
              <a:t>ג.     מהי התוחלת של מס' התביעות בשנה?</a:t>
            </a:r>
            <a:r>
              <a:rPr lang="he-IL" sz="2800" dirty="0"/>
              <a:t/>
            </a:r>
            <a:br>
              <a:rPr lang="he-IL" sz="2800" dirty="0"/>
            </a:b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387876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44624"/>
            <a:ext cx="8892480" cy="650947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lnSpc>
                <a:spcPct val="150000"/>
              </a:lnSpc>
            </a:pPr>
            <a:r>
              <a:rPr lang="he-IL" sz="2600" b="1" u="sng" dirty="0" smtClean="0"/>
              <a:t>שאלה 10</a:t>
            </a:r>
          </a:p>
          <a:p>
            <a:pPr>
              <a:lnSpc>
                <a:spcPct val="150000"/>
              </a:lnSpc>
            </a:pPr>
            <a:r>
              <a:rPr lang="he-IL" sz="2800" dirty="0"/>
              <a:t>הדרישה השבועית למוצר מסוים בסופרמרקט מתפלג נורמלית עם תוחלת 100 וסטיית תקן 20.  </a:t>
            </a:r>
            <a:endParaRPr lang="he-IL" sz="2800" dirty="0" smtClean="0"/>
          </a:p>
          <a:p>
            <a:pPr>
              <a:lnSpc>
                <a:spcPct val="150000"/>
              </a:lnSpc>
            </a:pPr>
            <a:r>
              <a:rPr lang="he-IL" sz="2800" dirty="0" smtClean="0"/>
              <a:t>בעל הסופרמקט הזמין </a:t>
            </a:r>
            <a:r>
              <a:rPr lang="he-IL" sz="2800" dirty="0"/>
              <a:t>בשבוע </a:t>
            </a:r>
            <a:r>
              <a:rPr lang="he-IL" sz="2800" dirty="0" smtClean="0"/>
              <a:t>מסויים 90 יחידות מהמוצר. מהי ההסתברות ש:</a:t>
            </a:r>
          </a:p>
          <a:p>
            <a:pPr>
              <a:lnSpc>
                <a:spcPct val="150000"/>
              </a:lnSpc>
            </a:pPr>
            <a:r>
              <a:rPr lang="he-IL" sz="2800" dirty="0" smtClean="0"/>
              <a:t>א. יהיו מספיק יחידות עבור כל הלקוחות המעוניינים ברכישה?</a:t>
            </a:r>
          </a:p>
          <a:p>
            <a:pPr>
              <a:lnSpc>
                <a:spcPct val="150000"/>
              </a:lnSpc>
            </a:pPr>
            <a:r>
              <a:rPr lang="he-IL" sz="2800" dirty="0" smtClean="0"/>
              <a:t>ב. יהיה חוסר של 30 יחידות או יותר?</a:t>
            </a:r>
          </a:p>
          <a:p>
            <a:pPr>
              <a:lnSpc>
                <a:spcPct val="150000"/>
              </a:lnSpc>
            </a:pPr>
            <a:endParaRPr lang="he-IL" sz="2800" dirty="0" smtClean="0"/>
          </a:p>
          <a:p>
            <a:pPr>
              <a:lnSpc>
                <a:spcPct val="150000"/>
              </a:lnSpc>
            </a:pPr>
            <a:endParaRPr lang="he-IL" sz="2800" dirty="0"/>
          </a:p>
        </p:txBody>
      </p:sp>
    </p:spTree>
    <p:extLst>
      <p:ext uri="{BB962C8B-B14F-4D97-AF65-F5344CB8AC3E}">
        <p14:creationId xmlns:p14="http://schemas.microsoft.com/office/powerpoint/2010/main" val="3980891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התאמה אישית 1">
      <a:majorFont>
        <a:latin typeface="Tahoma"/>
        <a:ea typeface=""/>
        <a:cs typeface="Tahoma"/>
      </a:majorFont>
      <a:minorFont>
        <a:latin typeface="Tahoma"/>
        <a:ea typeface=""/>
        <a:cs typeface="Taho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ערכת נושא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התאמה אישית 1">
      <a:majorFont>
        <a:latin typeface="Tahoma"/>
        <a:ea typeface=""/>
        <a:cs typeface="Tahoma"/>
      </a:majorFont>
      <a:minorFont>
        <a:latin typeface="Tahoma"/>
        <a:ea typeface=""/>
        <a:cs typeface="Taho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927</TotalTime>
  <Words>766</Words>
  <Application>Microsoft Office PowerPoint</Application>
  <PresentationFormat>On-screen Show (4:3)</PresentationFormat>
  <Paragraphs>112</Paragraphs>
  <Slides>14</Slides>
  <Notes>8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Calibri</vt:lpstr>
      <vt:lpstr>Symbol</vt:lpstr>
      <vt:lpstr>Tahoma</vt:lpstr>
      <vt:lpstr>Times New Roman</vt:lpstr>
      <vt:lpstr>ערכת נושא Office</vt:lpstr>
      <vt:lpstr>1_ערכת נושא Office</vt:lpstr>
      <vt:lpstr>Equation</vt:lpstr>
      <vt:lpstr>מבוא לסטטיסטיקה והסתברות</vt:lpstr>
      <vt:lpstr>סוגי התפלגויות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Your Company Name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סטטיסטיקה ב' - תרגיל</dc:title>
  <dc:creator>Yaara</dc:creator>
  <cp:lastModifiedBy>yaara s</cp:lastModifiedBy>
  <cp:revision>76</cp:revision>
  <dcterms:created xsi:type="dcterms:W3CDTF">2011-10-31T22:07:50Z</dcterms:created>
  <dcterms:modified xsi:type="dcterms:W3CDTF">2015-08-06T22:03:12Z</dcterms:modified>
</cp:coreProperties>
</file>