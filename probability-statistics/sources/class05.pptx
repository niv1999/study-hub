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sldIdLst>
    <p:sldId id="256" r:id="rId4"/>
    <p:sldId id="367" r:id="rId5"/>
    <p:sldId id="368" r:id="rId6"/>
    <p:sldId id="408" r:id="rId7"/>
    <p:sldId id="370" r:id="rId8"/>
    <p:sldId id="402" r:id="rId9"/>
    <p:sldId id="374" r:id="rId10"/>
    <p:sldId id="403" r:id="rId11"/>
    <p:sldId id="377" r:id="rId12"/>
    <p:sldId id="378" r:id="rId13"/>
    <p:sldId id="405" r:id="rId14"/>
    <p:sldId id="406" r:id="rId15"/>
    <p:sldId id="379" r:id="rId16"/>
    <p:sldId id="380" r:id="rId17"/>
    <p:sldId id="381" r:id="rId18"/>
    <p:sldId id="382" r:id="rId19"/>
    <p:sldId id="384" r:id="rId20"/>
    <p:sldId id="390" r:id="rId21"/>
    <p:sldId id="407" r:id="rId2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Yaara" initials="Y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ללא סגנון, רשת טבלה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סגנון בהיר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4B1156A-380E-4F78-BDF5-A606A8083BF9}" styleName="סגנון ביניים 4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סגנון ערכת נושא 1 - הדגשה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768" autoAdjust="0"/>
    <p:restoredTop sz="91086" autoAdjust="0"/>
  </p:normalViewPr>
  <p:slideViewPr>
    <p:cSldViewPr>
      <p:cViewPr varScale="1">
        <p:scale>
          <a:sx n="82" d="100"/>
          <a:sy n="82" d="100"/>
        </p:scale>
        <p:origin x="1210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קורס א</c:v>
          </c:tx>
          <c:spPr>
            <a:solidFill>
              <a:schemeClr val="accent1"/>
            </a:solidFill>
            <a:ln w="19050">
              <a:noFill/>
            </a:ln>
            <a:effectLst/>
          </c:spPr>
          <c:invertIfNegative val="0"/>
          <c:cat>
            <c:numRef>
              <c:f>Sheet1!$A$1:$D$1</c:f>
              <c:numCache>
                <c:formatCode>General</c:formatCode>
                <c:ptCount val="4"/>
                <c:pt idx="0">
                  <c:v>65</c:v>
                </c:pt>
                <c:pt idx="1">
                  <c:v>75</c:v>
                </c:pt>
                <c:pt idx="2">
                  <c:v>85</c:v>
                </c:pt>
                <c:pt idx="3">
                  <c:v>95</c:v>
                </c:pt>
              </c:numCache>
            </c:numRef>
          </c:cat>
          <c:val>
            <c:numRef>
              <c:f>Sheet1!$A$2:$D$2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0.15</c:v>
                </c:pt>
                <c:pt idx="3">
                  <c:v>0.15</c:v>
                </c:pt>
              </c:numCache>
            </c:numRef>
          </c:val>
        </c:ser>
        <c:ser>
          <c:idx val="1"/>
          <c:order val="1"/>
          <c:tx>
            <c:v>קורס ב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Sheet1!$A$1:$D$1</c:f>
              <c:numCache>
                <c:formatCode>General</c:formatCode>
                <c:ptCount val="4"/>
                <c:pt idx="0">
                  <c:v>65</c:v>
                </c:pt>
                <c:pt idx="1">
                  <c:v>75</c:v>
                </c:pt>
                <c:pt idx="2">
                  <c:v>85</c:v>
                </c:pt>
                <c:pt idx="3">
                  <c:v>95</c:v>
                </c:pt>
              </c:numCache>
            </c:numRef>
          </c:cat>
          <c:val>
            <c:numRef>
              <c:f>Sheet1!$A$3:$D$3</c:f>
              <c:numCache>
                <c:formatCode>General</c:formatCode>
                <c:ptCount val="4"/>
                <c:pt idx="0">
                  <c:v>0.3</c:v>
                </c:pt>
                <c:pt idx="1">
                  <c:v>0.5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0968696"/>
        <c:axId val="230973792"/>
      </c:barChart>
      <c:catAx>
        <c:axId val="230968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0973792"/>
        <c:crosses val="autoZero"/>
        <c:auto val="1"/>
        <c:lblAlgn val="ctr"/>
        <c:lblOffset val="100"/>
        <c:noMultiLvlLbl val="0"/>
      </c:catAx>
      <c:valAx>
        <c:axId val="230973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0968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2143749392437058"/>
          <c:y val="2.8845286409796347E-2"/>
          <c:w val="6.9303246816370179E-2"/>
          <c:h val="8.36507999214612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4.wmf"/><Relationship Id="rId4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18.jpe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EBD65CB-48E8-480E-A0E5-0F4F671C7C4B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5763812F-8A06-48A8-8436-7483109B6D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03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303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3 ניסיונות </a:t>
            </a:r>
            <a:r>
              <a:rPr lang="he-IL" dirty="0" err="1" smtClean="0"/>
              <a:t>ברנולי</a:t>
            </a:r>
            <a:r>
              <a:rPr lang="he-IL" baseline="0" dirty="0" smtClean="0"/>
              <a:t> </a:t>
            </a:r>
            <a:r>
              <a:rPr lang="he-IL" baseline="0" dirty="0" err="1" smtClean="0"/>
              <a:t>ב"ת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876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3 ניסיונות </a:t>
            </a:r>
            <a:r>
              <a:rPr lang="he-IL" dirty="0" err="1" smtClean="0"/>
              <a:t>ברנולי</a:t>
            </a:r>
            <a:r>
              <a:rPr lang="he-IL" baseline="0" dirty="0" smtClean="0"/>
              <a:t> </a:t>
            </a:r>
            <a:r>
              <a:rPr lang="he-IL" baseline="0" dirty="0" err="1" smtClean="0"/>
              <a:t>ב"ת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28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he-IL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משתנה מקרי המונה את מס' הניסיונות עד (וכולל) הצלחה ראשונה – התפלגות גיאומטרית.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284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7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3</a:t>
            </a: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96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3812F-8A06-48A8-8436-7483109B6D13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679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901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994122"/>
          </a:xfrm>
        </p:spPr>
        <p:txBody>
          <a:bodyPr anchor="t">
            <a:normAutofit/>
          </a:bodyPr>
          <a:lstStyle>
            <a:lvl1pPr algn="r">
              <a:defRPr sz="2800" b="1" u="sng"/>
            </a:lvl1pPr>
          </a:lstStyle>
          <a:p>
            <a:r>
              <a:rPr lang="he-IL" dirty="0" smtClean="0"/>
              <a:t>לחץ כדי לערוך סגנון כותרת של תבנית בסיס</a:t>
            </a:r>
            <a:br>
              <a:rPr lang="he-IL" dirty="0" smtClean="0"/>
            </a:br>
            <a:endParaRPr lang="en-US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087591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600"/>
            </a:lvl1pPr>
            <a:lvl2pPr>
              <a:lnSpc>
                <a:spcPct val="150000"/>
              </a:lnSpc>
              <a:defRPr sz="2600"/>
            </a:lvl2pPr>
            <a:lvl3pPr>
              <a:lnSpc>
                <a:spcPct val="150000"/>
              </a:lnSpc>
              <a:defRPr sz="2600"/>
            </a:lvl3pPr>
            <a:lvl4pPr>
              <a:lnSpc>
                <a:spcPct val="150000"/>
              </a:lnSpc>
              <a:defRPr sz="2600"/>
            </a:lvl4pPr>
            <a:lvl5pPr>
              <a:lnSpc>
                <a:spcPct val="150000"/>
              </a:lnSpc>
              <a:defRPr sz="2600"/>
            </a:lvl5pPr>
          </a:lstStyle>
          <a:p>
            <a:pPr lvl="0"/>
            <a:r>
              <a:rPr lang="he-IL" dirty="0" smtClean="0"/>
              <a:t>לחץ כדי לערוך סגנונות טקסט של תבנית בסיס</a:t>
            </a:r>
          </a:p>
          <a:p>
            <a:pPr lvl="1"/>
            <a:r>
              <a:rPr lang="he-IL" dirty="0" smtClean="0"/>
              <a:t>רמה שנייה</a:t>
            </a:r>
          </a:p>
          <a:p>
            <a:pPr lvl="2"/>
            <a:r>
              <a:rPr lang="he-IL" dirty="0" smtClean="0"/>
              <a:t>רמה שלישית</a:t>
            </a:r>
          </a:p>
          <a:p>
            <a:pPr lvl="3"/>
            <a:r>
              <a:rPr lang="he-IL" dirty="0" smtClean="0"/>
              <a:t>רמה רביעית</a:t>
            </a:r>
          </a:p>
          <a:p>
            <a:pPr lvl="4"/>
            <a:r>
              <a:rPr lang="he-IL" dirty="0" smtClean="0"/>
              <a:t>רמה חמישית</a:t>
            </a:r>
            <a:endParaRPr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911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208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067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6300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90666"/>
          </a:xfrm>
        </p:spPr>
        <p:txBody>
          <a:bodyPr anchor="t">
            <a:normAutofit/>
          </a:bodyPr>
          <a:lstStyle>
            <a:lvl1pPr algn="r">
              <a:defRPr sz="2800" b="1"/>
            </a:lvl1pPr>
          </a:lstStyle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136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891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133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0300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4443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029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6090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328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8529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540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6521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4591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399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6944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2410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6879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773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/>
              <a:pPr/>
              <a:t>11/21/2015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64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37C78-363E-4A5D-BEBD-B88A33B7E22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11/21/2015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051C5-77F0-490C-8AFB-03AE9C3F43D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2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6.wmf"/><Relationship Id="rId3" Type="http://schemas.openxmlformats.org/officeDocument/2006/relationships/image" Target="../media/image18.jpeg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20.png"/><Relationship Id="rId38" Type="http://schemas.openxmlformats.org/officeDocument/2006/relationships/oleObject" Target="../embeddings/oleObject18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29" Type="http://schemas.openxmlformats.org/officeDocument/2006/relationships/oleObject" Target="../embeddings/oleObject14.bin"/><Relationship Id="rId41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image" Target="../media/image19.png"/><Relationship Id="rId37" Type="http://schemas.openxmlformats.org/officeDocument/2006/relationships/image" Target="../media/image15.wmf"/><Relationship Id="rId40" Type="http://schemas.openxmlformats.org/officeDocument/2006/relationships/oleObject" Target="../embeddings/oleObject19.bin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oleObject" Target="../embeddings/oleObject15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image" Target="../media/image13.wmf"/><Relationship Id="rId35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8.jpe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1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7.wmf"/><Relationship Id="rId4" Type="http://schemas.openxmlformats.org/officeDocument/2006/relationships/image" Target="../media/image18.jpeg"/><Relationship Id="rId9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image" Target="../media/image18.jpe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notesSlide" Target="../notesSlides/notesSlide6.xml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notesSlide" Target="../notesSlides/notesSlide7.xml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13.wmf"/><Relationship Id="rId4" Type="http://schemas.openxmlformats.org/officeDocument/2006/relationships/image" Target="../media/image18.jpeg"/><Relationship Id="rId9" Type="http://schemas.openxmlformats.org/officeDocument/2006/relationships/oleObject" Target="../embeddings/oleObject3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jpe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36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3568" y="8367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sz="5200" b="1" u="sng" dirty="0" smtClean="0">
                <a:solidFill>
                  <a:schemeClr val="accent4"/>
                </a:solidFill>
                <a:latin typeface="Tahoma" pitchFamily="34" charset="0"/>
                <a:cs typeface="Tahoma" pitchFamily="34" charset="0"/>
              </a:rPr>
              <a:t>מבוא לסטטיסטיקה והסתברות</a:t>
            </a:r>
            <a:endParaRPr lang="en-US" sz="5200" b="1" u="sng" dirty="0">
              <a:solidFill>
                <a:schemeClr val="accent4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31640" y="2900536"/>
            <a:ext cx="6400800" cy="1752600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תרגיל </a:t>
            </a:r>
            <a:r>
              <a:rPr lang="en-US" sz="3600" b="1" dirty="0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05</a:t>
            </a:r>
            <a:endParaRPr lang="en-US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11961" y="5241171"/>
            <a:ext cx="360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42</a:t>
            </a:r>
            <a:endParaRPr lang="en-GB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שאלה </a:t>
            </a:r>
            <a:r>
              <a:rPr lang="en-US" dirty="0" smtClean="0"/>
              <a:t>1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680" y="908720"/>
            <a:ext cx="8229600" cy="5087591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he-IL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סטודנט מתלבט בין שני קורסי בחירה, הוא אוסף מידע על הציונים בקורסים בשנים הקודמות ומקבל את התוצאות הבאות: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he-IL" sz="105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he-IL" dirty="0" smtClean="0">
                <a:latin typeface="Arial" panose="020B0604020202020204" pitchFamily="34" charset="0"/>
                <a:cs typeface="Arial" panose="020B0604020202020204" pitchFamily="34" charset="0"/>
              </a:rPr>
              <a:t>באיזה קורס כדאי לו לבחור אם הוא רוצה את הציון הגבוה ביותר, אבל שונא סיכונים.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he-IL" dirty="0" smtClean="0">
                <a:latin typeface="Arial" panose="020B0604020202020204" pitchFamily="34" charset="0"/>
                <a:cs typeface="Arial" panose="020B0604020202020204" pitchFamily="34" charset="0"/>
              </a:rPr>
              <a:t>האם בחירתו תשתנה אם הוא יגלה שכל הציונים בקורס ב' גבוהים ב-5 נקודות מאלה שבטבלה?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>
              <a:buNone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763688" y="2060848"/>
          <a:ext cx="6096000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90-100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80-90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70-80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60-70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0.15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0.15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0.45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הסתברות קורס א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he-IL" dirty="0" smtClean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0.3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 smtClean="0"/>
                        <a:t>הסתברות קורס ב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69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40669"/>
              </p:ext>
            </p:extLst>
          </p:nvPr>
        </p:nvGraphicFramePr>
        <p:xfrm>
          <a:off x="467544" y="620688"/>
          <a:ext cx="8229600" cy="50879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2986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208565"/>
              </p:ext>
            </p:extLst>
          </p:nvPr>
        </p:nvGraphicFramePr>
        <p:xfrm>
          <a:off x="814224" y="836712"/>
          <a:ext cx="7848872" cy="589935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אחידה בדידה 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/>
                          <a:ea typeface="Calibri"/>
                          <a:cs typeface="Tahoma"/>
                        </a:rPr>
                        <a:t>n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בינומית (</a:t>
                      </a:r>
                      <a:r>
                        <a:rPr lang="en-US" sz="1400">
                          <a:latin typeface="Tahoma"/>
                          <a:ea typeface="Calibri"/>
                          <a:cs typeface="Tahoma"/>
                        </a:rPr>
                        <a:t>n,p</a:t>
                      </a:r>
                      <a:r>
                        <a:rPr lang="he-IL" sz="140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גיאומטרית 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p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/>
                      <a:r>
                        <a:rPr lang="he-IL" sz="1400" dirty="0" smtClean="0"/>
                        <a:t>היפר-גיאומטרית </a:t>
                      </a:r>
                      <a:r>
                        <a:rPr lang="en-US" sz="1400" dirty="0" smtClean="0"/>
                        <a:t>(</a:t>
                      </a:r>
                      <a:r>
                        <a:rPr lang="en-US" sz="1400" dirty="0" err="1" smtClean="0"/>
                        <a:t>N,D,n</a:t>
                      </a:r>
                      <a:r>
                        <a:rPr lang="en-US" sz="1400" dirty="0" smtClean="0"/>
                        <a:t>)</a:t>
                      </a:r>
                      <a:endParaRPr lang="en-GB" dirty="0"/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פואסון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  <a:sym typeface="Symbol"/>
                        </a:rPr>
                        <a:t>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נורמלית</a:t>
                      </a:r>
                      <a:r>
                        <a:rPr lang="he-IL" sz="1400" baseline="0" dirty="0" smtClean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μ,</a:t>
                      </a:r>
                      <a:r>
                        <a:rPr lang="el-GR" sz="14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14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he-IL" sz="1400" kern="1200" dirty="0" smtClean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חישוב עפ"י טבלת  </a:t>
                      </a: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Z</a:t>
                      </a:r>
                      <a:r>
                        <a:rPr lang="he-IL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μ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l-GR" sz="2600" baseline="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σ</a:t>
                      </a:r>
                      <a:r>
                        <a:rPr lang="en-US" sz="2600" baseline="30000" dirty="0" smtClean="0"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he-IL" sz="26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מעריכית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(k)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pSp>
        <p:nvGrpSpPr>
          <p:cNvPr id="2" name="קבוצה 30"/>
          <p:cNvGrpSpPr/>
          <p:nvPr/>
        </p:nvGrpSpPr>
        <p:grpSpPr>
          <a:xfrm>
            <a:off x="1606312" y="1772815"/>
            <a:ext cx="4752528" cy="699086"/>
            <a:chOff x="1547664" y="1412776"/>
            <a:chExt cx="4752528" cy="699086"/>
          </a:xfrm>
        </p:grpSpPr>
        <p:graphicFrame>
          <p:nvGraphicFramePr>
            <p:cNvPr id="1048" name="Object 24"/>
            <p:cNvGraphicFramePr>
              <a:graphicFrameLocks noChangeAspect="1"/>
            </p:cNvGraphicFramePr>
            <p:nvPr/>
          </p:nvGraphicFramePr>
          <p:xfrm>
            <a:off x="5769607" y="1628800"/>
            <a:ext cx="530585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49" name="Equation" r:id="rId4" imgW="266353" imgH="177569" progId="Equation.3">
                    <p:embed/>
                  </p:oleObj>
                </mc:Choice>
                <mc:Fallback>
                  <p:oleObj name="Equation" r:id="rId4" imgW="266353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607" y="1628800"/>
                          <a:ext cx="530585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7" name="Object 23"/>
            <p:cNvGraphicFramePr>
              <a:graphicFrameLocks noChangeAspect="1"/>
            </p:cNvGraphicFramePr>
            <p:nvPr/>
          </p:nvGraphicFramePr>
          <p:xfrm>
            <a:off x="3956974" y="1412776"/>
            <a:ext cx="471010" cy="68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50" name="Equation" r:id="rId6" imgW="380835" imgH="609336" progId="Equation.3">
                    <p:embed/>
                  </p:oleObj>
                </mc:Choice>
                <mc:Fallback>
                  <p:oleObj name="Equation" r:id="rId6" imgW="380835" imgH="6093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974" y="1412776"/>
                          <a:ext cx="471010" cy="681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6" name="Object 22"/>
            <p:cNvGraphicFramePr>
              <a:graphicFrameLocks noChangeAspect="1"/>
            </p:cNvGraphicFramePr>
            <p:nvPr/>
          </p:nvGraphicFramePr>
          <p:xfrm>
            <a:off x="1547664" y="1412776"/>
            <a:ext cx="1125091" cy="699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51" name="Equation" r:id="rId8" imgW="977900" imgH="609600" progId="Equation.3">
                    <p:embed/>
                  </p:oleObj>
                </mc:Choice>
                <mc:Fallback>
                  <p:oleObj name="Equation" r:id="rId8" imgW="977900" imgH="609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1412776"/>
                          <a:ext cx="1125091" cy="6990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45" name="Object 21"/>
          <p:cNvGraphicFramePr>
            <a:graphicFrameLocks noChangeAspect="1"/>
          </p:cNvGraphicFramePr>
          <p:nvPr>
            <p:extLst/>
          </p:nvPr>
        </p:nvGraphicFramePr>
        <p:xfrm>
          <a:off x="5177199" y="2556821"/>
          <a:ext cx="1109633" cy="5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2" name="Equation" r:id="rId10" imgW="990600" imgH="457200" progId="Equation.3">
                  <p:embed/>
                </p:oleObj>
              </mc:Choice>
              <mc:Fallback>
                <p:oleObj name="Equation" r:id="rId10" imgW="990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199" y="2556821"/>
                        <a:ext cx="1109633" cy="51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" name="Object 20"/>
          <p:cNvGraphicFramePr>
            <a:graphicFrameLocks noChangeAspect="1"/>
          </p:cNvGraphicFramePr>
          <p:nvPr>
            <p:extLst/>
          </p:nvPr>
        </p:nvGraphicFramePr>
        <p:xfrm>
          <a:off x="6358840" y="5038349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3" name="Equation" r:id="rId12" imgW="660113" imgH="203112" progId="Equation.3">
                  <p:embed/>
                </p:oleObj>
              </mc:Choice>
              <mc:Fallback>
                <p:oleObj name="Equation" r:id="rId12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5038349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3" name="Object 19"/>
          <p:cNvGraphicFramePr>
            <a:graphicFrameLocks noChangeAspect="1"/>
          </p:cNvGraphicFramePr>
          <p:nvPr>
            <p:extLst/>
          </p:nvPr>
        </p:nvGraphicFramePr>
        <p:xfrm>
          <a:off x="4022958" y="2694453"/>
          <a:ext cx="463674" cy="37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4" name="Equation" r:id="rId14" imgW="203024" imgH="164957" progId="Equation.3">
                  <p:embed/>
                </p:oleObj>
              </mc:Choice>
              <mc:Fallback>
                <p:oleObj name="Equation" r:id="rId14" imgW="203024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958" y="2694453"/>
                        <a:ext cx="463674" cy="374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2" name="Object 18"/>
          <p:cNvGraphicFramePr>
            <a:graphicFrameLocks noChangeAspect="1"/>
          </p:cNvGraphicFramePr>
          <p:nvPr>
            <p:extLst/>
          </p:nvPr>
        </p:nvGraphicFramePr>
        <p:xfrm>
          <a:off x="1476713" y="2623193"/>
          <a:ext cx="1569759" cy="37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5" r:id="rId16" imgW="596641" imgH="203112" progId="">
                  <p:embed/>
                </p:oleObj>
              </mc:Choice>
              <mc:Fallback>
                <p:oleObj r:id="rId16" imgW="596641" imgH="20311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713" y="2623193"/>
                        <a:ext cx="1569759" cy="3737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1" name="Object 17"/>
          <p:cNvGraphicFramePr>
            <a:graphicFrameLocks noChangeAspect="1"/>
          </p:cNvGraphicFramePr>
          <p:nvPr>
            <p:extLst/>
          </p:nvPr>
        </p:nvGraphicFramePr>
        <p:xfrm>
          <a:off x="5134704" y="3212975"/>
          <a:ext cx="1224136" cy="40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6" name="Equation" r:id="rId18" imgW="685800" imgH="228600" progId="Equation.3">
                  <p:embed/>
                </p:oleObj>
              </mc:Choice>
              <mc:Fallback>
                <p:oleObj name="Equation" r:id="rId18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4704" y="3212975"/>
                        <a:ext cx="1224136" cy="408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0" name="Object 16"/>
          <p:cNvGraphicFramePr>
            <a:graphicFrameLocks noChangeAspect="1"/>
          </p:cNvGraphicFramePr>
          <p:nvPr>
            <p:extLst/>
          </p:nvPr>
        </p:nvGraphicFramePr>
        <p:xfrm>
          <a:off x="6358840" y="364502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7" name="Equation" r:id="rId20" imgW="660113" imgH="203112" progId="Equation.3">
                  <p:embed/>
                </p:oleObj>
              </mc:Choice>
              <mc:Fallback>
                <p:oleObj name="Equation" r:id="rId20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364502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15"/>
          <p:cNvGraphicFramePr>
            <a:graphicFrameLocks noChangeAspect="1"/>
          </p:cNvGraphicFramePr>
          <p:nvPr>
            <p:extLst/>
          </p:nvPr>
        </p:nvGraphicFramePr>
        <p:xfrm>
          <a:off x="3910568" y="3323755"/>
          <a:ext cx="720080" cy="44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8" r:id="rId22" imgW="253780" imgH="215713" progId="">
                  <p:embed/>
                </p:oleObj>
              </mc:Choice>
              <mc:Fallback>
                <p:oleObj r:id="rId22" imgW="253780" imgH="2157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568" y="3323755"/>
                        <a:ext cx="720080" cy="4431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14"/>
          <p:cNvGraphicFramePr>
            <a:graphicFrameLocks noChangeAspect="1"/>
          </p:cNvGraphicFramePr>
          <p:nvPr>
            <p:extLst/>
          </p:nvPr>
        </p:nvGraphicFramePr>
        <p:xfrm>
          <a:off x="2038360" y="3212975"/>
          <a:ext cx="629791" cy="629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59" r:id="rId24" imgW="355446" imgH="418918" progId="">
                  <p:embed/>
                </p:oleObj>
              </mc:Choice>
              <mc:Fallback>
                <p:oleObj r:id="rId24" imgW="355446" imgH="4189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8360" y="3212975"/>
                        <a:ext cx="629791" cy="6297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13"/>
          <p:cNvGraphicFramePr>
            <a:graphicFrameLocks noChangeAspect="1"/>
          </p:cNvGraphicFramePr>
          <p:nvPr>
            <p:extLst/>
          </p:nvPr>
        </p:nvGraphicFramePr>
        <p:xfrm>
          <a:off x="5206712" y="4590301"/>
          <a:ext cx="792088" cy="72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0" name="Equation" r:id="rId26" imgW="457200" imgH="419100" progId="Equation.3">
                  <p:embed/>
                </p:oleObj>
              </mc:Choice>
              <mc:Fallback>
                <p:oleObj name="Equation" r:id="rId26" imgW="45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6712" y="4590301"/>
                        <a:ext cx="792088" cy="726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/>
          <p:cNvGraphicFramePr>
            <a:graphicFrameLocks noChangeAspect="1"/>
          </p:cNvGraphicFramePr>
          <p:nvPr>
            <p:extLst/>
          </p:nvPr>
        </p:nvGraphicFramePr>
        <p:xfrm>
          <a:off x="6358840" y="2924943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1" name="Equation" r:id="rId28" imgW="660113" imgH="203112" progId="Equation.3">
                  <p:embed/>
                </p:oleObj>
              </mc:Choice>
              <mc:Fallback>
                <p:oleObj name="Equation" r:id="rId28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8840" y="2924943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10"/>
          <p:cNvGraphicFramePr>
            <a:graphicFrameLocks noChangeAspect="1"/>
          </p:cNvGraphicFramePr>
          <p:nvPr>
            <p:extLst/>
          </p:nvPr>
        </p:nvGraphicFramePr>
        <p:xfrm>
          <a:off x="1966352" y="4806326"/>
          <a:ext cx="64807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2" name="Equation" r:id="rId29" imgW="126780" imgH="164814" progId="Equation.3">
                  <p:embed/>
                </p:oleObj>
              </mc:Choice>
              <mc:Fallback>
                <p:oleObj name="Equation" r:id="rId29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352" y="4806326"/>
                        <a:ext cx="648071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9" name="Object 25"/>
          <p:cNvGraphicFramePr>
            <a:graphicFrameLocks noChangeAspect="1"/>
          </p:cNvGraphicFramePr>
          <p:nvPr>
            <p:extLst/>
          </p:nvPr>
        </p:nvGraphicFramePr>
        <p:xfrm>
          <a:off x="3982576" y="4782192"/>
          <a:ext cx="648271" cy="4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3" name="Equation" r:id="rId31" imgW="126780" imgH="164814" progId="Equation.3">
                  <p:embed/>
                </p:oleObj>
              </mc:Choice>
              <mc:Fallback>
                <p:oleObj name="Equation" r:id="rId3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576" y="4782192"/>
                        <a:ext cx="648271" cy="432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/>
          <a:lstStyle/>
          <a:p>
            <a:pPr algn="ctr"/>
            <a:r>
              <a:rPr lang="he-IL" dirty="0" smtClean="0"/>
              <a:t>סוגי התפלגויות</a:t>
            </a:r>
            <a:endParaRPr lang="en-GB" dirty="0"/>
          </a:p>
        </p:txBody>
      </p:sp>
      <p:pic>
        <p:nvPicPr>
          <p:cNvPr id="100510" name="Picture 158" descr="nD\over N"/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014" y="4021677"/>
            <a:ext cx="349498" cy="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512" name="Picture 160" descr="n(D/N)(1-D/N)(N-n)\over (N-1)"/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957" y="4003205"/>
            <a:ext cx="2209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Object 6"/>
          <p:cNvGraphicFramePr>
            <a:graphicFrameLocks noChangeAspect="1"/>
          </p:cNvGraphicFramePr>
          <p:nvPr>
            <p:extLst/>
          </p:nvPr>
        </p:nvGraphicFramePr>
        <p:xfrm>
          <a:off x="5494744" y="6060247"/>
          <a:ext cx="1029841" cy="564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4" name="Equation" r:id="rId34" imgW="888614" imgH="482391" progId="Equation.3">
                  <p:embed/>
                </p:oleObj>
              </mc:Choice>
              <mc:Fallback>
                <p:oleObj name="Equation" r:id="rId34" imgW="888614" imgH="4823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4744" y="6060247"/>
                        <a:ext cx="1029841" cy="564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5"/>
          <p:cNvGraphicFramePr>
            <a:graphicFrameLocks noChangeAspect="1"/>
          </p:cNvGraphicFramePr>
          <p:nvPr>
            <p:extLst/>
          </p:nvPr>
        </p:nvGraphicFramePr>
        <p:xfrm>
          <a:off x="4190216" y="6060247"/>
          <a:ext cx="15240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5" name="Equation" r:id="rId36" imgW="152280" imgH="393480" progId="Equation.3">
                  <p:embed/>
                </p:oleObj>
              </mc:Choice>
              <mc:Fallback>
                <p:oleObj name="Equation" r:id="rId36" imgW="152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0216" y="6060247"/>
                        <a:ext cx="152400" cy="6480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"/>
          <p:cNvGraphicFramePr>
            <a:graphicFrameLocks noChangeAspect="1"/>
          </p:cNvGraphicFramePr>
          <p:nvPr>
            <p:extLst/>
          </p:nvPr>
        </p:nvGraphicFramePr>
        <p:xfrm>
          <a:off x="1750328" y="6021288"/>
          <a:ext cx="682526" cy="615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6" name="Equation" r:id="rId38" imgW="431640" imgH="393480" progId="Equation.3">
                  <p:embed/>
                </p:oleObj>
              </mc:Choice>
              <mc:Fallback>
                <p:oleObj name="Equation" r:id="rId38" imgW="4316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328" y="6021288"/>
                        <a:ext cx="682526" cy="6150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1"/>
          <p:cNvGraphicFramePr>
            <a:graphicFrameLocks noChangeAspect="1"/>
          </p:cNvGraphicFramePr>
          <p:nvPr>
            <p:extLst/>
          </p:nvPr>
        </p:nvGraphicFramePr>
        <p:xfrm>
          <a:off x="5279662" y="3982196"/>
          <a:ext cx="1438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67" name="Equation" r:id="rId40" imgW="1282680" imgH="457200" progId="Equation.3">
                  <p:embed/>
                </p:oleObj>
              </mc:Choice>
              <mc:Fallback>
                <p:oleObj name="Equation" r:id="rId40" imgW="1282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662" y="3982196"/>
                        <a:ext cx="14382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239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0"/>
            <a:ext cx="8748464" cy="734047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2600" b="1" u="sng" dirty="0" smtClean="0">
                <a:solidFill>
                  <a:prstClr val="black"/>
                </a:solidFill>
              </a:rPr>
              <a:t>שאלה 2</a:t>
            </a:r>
          </a:p>
          <a:p>
            <a:pPr>
              <a:lnSpc>
                <a:spcPct val="150000"/>
              </a:lnSpc>
            </a:pPr>
            <a:r>
              <a:rPr lang="he-IL" sz="2400" b="1" dirty="0" smtClean="0">
                <a:solidFill>
                  <a:prstClr val="black"/>
                </a:solidFill>
              </a:rPr>
              <a:t>הבקעת שער במשחק סטנגה מקנה 2 </a:t>
            </a:r>
            <a:r>
              <a:rPr lang="he-IL" sz="2400" b="1" dirty="0" err="1" smtClean="0">
                <a:solidFill>
                  <a:prstClr val="black"/>
                </a:solidFill>
              </a:rPr>
              <a:t>נק</a:t>
            </a:r>
            <a:r>
              <a:rPr lang="he-IL" sz="2400" b="1" dirty="0" smtClean="0">
                <a:solidFill>
                  <a:prstClr val="black"/>
                </a:solidFill>
              </a:rPr>
              <a:t>', פגיעה בקורה מקנה 1 </a:t>
            </a:r>
            <a:r>
              <a:rPr lang="he-IL" sz="2400" b="1" dirty="0" err="1" smtClean="0">
                <a:solidFill>
                  <a:prstClr val="black"/>
                </a:solidFill>
              </a:rPr>
              <a:t>נק</a:t>
            </a:r>
            <a:r>
              <a:rPr lang="he-IL" sz="2400" b="1" dirty="0" smtClean="0">
                <a:solidFill>
                  <a:prstClr val="black"/>
                </a:solidFill>
              </a:rPr>
              <a:t>' ופגיעה במשקוף השער מקנה 3 </a:t>
            </a:r>
            <a:r>
              <a:rPr lang="he-IL" sz="2400" b="1" dirty="0" err="1" smtClean="0">
                <a:solidFill>
                  <a:prstClr val="black"/>
                </a:solidFill>
              </a:rPr>
              <a:t>נק</a:t>
            </a:r>
            <a:r>
              <a:rPr lang="he-IL" sz="2400" b="1" dirty="0" smtClean="0">
                <a:solidFill>
                  <a:prstClr val="black"/>
                </a:solidFill>
              </a:rPr>
              <a:t>'. פספוס אינו מקנה </a:t>
            </a:r>
            <a:r>
              <a:rPr lang="he-IL" sz="2400" b="1" dirty="0" err="1" smtClean="0">
                <a:solidFill>
                  <a:prstClr val="black"/>
                </a:solidFill>
              </a:rPr>
              <a:t>נק</a:t>
            </a:r>
            <a:r>
              <a:rPr lang="he-IL" sz="2400" b="1" dirty="0" smtClean="0">
                <a:solidFill>
                  <a:prstClr val="black"/>
                </a:solidFill>
              </a:rPr>
              <a:t>' כלל. הסיכוי לכל אחת מהאפשרויות הוא שווה. </a:t>
            </a:r>
            <a:endParaRPr lang="he-IL" sz="2400" b="1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א. דניאל בועט לשער, מהי תוחלת הנק' שהוא יצבור? מהי השונות? </a:t>
            </a: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ב. הוחלט שללא קשר לתוצאות הבעיטה </a:t>
            </a:r>
            <a:r>
              <a:rPr lang="he-IL" sz="2400" u="sng" dirty="0">
                <a:solidFill>
                  <a:prstClr val="black"/>
                </a:solidFill>
              </a:rPr>
              <a:t>יתווספו לניקוד 3 נק'</a:t>
            </a:r>
            <a:r>
              <a:rPr lang="he-IL" sz="2400" dirty="0">
                <a:solidFill>
                  <a:prstClr val="black"/>
                </a:solidFill>
              </a:rPr>
              <a:t>. כיצד יושפעו ערכי התוחלת והשונות?</a:t>
            </a: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ג. הוחלט שללא קשר לתוצאות הבעיטה הניקוד </a:t>
            </a:r>
            <a:r>
              <a:rPr lang="he-IL" sz="2400" u="sng" dirty="0">
                <a:solidFill>
                  <a:prstClr val="black"/>
                </a:solidFill>
              </a:rPr>
              <a:t>יוכפל פי 3</a:t>
            </a:r>
            <a:r>
              <a:rPr lang="he-IL" sz="2400" dirty="0">
                <a:solidFill>
                  <a:prstClr val="black"/>
                </a:solidFill>
              </a:rPr>
              <a:t>. כיצד יושפעו ערכי התוחלת והשונות?</a:t>
            </a:r>
            <a:endParaRPr lang="en-US" sz="24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prstClr val="black"/>
              </a:solidFill>
            </a:endParaRPr>
          </a:p>
          <a:p>
            <a:pPr lvl="0" algn="ctr">
              <a:lnSpc>
                <a:spcPct val="150000"/>
              </a:lnSpc>
            </a:pPr>
            <a:endParaRPr lang="he-IL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91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16632"/>
            <a:ext cx="8229600" cy="4525963"/>
          </a:xfrm>
        </p:spPr>
        <p:txBody>
          <a:bodyPr>
            <a:normAutofit/>
          </a:bodyPr>
          <a:lstStyle/>
          <a:p>
            <a:pPr marL="0" lvl="0" indent="0" algn="ctr">
              <a:lnSpc>
                <a:spcPct val="150000"/>
              </a:lnSpc>
              <a:buNone/>
            </a:pPr>
            <a:r>
              <a:rPr lang="he-IL" b="1" dirty="0"/>
              <a:t>התפלגות אחידה</a:t>
            </a:r>
            <a:r>
              <a:rPr lang="en-US" b="1" dirty="0"/>
              <a:t> </a:t>
            </a:r>
            <a:r>
              <a:rPr lang="he-IL" b="1" dirty="0"/>
              <a:t> (</a:t>
            </a:r>
            <a:r>
              <a:rPr lang="en-US" b="1" dirty="0"/>
              <a:t>n=4</a:t>
            </a:r>
            <a:r>
              <a:rPr lang="he-IL" b="1" dirty="0"/>
              <a:t>)</a:t>
            </a:r>
            <a:r>
              <a:rPr lang="en-US" b="1" dirty="0"/>
              <a:t> </a:t>
            </a:r>
            <a:endParaRPr lang="he-IL" b="1" dirty="0"/>
          </a:p>
          <a:p>
            <a:pPr marL="0" lvl="0" indent="0" algn="ctr">
              <a:lnSpc>
                <a:spcPct val="150000"/>
              </a:lnSpc>
              <a:buNone/>
            </a:pPr>
            <a:r>
              <a:rPr lang="en-US" dirty="0"/>
              <a:t>X</a:t>
            </a:r>
            <a:r>
              <a:rPr lang="he-IL" dirty="0"/>
              <a:t> - מס' הנקודות לבעיטה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/>
              <a:t>הסתברות שווה לקבלת כל אחד מהערכים האפשריים של  המשתנה המקרי </a:t>
            </a:r>
            <a:r>
              <a:rPr lang="en-US" dirty="0"/>
              <a:t>X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/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72184"/>
              </p:ext>
            </p:extLst>
          </p:nvPr>
        </p:nvGraphicFramePr>
        <p:xfrm>
          <a:off x="1187624" y="4221088"/>
          <a:ext cx="6984776" cy="1600200"/>
        </p:xfrm>
        <a:graphic>
          <a:graphicData uri="http://schemas.openxmlformats.org/drawingml/2006/table">
            <a:tbl>
              <a:tblPr rtl="1"/>
              <a:tblGrid>
                <a:gridCol w="1392529"/>
                <a:gridCol w="1805617"/>
                <a:gridCol w="1498260"/>
                <a:gridCol w="2288370"/>
              </a:tblGrid>
              <a:tr h="593430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45423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אחידה בדידה (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/>
                          <a:ea typeface="Calibri"/>
                          <a:cs typeface="Tahoma"/>
                        </a:rPr>
                        <a:t>n</a:t>
                      </a:r>
                      <a:r>
                        <a:rPr lang="he-IL" sz="1400" b="0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solidFill>
                          <a:srgbClr val="FF0000"/>
                        </a:solidFill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pSp>
        <p:nvGrpSpPr>
          <p:cNvPr id="5" name="קבוצה 30"/>
          <p:cNvGrpSpPr/>
          <p:nvPr/>
        </p:nvGrpSpPr>
        <p:grpSpPr>
          <a:xfrm>
            <a:off x="1619672" y="5119564"/>
            <a:ext cx="4752528" cy="699086"/>
            <a:chOff x="1547664" y="1412776"/>
            <a:chExt cx="4752528" cy="699086"/>
          </a:xfrm>
        </p:grpSpPr>
        <p:graphicFrame>
          <p:nvGraphicFramePr>
            <p:cNvPr id="6" name="Object 24"/>
            <p:cNvGraphicFramePr>
              <a:graphicFrameLocks noChangeAspect="1"/>
            </p:cNvGraphicFramePr>
            <p:nvPr/>
          </p:nvGraphicFramePr>
          <p:xfrm>
            <a:off x="5769607" y="1628800"/>
            <a:ext cx="530585" cy="360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60" name="Equation" r:id="rId4" imgW="266353" imgH="177569" progId="Equation.3">
                    <p:embed/>
                  </p:oleObj>
                </mc:Choice>
                <mc:Fallback>
                  <p:oleObj name="Equation" r:id="rId4" imgW="266353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9607" y="1628800"/>
                          <a:ext cx="530585" cy="3600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3"/>
            <p:cNvGraphicFramePr>
              <a:graphicFrameLocks noChangeAspect="1"/>
            </p:cNvGraphicFramePr>
            <p:nvPr/>
          </p:nvGraphicFramePr>
          <p:xfrm>
            <a:off x="3956974" y="1412776"/>
            <a:ext cx="471010" cy="681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61" name="Equation" r:id="rId6" imgW="380835" imgH="609336" progId="Equation.3">
                    <p:embed/>
                  </p:oleObj>
                </mc:Choice>
                <mc:Fallback>
                  <p:oleObj name="Equation" r:id="rId6" imgW="380835" imgH="60933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6974" y="1412776"/>
                          <a:ext cx="471010" cy="681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22"/>
            <p:cNvGraphicFramePr>
              <a:graphicFrameLocks noChangeAspect="1"/>
            </p:cNvGraphicFramePr>
            <p:nvPr/>
          </p:nvGraphicFramePr>
          <p:xfrm>
            <a:off x="1547664" y="1412776"/>
            <a:ext cx="1125091" cy="6990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962" name="Equation" r:id="rId8" imgW="977900" imgH="609600" progId="Equation.3">
                    <p:embed/>
                  </p:oleObj>
                </mc:Choice>
                <mc:Fallback>
                  <p:oleObj name="Equation" r:id="rId8" imgW="977900" imgH="609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7664" y="1412776"/>
                          <a:ext cx="1125091" cy="6990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8"/>
          <p:cNvSpPr/>
          <p:nvPr/>
        </p:nvSpPr>
        <p:spPr>
          <a:xfrm>
            <a:off x="5292080" y="5824532"/>
            <a:ext cx="2969083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he-IL" b="1" dirty="0">
                <a:solidFill>
                  <a:srgbClr val="FF0000"/>
                </a:solidFill>
              </a:rPr>
              <a:t>התפלגות אחידה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he-IL" b="1" dirty="0">
                <a:solidFill>
                  <a:srgbClr val="FF0000"/>
                </a:solidFill>
              </a:rPr>
              <a:t> (</a:t>
            </a:r>
            <a:r>
              <a:rPr lang="en-US" b="1" dirty="0">
                <a:solidFill>
                  <a:srgbClr val="FF0000"/>
                </a:solidFill>
              </a:rPr>
              <a:t>n=4</a:t>
            </a:r>
            <a:r>
              <a:rPr lang="he-IL" b="1" dirty="0">
                <a:solidFill>
                  <a:srgbClr val="FF0000"/>
                </a:solidFill>
              </a:rPr>
              <a:t>)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lang="he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45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1863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400" b="1" u="sng" dirty="0" smtClean="0">
                <a:solidFill>
                  <a:prstClr val="black"/>
                </a:solidFill>
              </a:rPr>
              <a:t>שאלה 3</a:t>
            </a:r>
          </a:p>
          <a:p>
            <a:pPr>
              <a:lnSpc>
                <a:spcPct val="150000"/>
              </a:lnSpc>
            </a:pPr>
            <a:r>
              <a:rPr lang="he-IL" sz="2400" b="1" dirty="0" smtClean="0">
                <a:solidFill>
                  <a:prstClr val="black"/>
                </a:solidFill>
              </a:rPr>
              <a:t>אלוף העולם בקליעה למטרה קולע בדיוק למרכז בהסתברות של 0.4. הוא מבצע 3 ניסיונות בלתי תלויים בזה אחר </a:t>
            </a:r>
            <a:r>
              <a:rPr lang="he-IL" sz="2400" b="1" dirty="0" smtClean="0">
                <a:solidFill>
                  <a:prstClr val="black"/>
                </a:solidFill>
              </a:rPr>
              <a:t>זה. </a:t>
            </a:r>
            <a:r>
              <a:rPr lang="he-IL" sz="2400" b="1" dirty="0" smtClean="0">
                <a:solidFill>
                  <a:prstClr val="black"/>
                </a:solidFill>
              </a:rPr>
              <a:t>מה </a:t>
            </a:r>
            <a:r>
              <a:rPr lang="he-IL" sz="2400" b="1" dirty="0">
                <a:solidFill>
                  <a:prstClr val="black"/>
                </a:solidFill>
              </a:rPr>
              <a:t>ההסתברות ש:</a:t>
            </a:r>
          </a:p>
          <a:p>
            <a:endParaRPr lang="he-IL" sz="2400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א. הוא יצליח בכל הניסיונות? </a:t>
            </a:r>
          </a:p>
          <a:p>
            <a:endParaRPr lang="he-IL" sz="2400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ב. הוא יצליח רק בשני ניסיונות? </a:t>
            </a:r>
          </a:p>
          <a:p>
            <a:endParaRPr lang="he-IL" sz="2400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ג. הוא יצליח לכל היותר בשני ניסיונות? </a:t>
            </a:r>
          </a:p>
          <a:p>
            <a:endParaRPr lang="en-US" sz="2400" b="1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ד. מה התוחלת של מס' הקליעות המוצלחות?</a:t>
            </a:r>
            <a:endParaRPr lang="en-US" sz="2400" dirty="0">
              <a:solidFill>
                <a:prstClr val="black"/>
              </a:solidFill>
            </a:endParaRP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ה. מה השונות של מס' הקליעות המוצלחות? </a:t>
            </a:r>
          </a:p>
          <a:p>
            <a:endParaRPr lang="he-IL" sz="2400" dirty="0">
              <a:solidFill>
                <a:prstClr val="black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0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586809"/>
              </p:ext>
            </p:extLst>
          </p:nvPr>
        </p:nvGraphicFramePr>
        <p:xfrm>
          <a:off x="755576" y="4365104"/>
          <a:ext cx="7848872" cy="1581347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21886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  <a:tr h="659461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בינומית (</a:t>
                      </a:r>
                      <a:r>
                        <a:rPr lang="en-US" sz="1400" dirty="0" err="1">
                          <a:latin typeface="Tahoma"/>
                          <a:ea typeface="Calibri"/>
                          <a:cs typeface="Tahoma"/>
                        </a:rPr>
                        <a:t>n,p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1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273933"/>
              </p:ext>
            </p:extLst>
          </p:nvPr>
        </p:nvGraphicFramePr>
        <p:xfrm>
          <a:off x="5032126" y="5367399"/>
          <a:ext cx="1109633" cy="51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5" name="Equation" r:id="rId5" imgW="990600" imgH="457200" progId="Equation.3">
                  <p:embed/>
                </p:oleObj>
              </mc:Choice>
              <mc:Fallback>
                <p:oleObj name="Equation" r:id="rId5" imgW="990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126" y="5367399"/>
                        <a:ext cx="1109633" cy="512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354956"/>
              </p:ext>
            </p:extLst>
          </p:nvPr>
        </p:nvGraphicFramePr>
        <p:xfrm>
          <a:off x="3877885" y="5505031"/>
          <a:ext cx="463674" cy="37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6" name="Equation" r:id="rId7" imgW="203024" imgH="164957" progId="Equation.3">
                  <p:embed/>
                </p:oleObj>
              </mc:Choice>
              <mc:Fallback>
                <p:oleObj name="Equation" r:id="rId7" imgW="203024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7885" y="5505031"/>
                        <a:ext cx="463674" cy="374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355054"/>
              </p:ext>
            </p:extLst>
          </p:nvPr>
        </p:nvGraphicFramePr>
        <p:xfrm>
          <a:off x="1331640" y="5433771"/>
          <a:ext cx="1569759" cy="373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7" r:id="rId9" imgW="596641" imgH="203112" progId="">
                  <p:embed/>
                </p:oleObj>
              </mc:Choice>
              <mc:Fallback>
                <p:oleObj r:id="rId9" imgW="596641" imgH="20311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433771"/>
                        <a:ext cx="1569759" cy="3737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477618"/>
              </p:ext>
            </p:extLst>
          </p:nvPr>
        </p:nvGraphicFramePr>
        <p:xfrm>
          <a:off x="6213767" y="5735521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8" name="Equation" r:id="rId11" imgW="660113" imgH="203112" progId="Equation.3">
                  <p:embed/>
                </p:oleObj>
              </mc:Choice>
              <mc:Fallback>
                <p:oleObj name="Equation" r:id="rId11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3767" y="5735521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932040" y="5941631"/>
            <a:ext cx="379302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b="1" dirty="0">
                <a:solidFill>
                  <a:srgbClr val="FF0000"/>
                </a:solidFill>
              </a:rPr>
              <a:t>התפלגות בינומית (</a:t>
            </a:r>
            <a:r>
              <a:rPr lang="en-US" b="1" dirty="0">
                <a:solidFill>
                  <a:srgbClr val="FF0000"/>
                </a:solidFill>
              </a:rPr>
              <a:t>n=3, p=0.4</a:t>
            </a:r>
            <a:r>
              <a:rPr lang="he-IL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27584" y="332657"/>
            <a:ext cx="8229600" cy="3312368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he-IL" b="1" dirty="0" smtClean="0"/>
              <a:t>התפלגות </a:t>
            </a:r>
            <a:r>
              <a:rPr lang="he-IL" b="1" dirty="0"/>
              <a:t>בינומית (</a:t>
            </a:r>
            <a:r>
              <a:rPr lang="en-US" b="1" dirty="0"/>
              <a:t>n=3, p=0.4</a:t>
            </a:r>
            <a:r>
              <a:rPr lang="he-IL" b="1" dirty="0"/>
              <a:t>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X</a:t>
            </a:r>
            <a:r>
              <a:rPr lang="he-IL" dirty="0"/>
              <a:t> - מס' הקליעות המוצלחות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/>
              <a:t>התפלגות מס' ההצלחות ב-</a:t>
            </a:r>
            <a:r>
              <a:rPr lang="en-US" dirty="0"/>
              <a:t>n</a:t>
            </a:r>
            <a:r>
              <a:rPr lang="he-IL" dirty="0"/>
              <a:t> ניסויי ברנולי ב"ת (הצלחה או כישלון בלבד, הסיכוי להצלחה מסומן ב-</a:t>
            </a:r>
            <a:r>
              <a:rPr lang="en-US" dirty="0"/>
              <a:t>p</a:t>
            </a:r>
            <a:r>
              <a:rPr lang="he-IL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824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2940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600" b="1" u="sng" dirty="0" smtClean="0">
                <a:solidFill>
                  <a:prstClr val="black"/>
                </a:solidFill>
              </a:rPr>
              <a:t>שאלה 4</a:t>
            </a:r>
          </a:p>
          <a:p>
            <a:pPr>
              <a:lnSpc>
                <a:spcPct val="150000"/>
              </a:lnSpc>
            </a:pPr>
            <a:r>
              <a:rPr lang="he-IL" sz="2600" b="1" dirty="0" smtClean="0">
                <a:solidFill>
                  <a:prstClr val="black"/>
                </a:solidFill>
              </a:rPr>
              <a:t>זוג נשוי מחפש דירה להשכרה במרכז ת"א. הם מעריכים שהסיכוי למציאת דירה מתאימה במחיר סביר הוא 10%. </a:t>
            </a:r>
          </a:p>
          <a:p>
            <a:pPr>
              <a:lnSpc>
                <a:spcPct val="150000"/>
              </a:lnSpc>
            </a:pPr>
            <a:r>
              <a:rPr lang="he-IL" sz="2600" dirty="0">
                <a:solidFill>
                  <a:prstClr val="black"/>
                </a:solidFill>
              </a:rPr>
              <a:t>א. מה ההסתברות שהדירה הרביעית שהם יראו תהיה הראשונה שתתאים לצרכיהם? </a:t>
            </a:r>
          </a:p>
          <a:p>
            <a:pPr>
              <a:lnSpc>
                <a:spcPct val="150000"/>
              </a:lnSpc>
            </a:pPr>
            <a:r>
              <a:rPr lang="he-IL" sz="2600" dirty="0">
                <a:solidFill>
                  <a:prstClr val="black"/>
                </a:solidFill>
              </a:rPr>
              <a:t>ב. מה ההסתברות שהם יצטרכו לראות יותר מ-4 דירות עד למציאת דירה? </a:t>
            </a:r>
          </a:p>
          <a:p>
            <a:pPr>
              <a:lnSpc>
                <a:spcPct val="150000"/>
              </a:lnSpc>
            </a:pPr>
            <a:r>
              <a:rPr lang="he-IL" sz="2600" dirty="0">
                <a:solidFill>
                  <a:prstClr val="black"/>
                </a:solidFill>
              </a:rPr>
              <a:t>ג. מהי התוחלת ומה השונות עד למציאת דירה?</a:t>
            </a:r>
            <a:endParaRPr lang="en-US" sz="2600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he-IL" sz="2600" dirty="0">
              <a:solidFill>
                <a:prstClr val="black"/>
              </a:solidFill>
            </a:endParaRPr>
          </a:p>
          <a:p>
            <a:endParaRPr lang="en-US" sz="26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7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0" y="1304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10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42435"/>
              </p:ext>
            </p:extLst>
          </p:nvPr>
        </p:nvGraphicFramePr>
        <p:xfrm>
          <a:off x="827584" y="4437112"/>
          <a:ext cx="7848872" cy="166572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0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גיאומטרית 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</a:rPr>
                        <a:t>p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 smtClean="0">
                          <a:latin typeface="Times New Roman"/>
                          <a:ea typeface="Calibri"/>
                          <a:cs typeface="Tahoma"/>
                        </a:rPr>
                        <a:t> </a:t>
                      </a: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292080" y="6165304"/>
            <a:ext cx="352372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b="1" dirty="0">
                <a:solidFill>
                  <a:srgbClr val="FF0000"/>
                </a:solidFill>
              </a:rPr>
              <a:t>התפלגות גיאומטרית (</a:t>
            </a:r>
            <a:r>
              <a:rPr lang="en-US" b="1" dirty="0">
                <a:solidFill>
                  <a:srgbClr val="FF0000"/>
                </a:solidFill>
              </a:rPr>
              <a:t>p=0.1</a:t>
            </a:r>
            <a:r>
              <a:rPr lang="he-IL" b="1" dirty="0">
                <a:solidFill>
                  <a:srgbClr val="FF0000"/>
                </a:solidFill>
              </a:rPr>
              <a:t>)</a:t>
            </a:r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197279"/>
              </p:ext>
            </p:extLst>
          </p:nvPr>
        </p:nvGraphicFramePr>
        <p:xfrm>
          <a:off x="5138911" y="5438533"/>
          <a:ext cx="1224136" cy="408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6" name="Equation" r:id="rId4" imgW="685800" imgH="228600" progId="Equation.3">
                  <p:embed/>
                </p:oleObj>
              </mc:Choice>
              <mc:Fallback>
                <p:oleObj name="Equation" r:id="rId4" imgW="685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911" y="5438533"/>
                        <a:ext cx="1224136" cy="4080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732687"/>
              </p:ext>
            </p:extLst>
          </p:nvPr>
        </p:nvGraphicFramePr>
        <p:xfrm>
          <a:off x="6363047" y="5870581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7" name="Equation" r:id="rId6" imgW="660113" imgH="203112" progId="Equation.3">
                  <p:embed/>
                </p:oleObj>
              </mc:Choice>
              <mc:Fallback>
                <p:oleObj name="Equation" r:id="rId6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3047" y="5870581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420187"/>
              </p:ext>
            </p:extLst>
          </p:nvPr>
        </p:nvGraphicFramePr>
        <p:xfrm>
          <a:off x="3914775" y="5549313"/>
          <a:ext cx="720080" cy="44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8" r:id="rId8" imgW="253780" imgH="215713" progId="">
                  <p:embed/>
                </p:oleObj>
              </mc:Choice>
              <mc:Fallback>
                <p:oleObj r:id="rId8" imgW="253780" imgH="21571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5549313"/>
                        <a:ext cx="720080" cy="44312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0409235"/>
              </p:ext>
            </p:extLst>
          </p:nvPr>
        </p:nvGraphicFramePr>
        <p:xfrm>
          <a:off x="2042567" y="5438533"/>
          <a:ext cx="629791" cy="629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89" r:id="rId10" imgW="355446" imgH="418918" progId="">
                  <p:embed/>
                </p:oleObj>
              </mc:Choice>
              <mc:Fallback>
                <p:oleObj r:id="rId10" imgW="355446" imgH="4189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2567" y="5438533"/>
                        <a:ext cx="629791" cy="6297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23528" y="318727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he-IL" sz="2800" b="1" dirty="0"/>
              <a:t>התפלגות גיאומטרית (</a:t>
            </a:r>
            <a:r>
              <a:rPr lang="en-US" sz="2800" b="1" dirty="0"/>
              <a:t>p=0.1</a:t>
            </a:r>
            <a:r>
              <a:rPr lang="he-IL" sz="2800" b="1" dirty="0"/>
              <a:t>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800" dirty="0"/>
              <a:t>X</a:t>
            </a:r>
            <a:r>
              <a:rPr lang="he-IL" sz="2800" dirty="0"/>
              <a:t>- מס' הניסיונות עד (וכולל) מציאת דירה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sz="2800" dirty="0"/>
              <a:t>ההתפלגות של מס' ניסיונות ברנולי ב"ת עד להצלחה ראשונה (כולל)</a:t>
            </a:r>
          </a:p>
          <a:p>
            <a:pPr marL="0" indent="0" algn="ctr">
              <a:lnSpc>
                <a:spcPct val="150000"/>
              </a:lnSpc>
              <a:buNone/>
            </a:pPr>
            <a:endParaRPr lang="he-IL" sz="2800" dirty="0"/>
          </a:p>
          <a:p>
            <a:pPr marL="0" indent="0">
              <a:buNone/>
            </a:pPr>
            <a:endParaRPr lang="en-US" sz="2800" b="1" dirty="0">
              <a:solidFill>
                <a:prstClr val="black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solidFill>
                <a:prstClr val="black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he-IL" sz="2800" b="1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059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780213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600" b="1" u="sng" dirty="0" smtClean="0">
                <a:solidFill>
                  <a:prstClr val="black"/>
                </a:solidFill>
              </a:rPr>
              <a:t>שאלה 5</a:t>
            </a:r>
          </a:p>
          <a:p>
            <a:pPr>
              <a:lnSpc>
                <a:spcPct val="150000"/>
              </a:lnSpc>
            </a:pPr>
            <a:r>
              <a:rPr lang="he-IL" sz="2500" b="1" dirty="0"/>
              <a:t>בכד </a:t>
            </a:r>
            <a:r>
              <a:rPr lang="he-IL" sz="2500" b="1" dirty="0" smtClean="0"/>
              <a:t>10 מטבעות: 3 </a:t>
            </a:r>
            <a:r>
              <a:rPr lang="he-IL" sz="2500" b="1" dirty="0"/>
              <a:t>מטבעות </a:t>
            </a:r>
            <a:r>
              <a:rPr lang="he-IL" sz="2500" b="1" dirty="0" smtClean="0"/>
              <a:t>של שנקל ו- </a:t>
            </a:r>
            <a:r>
              <a:rPr lang="en-US" sz="2500" b="1" dirty="0" smtClean="0"/>
              <a:t>7</a:t>
            </a:r>
            <a:r>
              <a:rPr lang="he-IL" sz="2500" b="1" dirty="0" smtClean="0"/>
              <a:t> </a:t>
            </a:r>
            <a:r>
              <a:rPr lang="he-IL" sz="2500" b="1" dirty="0"/>
              <a:t>מטבעות </a:t>
            </a:r>
            <a:r>
              <a:rPr lang="he-IL" sz="2500" b="1" dirty="0" smtClean="0"/>
              <a:t>של 5 שקלים. מוציאים </a:t>
            </a:r>
            <a:r>
              <a:rPr lang="he-IL" sz="2500" b="1" dirty="0"/>
              <a:t>מהכד </a:t>
            </a:r>
            <a:r>
              <a:rPr lang="he-IL" sz="2500" b="1" dirty="0" smtClean="0"/>
              <a:t>באקראי 4 </a:t>
            </a:r>
            <a:r>
              <a:rPr lang="he-IL" sz="2500" b="1" dirty="0"/>
              <a:t>מטבעות. </a:t>
            </a:r>
            <a:endParaRPr lang="he-IL" sz="2500" b="1" dirty="0" smtClean="0"/>
          </a:p>
          <a:p>
            <a:r>
              <a:rPr lang="he-IL" sz="2500" b="1" dirty="0">
                <a:solidFill>
                  <a:prstClr val="black"/>
                </a:solidFill>
              </a:rPr>
              <a:t>מה ההסתברות ש:</a:t>
            </a:r>
          </a:p>
          <a:p>
            <a:endParaRPr lang="he-IL" sz="2500" dirty="0">
              <a:solidFill>
                <a:prstClr val="black"/>
              </a:solidFill>
            </a:endParaRPr>
          </a:p>
          <a:p>
            <a:r>
              <a:rPr lang="he-IL" sz="2500" dirty="0">
                <a:solidFill>
                  <a:prstClr val="black"/>
                </a:solidFill>
              </a:rPr>
              <a:t>א. שניים מהמטבעות שהוצאו הם של שנקל? </a:t>
            </a:r>
          </a:p>
          <a:p>
            <a:endParaRPr lang="he-IL" sz="2500" dirty="0">
              <a:solidFill>
                <a:prstClr val="black"/>
              </a:solidFill>
            </a:endParaRPr>
          </a:p>
          <a:p>
            <a:r>
              <a:rPr lang="he-IL" sz="2500" dirty="0">
                <a:solidFill>
                  <a:prstClr val="black"/>
                </a:solidFill>
              </a:rPr>
              <a:t>ב. כל המטבעות שהוצאו הן של שנקל?</a:t>
            </a:r>
          </a:p>
          <a:p>
            <a:endParaRPr lang="he-IL" sz="2500" dirty="0">
              <a:solidFill>
                <a:prstClr val="black"/>
              </a:solidFill>
            </a:endParaRPr>
          </a:p>
          <a:p>
            <a:r>
              <a:rPr lang="he-IL" sz="2500" dirty="0">
                <a:solidFill>
                  <a:prstClr val="black"/>
                </a:solidFill>
              </a:rPr>
              <a:t>ג. לפחות שלושה מהמטבעות שהוצאו הם של שנקל? </a:t>
            </a:r>
          </a:p>
          <a:p>
            <a:endParaRPr lang="en-US" sz="2500" b="1" dirty="0">
              <a:solidFill>
                <a:prstClr val="black"/>
              </a:solidFill>
            </a:endParaRPr>
          </a:p>
          <a:p>
            <a:r>
              <a:rPr lang="he-IL" sz="2500" dirty="0">
                <a:solidFill>
                  <a:prstClr val="black"/>
                </a:solidFill>
              </a:rPr>
              <a:t>ד. מה התוחלת של מס' מטבעות השנקל שהוצאו מהכד?</a:t>
            </a:r>
            <a:endParaRPr lang="en-US" sz="2500" dirty="0">
              <a:solidFill>
                <a:prstClr val="black"/>
              </a:solidFill>
            </a:endParaRPr>
          </a:p>
          <a:p>
            <a:endParaRPr lang="en-US" sz="2500" dirty="0">
              <a:solidFill>
                <a:prstClr val="black"/>
              </a:solidFill>
            </a:endParaRPr>
          </a:p>
          <a:p>
            <a:r>
              <a:rPr lang="he-IL" sz="2500" dirty="0">
                <a:solidFill>
                  <a:prstClr val="black"/>
                </a:solidFill>
              </a:rPr>
              <a:t>ה. מה השונות של מס' מטבעות השנקל שהוצאו מהכד? </a:t>
            </a:r>
          </a:p>
          <a:p>
            <a:endParaRPr lang="en-US" sz="25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sz="2500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he-IL" sz="2500" dirty="0" smtClean="0">
              <a:solidFill>
                <a:srgbClr val="FF0000"/>
              </a:solidFill>
            </a:endParaRPr>
          </a:p>
          <a:p>
            <a:endParaRPr lang="en-US" sz="25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453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244827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35896" y="6301671"/>
            <a:ext cx="542007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b="1" dirty="0">
                <a:solidFill>
                  <a:srgbClr val="FF0000"/>
                </a:solidFill>
              </a:rPr>
              <a:t>התפלגות </a:t>
            </a:r>
            <a:r>
              <a:rPr lang="he-IL" b="1" dirty="0" smtClean="0">
                <a:solidFill>
                  <a:srgbClr val="FF0000"/>
                </a:solidFill>
              </a:rPr>
              <a:t>היפר-גיאומטרית (</a:t>
            </a:r>
            <a:r>
              <a:rPr lang="en-US" b="1" dirty="0">
                <a:solidFill>
                  <a:srgbClr val="FF0000"/>
                </a:solidFill>
              </a:rPr>
              <a:t>N=10, D=3, n=4</a:t>
            </a:r>
            <a:r>
              <a:rPr lang="he-IL" b="1" dirty="0" smtClean="0">
                <a:solidFill>
                  <a:srgbClr val="FF0000"/>
                </a:solidFill>
              </a:rPr>
              <a:t>)</a:t>
            </a:r>
            <a:endParaRPr lang="he-IL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863294"/>
              </p:ext>
            </p:extLst>
          </p:nvPr>
        </p:nvGraphicFramePr>
        <p:xfrm>
          <a:off x="1079612" y="4571587"/>
          <a:ext cx="7848872" cy="1665725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/>
                      <a:r>
                        <a:rPr lang="he-IL" sz="1400" dirty="0" smtClean="0"/>
                        <a:t>היפר-גיאומטרית </a:t>
                      </a:r>
                      <a:r>
                        <a:rPr lang="he-IL" sz="1400" dirty="0" smtClean="0"/>
                        <a:t>(</a:t>
                      </a:r>
                      <a:r>
                        <a:rPr lang="en-US" sz="1400" dirty="0" err="1" smtClean="0"/>
                        <a:t>N,D,n</a:t>
                      </a:r>
                      <a:r>
                        <a:rPr lang="he-IL" sz="1400" dirty="0" smtClean="0"/>
                        <a:t>)</a:t>
                      </a:r>
                      <a:endParaRPr lang="en-GB" dirty="0"/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 dirty="0">
                        <a:latin typeface="Tahoma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pic>
        <p:nvPicPr>
          <p:cNvPr id="17" name="Picture 158" descr="nD\over 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705" y="5598171"/>
            <a:ext cx="349498" cy="49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60" descr="n(D/N)(1-D/N)(N-n)\over (N-1)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579699"/>
            <a:ext cx="2209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274639"/>
            <a:ext cx="8229600" cy="3802434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he-IL" b="1" dirty="0" smtClean="0"/>
              <a:t>התפלגות </a:t>
            </a:r>
            <a:r>
              <a:rPr lang="he-IL" b="1" dirty="0"/>
              <a:t>היפר גיאומטרית (</a:t>
            </a:r>
            <a:r>
              <a:rPr lang="en-US" b="1" dirty="0"/>
              <a:t>N=10, D=3, n=4</a:t>
            </a:r>
            <a:r>
              <a:rPr lang="he-IL" b="1" dirty="0"/>
              <a:t>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X</a:t>
            </a:r>
            <a:r>
              <a:rPr lang="he-IL" dirty="0"/>
              <a:t>- מס' מטבעות השנקל מתוך ה-4 שהוצאו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/>
              <a:t>התפלגות מספר ההצלחות ב-</a:t>
            </a:r>
            <a:r>
              <a:rPr lang="en-US" dirty="0"/>
              <a:t>n</a:t>
            </a:r>
            <a:r>
              <a:rPr lang="he-IL" dirty="0"/>
              <a:t> ניסויים ראשונים מתוך </a:t>
            </a:r>
            <a:r>
              <a:rPr lang="en-US" dirty="0"/>
              <a:t>N</a:t>
            </a:r>
            <a:r>
              <a:rPr lang="he-IL" dirty="0"/>
              <a:t> ניסויי ברנולי, כאשר ידוע מספר ההצלחות בסדרת הניסויים כולה (</a:t>
            </a:r>
            <a:r>
              <a:rPr lang="en-US" dirty="0"/>
              <a:t>D</a:t>
            </a:r>
            <a:r>
              <a:rPr lang="he-IL" dirty="0"/>
              <a:t>)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1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8584649"/>
              </p:ext>
            </p:extLst>
          </p:nvPr>
        </p:nvGraphicFramePr>
        <p:xfrm>
          <a:off x="5724128" y="5602735"/>
          <a:ext cx="14382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80" name="Equation" r:id="rId7" imgW="1282680" imgH="457200" progId="Equation.3">
                  <p:embed/>
                </p:oleObj>
              </mc:Choice>
              <mc:Fallback>
                <p:oleObj name="Equation" r:id="rId7" imgW="1282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128" y="5602735"/>
                        <a:ext cx="14382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858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44624"/>
            <a:ext cx="8892480" cy="63709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2400" b="1" u="sng" dirty="0" smtClean="0">
                <a:solidFill>
                  <a:prstClr val="black"/>
                </a:solidFill>
              </a:rPr>
              <a:t>שאלה 6</a:t>
            </a:r>
          </a:p>
          <a:p>
            <a:pPr>
              <a:lnSpc>
                <a:spcPct val="150000"/>
              </a:lnSpc>
            </a:pPr>
            <a:r>
              <a:rPr lang="he-IL" sz="2400" b="1" dirty="0" smtClean="0">
                <a:solidFill>
                  <a:prstClr val="black"/>
                </a:solidFill>
              </a:rPr>
              <a:t>במוקד שירות של חב' סלולארית מתקבלות בממוצע 50 שיחות בשעה, מתוכן 80% מהוות תלונות. מס' התלונות מתפלג פואסונית</a:t>
            </a:r>
            <a:r>
              <a:rPr lang="he-IL" sz="2400" b="1" dirty="0" smtClean="0">
                <a:solidFill>
                  <a:prstClr val="black"/>
                </a:solidFill>
              </a:rPr>
              <a:t>.</a:t>
            </a:r>
            <a:endParaRPr lang="en-US" sz="2400" b="1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א. מהי ההסתברות לקבלת 30 תלונות בשעה? 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ב. קווי הטלפון במוקד הושבתו ל-12 דקות עקב תקלה, מהי ההסתברות שבזמן זה ניסו להתלונן פחות מ-2 אנשים? 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ג. מהי ההסתברות שבזמן התקלה זה ניסו להתלונן לפחות 2 אנשים?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ד. מהי השונות והתוחלת של מס' התלונות בשעה?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ה. מהי השונות והתוחלת של מס' התלונות בזמן התקלה?</a:t>
            </a:r>
          </a:p>
          <a:p>
            <a:endParaRPr lang="en-US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5613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982390"/>
              </p:ext>
            </p:extLst>
          </p:nvPr>
        </p:nvGraphicFramePr>
        <p:xfrm>
          <a:off x="755576" y="4641606"/>
          <a:ext cx="7848872" cy="1656552"/>
        </p:xfrm>
        <a:graphic>
          <a:graphicData uri="http://schemas.openxmlformats.org/drawingml/2006/table">
            <a:tbl>
              <a:tblPr rtl="1"/>
              <a:tblGrid>
                <a:gridCol w="1564801"/>
                <a:gridCol w="2028992"/>
                <a:gridCol w="1683612"/>
                <a:gridCol w="2571467"/>
              </a:tblGrid>
              <a:tr h="950947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משפחת </a:t>
                      </a: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התפלגות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(פרמטרים</a:t>
                      </a:r>
                      <a:r>
                        <a:rPr lang="he-IL" sz="1400" b="1" cap="all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dirty="0">
                          <a:latin typeface="Times New Roman"/>
                          <a:ea typeface="Times New Roman"/>
                          <a:cs typeface="Tahoma"/>
                        </a:rPr>
                        <a:t>פונקצית צפיפות </a:t>
                      </a:r>
                      <a:r>
                        <a:rPr lang="he-IL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ההסתברות</a:t>
                      </a: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/>
                      </a:r>
                      <a:b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</a:br>
                      <a:r>
                        <a:rPr lang="en-US" sz="1400" b="1" dirty="0" smtClean="0">
                          <a:latin typeface="Times New Roman"/>
                          <a:ea typeface="Times New Roman"/>
                          <a:cs typeface="Tahoma"/>
                        </a:rPr>
                        <a:t>p(x</a:t>
                      </a:r>
                      <a:r>
                        <a:rPr lang="en-US" sz="1400" b="1" dirty="0">
                          <a:latin typeface="Times New Roman"/>
                          <a:ea typeface="Times New Roman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תוחלת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E(x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>שונות</a:t>
                      </a:r>
                      <a: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  <a:t/>
                      </a:r>
                      <a:br>
                        <a:rPr lang="en-US" sz="1400" b="1" cap="all" dirty="0" smtClean="0">
                          <a:latin typeface="Times New Roman"/>
                          <a:ea typeface="Calibri"/>
                          <a:cs typeface="Tahoma"/>
                        </a:rPr>
                      </a:br>
                      <a:r>
                        <a:rPr lang="en-US" sz="1400" b="1" cap="all" dirty="0" err="1" smtClean="0">
                          <a:latin typeface="Tahoma"/>
                          <a:ea typeface="Calibri"/>
                          <a:cs typeface="Tahoma"/>
                        </a:rPr>
                        <a:t>Var</a:t>
                      </a:r>
                      <a:r>
                        <a:rPr lang="en-US" sz="1400" b="1" cap="all" dirty="0" smtClean="0">
                          <a:latin typeface="Tahoma"/>
                          <a:ea typeface="Calibri"/>
                          <a:cs typeface="Tahoma"/>
                        </a:rPr>
                        <a:t>(x</a:t>
                      </a:r>
                      <a:r>
                        <a:rPr lang="en-US" sz="1400" b="1" cap="all" dirty="0">
                          <a:latin typeface="Tahoma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  <a:tr h="70560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he-IL" sz="1400" dirty="0" err="1">
                          <a:latin typeface="Times New Roman"/>
                          <a:ea typeface="Calibri"/>
                          <a:cs typeface="Tahoma"/>
                        </a:rPr>
                        <a:t>פואסון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 (</a:t>
                      </a:r>
                      <a:r>
                        <a:rPr lang="en-US" sz="1400" dirty="0">
                          <a:latin typeface="Tahoma"/>
                          <a:ea typeface="Calibri"/>
                          <a:cs typeface="Tahoma"/>
                          <a:sym typeface="Symbol"/>
                        </a:rPr>
                        <a:t></a:t>
                      </a:r>
                      <a:r>
                        <a:rPr lang="he-IL" sz="1400" dirty="0">
                          <a:latin typeface="Times New Roman"/>
                          <a:ea typeface="Calibri"/>
                          <a:cs typeface="Tahoma"/>
                        </a:rPr>
                        <a:t>)</a:t>
                      </a:r>
                      <a:endParaRPr lang="en-US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US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he-IL" sz="1400" dirty="0">
                        <a:latin typeface="Times New Roman"/>
                        <a:ea typeface="Calibri"/>
                        <a:cs typeface="Tahoma"/>
                      </a:endParaRPr>
                    </a:p>
                  </a:txBody>
                  <a:tcPr marL="68580" marR="68580" marT="0" marB="0" anchor="ctr">
                    <a:lnL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4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graphicFrame>
        <p:nvGraphicFramePr>
          <p:cNvPr id="15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22647"/>
              </p:ext>
            </p:extLst>
          </p:nvPr>
        </p:nvGraphicFramePr>
        <p:xfrm>
          <a:off x="6300192" y="5997165"/>
          <a:ext cx="65722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3" name="Equation" r:id="rId5" imgW="660113" imgH="203112" progId="Equation.3">
                  <p:embed/>
                </p:oleObj>
              </mc:Choice>
              <mc:Fallback>
                <p:oleObj name="Equation" r:id="rId5" imgW="6601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5997165"/>
                        <a:ext cx="657225" cy="200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431707"/>
              </p:ext>
            </p:extLst>
          </p:nvPr>
        </p:nvGraphicFramePr>
        <p:xfrm>
          <a:off x="5148064" y="5549117"/>
          <a:ext cx="792088" cy="726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4" name="Equation" r:id="rId7" imgW="457200" imgH="419100" progId="Equation.3">
                  <p:embed/>
                </p:oleObj>
              </mc:Choice>
              <mc:Fallback>
                <p:oleObj name="Equation" r:id="rId7" imgW="4572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5549117"/>
                        <a:ext cx="792088" cy="7260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84357"/>
              </p:ext>
            </p:extLst>
          </p:nvPr>
        </p:nvGraphicFramePr>
        <p:xfrm>
          <a:off x="1907704" y="5765142"/>
          <a:ext cx="648071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5" name="Equation" r:id="rId9" imgW="126780" imgH="164814" progId="Equation.3">
                  <p:embed/>
                </p:oleObj>
              </mc:Choice>
              <mc:Fallback>
                <p:oleObj name="Equation" r:id="rId9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5765142"/>
                        <a:ext cx="648071" cy="4320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55855"/>
              </p:ext>
            </p:extLst>
          </p:nvPr>
        </p:nvGraphicFramePr>
        <p:xfrm>
          <a:off x="3923928" y="5741008"/>
          <a:ext cx="648271" cy="432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96" name="Equation" r:id="rId11" imgW="126780" imgH="164814" progId="Equation.3">
                  <p:embed/>
                </p:oleObj>
              </mc:Choice>
              <mc:Fallback>
                <p:oleObj name="Equation" r:id="rId1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5741008"/>
                        <a:ext cx="648271" cy="432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5426654" y="6372036"/>
            <a:ext cx="3265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b="1" dirty="0">
                <a:solidFill>
                  <a:srgbClr val="FF0000"/>
                </a:solidFill>
              </a:rPr>
              <a:t>התפלגות פואסונית (</a:t>
            </a:r>
            <a:r>
              <a:rPr lang="el-GR" b="1" dirty="0">
                <a:solidFill>
                  <a:srgbClr val="FF0000"/>
                </a:solidFill>
              </a:rPr>
              <a:t>λ</a:t>
            </a:r>
            <a:r>
              <a:rPr lang="en-US" b="1" dirty="0" smtClean="0">
                <a:solidFill>
                  <a:srgbClr val="FF0000"/>
                </a:solidFill>
              </a:rPr>
              <a:t>=40</a:t>
            </a:r>
            <a:r>
              <a:rPr lang="he-IL" b="1" dirty="0">
                <a:solidFill>
                  <a:srgbClr val="FF0000"/>
                </a:solidFill>
              </a:rPr>
              <a:t>)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7093" y="18864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he-IL" b="1" dirty="0" smtClean="0"/>
              <a:t>התפלגות </a:t>
            </a:r>
            <a:r>
              <a:rPr lang="he-IL" b="1" dirty="0"/>
              <a:t>פואסונית (</a:t>
            </a:r>
            <a:r>
              <a:rPr lang="el-GR" b="1" dirty="0"/>
              <a:t>λ</a:t>
            </a:r>
            <a:r>
              <a:rPr lang="en-US" b="1" dirty="0"/>
              <a:t>=50*0.8=40</a:t>
            </a:r>
            <a:r>
              <a:rPr lang="he-IL" b="1" dirty="0"/>
              <a:t>)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/>
              <a:t> </a:t>
            </a:r>
            <a:r>
              <a:rPr lang="en-US" dirty="0"/>
              <a:t>X</a:t>
            </a:r>
            <a:r>
              <a:rPr lang="he-IL" dirty="0"/>
              <a:t>- מס' התלונות בשעה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he-IL" dirty="0"/>
              <a:t>נוצרת כאשר סופרים אירועים שמתרחשים בפרק זמן נתון.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814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892480" cy="52937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3200" b="1" u="sng" dirty="0" smtClean="0">
                <a:solidFill>
                  <a:prstClr val="black"/>
                </a:solidFill>
              </a:rPr>
              <a:t>שאלה 7</a:t>
            </a:r>
            <a:endParaRPr lang="en-US" sz="3200" b="1" u="sng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600" b="1" dirty="0" smtClean="0">
                <a:solidFill>
                  <a:prstClr val="black"/>
                </a:solidFill>
              </a:rPr>
              <a:t>הציונים בקורס סטטיסטיקה מתפלגים נורמלית עם ממוצע 90 וסטיית תקן 5. </a:t>
            </a:r>
            <a:r>
              <a:rPr lang="he-IL" sz="2400" b="1" dirty="0" smtClean="0">
                <a:solidFill>
                  <a:prstClr val="black"/>
                </a:solidFill>
              </a:rPr>
              <a:t>מהי </a:t>
            </a:r>
            <a:r>
              <a:rPr lang="he-IL" sz="2400" b="1" dirty="0">
                <a:solidFill>
                  <a:prstClr val="black"/>
                </a:solidFill>
              </a:rPr>
              <a:t>ההסתברות לקבלת הציונים הבאים:</a:t>
            </a:r>
          </a:p>
          <a:p>
            <a:endParaRPr lang="en-US" sz="2400" dirty="0">
              <a:solidFill>
                <a:prstClr val="black"/>
              </a:solidFill>
            </a:endParaRPr>
          </a:p>
          <a:p>
            <a:r>
              <a:rPr lang="he-IL" sz="2400" dirty="0">
                <a:solidFill>
                  <a:prstClr val="black"/>
                </a:solidFill>
              </a:rPr>
              <a:t>א. מתחת ל-92.5 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ב. מעל 80 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ג. מתחת </a:t>
            </a:r>
            <a:r>
              <a:rPr lang="he-IL" sz="2400" dirty="0" smtClean="0">
                <a:solidFill>
                  <a:prstClr val="black"/>
                </a:solidFill>
              </a:rPr>
              <a:t>ל-85</a:t>
            </a:r>
            <a:r>
              <a:rPr lang="he-IL" sz="2400" dirty="0">
                <a:solidFill>
                  <a:prstClr val="black"/>
                </a:solidFill>
              </a:rPr>
              <a:t>		</a:t>
            </a:r>
          </a:p>
          <a:p>
            <a:pPr>
              <a:lnSpc>
                <a:spcPct val="150000"/>
              </a:lnSpc>
            </a:pPr>
            <a:r>
              <a:rPr lang="he-IL" sz="2400" dirty="0">
                <a:solidFill>
                  <a:prstClr val="black"/>
                </a:solidFill>
              </a:rPr>
              <a:t>ד. בין 80-85  </a:t>
            </a:r>
          </a:p>
          <a:p>
            <a:pPr>
              <a:lnSpc>
                <a:spcPct val="150000"/>
              </a:lnSpc>
            </a:pPr>
            <a:endParaRPr lang="he-IL" sz="2400" b="1" u="sng" dirty="0" smtClean="0">
              <a:solidFill>
                <a:prstClr val="black"/>
              </a:solidFill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מלבן 12"/>
          <p:cNvSpPr/>
          <p:nvPr/>
        </p:nvSpPr>
        <p:spPr>
          <a:xfrm>
            <a:off x="755576" y="4941168"/>
            <a:ext cx="806489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he-IL" sz="2800" b="1" dirty="0" smtClean="0">
                <a:solidFill>
                  <a:srgbClr val="FF0000"/>
                </a:solidFill>
              </a:rPr>
              <a:t>התפלגות נורמלית	</a:t>
            </a:r>
            <a:r>
              <a:rPr lang="en-US" sz="2800" b="1" dirty="0" smtClean="0">
                <a:solidFill>
                  <a:srgbClr val="FF0000"/>
                </a:solidFill>
              </a:rPr>
              <a:t>X~N(90,5</a:t>
            </a:r>
            <a:r>
              <a:rPr lang="en-US" sz="2800" b="1" baseline="30000" dirty="0" smtClean="0">
                <a:solidFill>
                  <a:srgbClr val="FF0000"/>
                </a:solidFill>
              </a:rPr>
              <a:t>2</a:t>
            </a:r>
            <a:r>
              <a:rPr lang="en-US" sz="2800" b="1" dirty="0" smtClean="0">
                <a:solidFill>
                  <a:srgbClr val="FF0000"/>
                </a:solidFill>
              </a:rPr>
              <a:t>)</a:t>
            </a:r>
            <a:endParaRPr lang="he-IL" sz="2800" b="1" dirty="0" smtClean="0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800" dirty="0" smtClean="0">
                <a:solidFill>
                  <a:srgbClr val="FF0000"/>
                </a:solidFill>
              </a:rPr>
              <a:t>X</a:t>
            </a:r>
            <a:r>
              <a:rPr lang="he-IL" sz="2800" dirty="0" smtClean="0">
                <a:solidFill>
                  <a:srgbClr val="FF0000"/>
                </a:solidFill>
              </a:rPr>
              <a:t>- ציון בקורס סטטיסטיקה</a:t>
            </a:r>
            <a:endParaRPr lang="he-IL" sz="2800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800" dirty="0" smtClean="0">
              <a:solidFill>
                <a:prstClr val="black"/>
              </a:solidFill>
            </a:endParaRPr>
          </a:p>
          <a:p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910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89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2276872"/>
            <a:ext cx="3099719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01" name="Object 1" descr="קלף"/>
          <p:cNvGraphicFramePr>
            <a:graphicFrameLocks noChangeAspect="1"/>
          </p:cNvGraphicFramePr>
          <p:nvPr/>
        </p:nvGraphicFramePr>
        <p:xfrm>
          <a:off x="6012160" y="3975075"/>
          <a:ext cx="2232025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64" name="Equation" r:id="rId4" imgW="698400" imgH="393480" progId="Equation.3">
                  <p:embed/>
                </p:oleObj>
              </mc:Choice>
              <mc:Fallback>
                <p:oleObj name="Equation" r:id="rId4" imgW="6984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2160" y="3975075"/>
                        <a:ext cx="2232025" cy="1254125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/>
          <a:srcRect l="30003" t="8001" r="35993" b="1323"/>
          <a:stretch/>
        </p:blipFill>
        <p:spPr>
          <a:xfrm>
            <a:off x="539552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10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892480" cy="32316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sz="2400" dirty="0" smtClean="0">
              <a:solidFill>
                <a:prstClr val="black"/>
              </a:solidFill>
            </a:endParaRPr>
          </a:p>
          <a:p>
            <a:r>
              <a:rPr lang="he-IL" sz="2400" dirty="0" smtClean="0">
                <a:solidFill>
                  <a:prstClr val="black"/>
                </a:solidFill>
              </a:rPr>
              <a:t>ה. בקורס יש 100 תלמידים, כמה קיבלו בין 80-100? </a:t>
            </a:r>
          </a:p>
          <a:p>
            <a:endParaRPr lang="he-IL" sz="2400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400" dirty="0" smtClean="0">
                <a:solidFill>
                  <a:prstClr val="black"/>
                </a:solidFill>
              </a:rPr>
              <a:t>ו. מהו הציון ש-95% ממשתפי הקורס קיבלו ציון נמוך</a:t>
            </a:r>
          </a:p>
          <a:p>
            <a:pPr>
              <a:lnSpc>
                <a:spcPct val="150000"/>
              </a:lnSpc>
            </a:pPr>
            <a:r>
              <a:rPr lang="he-IL" sz="2400" dirty="0" smtClean="0">
                <a:solidFill>
                  <a:prstClr val="black"/>
                </a:solidFill>
              </a:rPr>
              <a:t>   ממנו? </a:t>
            </a: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prstClr val="black"/>
              </a:solidFill>
            </a:endParaRPr>
          </a:p>
          <a:p>
            <a:pPr algn="just"/>
            <a:endParaRPr lang="he-IL" sz="2400" u="sng" dirty="0" smtClean="0">
              <a:solidFill>
                <a:prstClr val="black"/>
              </a:solidFill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95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892480" cy="59862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3200" b="1" u="sng" dirty="0" smtClean="0">
                <a:solidFill>
                  <a:prstClr val="black"/>
                </a:solidFill>
              </a:rPr>
              <a:t>שאלה 8</a:t>
            </a:r>
            <a:endParaRPr lang="en-US" sz="3200" b="1" u="sng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600" b="1" dirty="0" smtClean="0">
                <a:solidFill>
                  <a:prstClr val="black"/>
                </a:solidFill>
              </a:rPr>
              <a:t>בבית הספר "ברושים" ישנם 200 תלמידים אשר גובהם מתפלג נורמלית עם ממוצע 190 ס"מ, וסטיית תקן של 4 ס"מ.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א. כמה תלמידים שגובהם מתחת ל- 186 ס"מ נצפה    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     למצוא בבית הספר?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ב. מהו אחוז התלמידים בבית הספר שגובהם בין 186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     ס"מ ל-194 ס"מ?</a:t>
            </a:r>
            <a:endParaRPr lang="he-IL" sz="2400" u="sng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ג. מהו אחוז התלמידים בבית הספר שגובהם בין 182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    ס"מ ל-198 ס"מ?</a:t>
            </a:r>
            <a:endParaRPr lang="he-IL" sz="2400" u="sng" dirty="0" smtClean="0">
              <a:solidFill>
                <a:prstClr val="black"/>
              </a:solidFill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29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496" y="44624"/>
            <a:ext cx="8892480" cy="59862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/>
            <a:r>
              <a:rPr lang="he-IL" sz="3200" b="1" u="sng" dirty="0" smtClean="0">
                <a:solidFill>
                  <a:prstClr val="black"/>
                </a:solidFill>
              </a:rPr>
              <a:t>שאלה 9</a:t>
            </a:r>
            <a:endParaRPr lang="en-US" sz="3200" b="1" u="sng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600" b="1" dirty="0" smtClean="0">
                <a:solidFill>
                  <a:prstClr val="black"/>
                </a:solidFill>
              </a:rPr>
              <a:t>תנובת החלב היומית של פרות מתפלגת נורמלית עם ממוצע של 10 ליטר וסטיית תקן של 2 ליטר.  </a:t>
            </a:r>
            <a:endParaRPr lang="he-IL" sz="2600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א. מהי ההסתברות שפרה שנבחרה באקראי תניב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    פחות מ-13 ליטר?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ב. מהי ההסתברות שהיא תניב יותר מ-13 ליטר?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ג. נבחרו 3 פרות באקראי. מהי ההסתברות שרק </a:t>
            </a:r>
          </a:p>
          <a:p>
            <a:pPr>
              <a:lnSpc>
                <a:spcPct val="150000"/>
              </a:lnSpc>
            </a:pPr>
            <a:r>
              <a:rPr lang="he-IL" sz="2600" dirty="0">
                <a:solidFill>
                  <a:prstClr val="black"/>
                </a:solidFill>
              </a:rPr>
              <a:t> </a:t>
            </a:r>
            <a:r>
              <a:rPr lang="he-IL" sz="2600" dirty="0" smtClean="0">
                <a:solidFill>
                  <a:prstClr val="black"/>
                </a:solidFill>
              </a:rPr>
              <a:t>   שתיים מהן תנבנה יותר מ-13 ליטר?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ד. מהו ערך תנובת החלב היומית ש-95% מהפרות </a:t>
            </a:r>
          </a:p>
          <a:p>
            <a:pPr>
              <a:lnSpc>
                <a:spcPct val="150000"/>
              </a:lnSpc>
            </a:pPr>
            <a:r>
              <a:rPr lang="he-IL" sz="2600" dirty="0" smtClean="0">
                <a:solidFill>
                  <a:prstClr val="black"/>
                </a:solidFill>
              </a:rPr>
              <a:t>    מניבות פחות ממנו?</a:t>
            </a: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0" y="219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1100" smtClean="0">
                <a:solidFill>
                  <a:prstClr val="black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he-IL" smtClean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8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התאמה אישית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9741</TotalTime>
  <Words>1005</Words>
  <Application>Microsoft Office PowerPoint</Application>
  <PresentationFormat>On-screen Show (4:3)</PresentationFormat>
  <Paragraphs>190</Paragraphs>
  <Slides>19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Calibri</vt:lpstr>
      <vt:lpstr>Symbol</vt:lpstr>
      <vt:lpstr>Tahoma</vt:lpstr>
      <vt:lpstr>Times New Roman</vt:lpstr>
      <vt:lpstr>ערכת נושא Office</vt:lpstr>
      <vt:lpstr>1_ערכת נושא Office</vt:lpstr>
      <vt:lpstr>2_ערכת נושא Office</vt:lpstr>
      <vt:lpstr>Equation</vt:lpstr>
      <vt:lpstr>מבוא לסטטיסטיקה והסתברות</vt:lpstr>
      <vt:lpstr>שאלה 1</vt:lpstr>
      <vt:lpstr>PowerPoint Presentation</vt:lpstr>
      <vt:lpstr>סוגי התפלגויות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Your Company 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סטטיסטיקה ב' - תרגיל</dc:title>
  <dc:creator>Yaara</dc:creator>
  <cp:lastModifiedBy>yaara s</cp:lastModifiedBy>
  <cp:revision>177</cp:revision>
  <dcterms:created xsi:type="dcterms:W3CDTF">2011-10-31T22:07:50Z</dcterms:created>
  <dcterms:modified xsi:type="dcterms:W3CDTF">2015-11-21T09:56:44Z</dcterms:modified>
</cp:coreProperties>
</file>