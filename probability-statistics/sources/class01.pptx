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21"/>
  </p:notesMasterIdLst>
  <p:sldIdLst>
    <p:sldId id="256" r:id="rId2"/>
    <p:sldId id="333" r:id="rId3"/>
    <p:sldId id="334" r:id="rId4"/>
    <p:sldId id="322" r:id="rId5"/>
    <p:sldId id="324" r:id="rId6"/>
    <p:sldId id="299" r:id="rId7"/>
    <p:sldId id="317" r:id="rId8"/>
    <p:sldId id="301" r:id="rId9"/>
    <p:sldId id="302" r:id="rId10"/>
    <p:sldId id="325" r:id="rId11"/>
    <p:sldId id="326" r:id="rId12"/>
    <p:sldId id="264" r:id="rId13"/>
    <p:sldId id="303" r:id="rId14"/>
    <p:sldId id="327" r:id="rId15"/>
    <p:sldId id="329" r:id="rId16"/>
    <p:sldId id="330" r:id="rId17"/>
    <p:sldId id="332" r:id="rId18"/>
    <p:sldId id="321" r:id="rId19"/>
    <p:sldId id="331" r:id="rId20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aara" initials="Y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ללא סגנון, ללא רשת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סגנון בהיר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4B1156A-380E-4F78-BDF5-A606A8083BF9}" styleName="סגנון ביניים 4 - הדגשה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סגנון ערכת נושא 1 - הדגשה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768" autoAdjust="0"/>
    <p:restoredTop sz="91086" autoAdjust="0"/>
  </p:normalViewPr>
  <p:slideViewPr>
    <p:cSldViewPr>
      <p:cViewPr varScale="1">
        <p:scale>
          <a:sx n="82" d="100"/>
          <a:sy n="82" d="100"/>
        </p:scale>
        <p:origin x="485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55949256342957"/>
          <c:y val="0.14814814814814814"/>
          <c:w val="0.80384951881014877"/>
          <c:h val="0.64628098571011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Sheet1!$D$3</c:f>
              <c:strCache>
                <c:ptCount val="1"/>
                <c:pt idx="0">
                  <c:v>שכיחות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Sheet1!$C$4:$C$9</c:f>
              <c:numCache>
                <c:formatCode>General</c:formatCode>
                <c:ptCount val="6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  <c:pt idx="4">
                  <c:v>26</c:v>
                </c:pt>
                <c:pt idx="5">
                  <c:v>27</c:v>
                </c:pt>
              </c:numCache>
            </c:numRef>
          </c:cat>
          <c:val>
            <c:numRef>
              <c:f>Sheet1!$D$4:$D$9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43832664"/>
        <c:axId val="243830312"/>
      </c:barChart>
      <c:catAx>
        <c:axId val="24383266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he-IL" b="1"/>
                  <a:t>גיל</a:t>
                </a:r>
                <a:endParaRPr lang="en-GB" b="1"/>
              </a:p>
            </c:rich>
          </c:tx>
          <c:layout>
            <c:manualLayout>
              <c:xMode val="edge"/>
              <c:yMode val="edge"/>
              <c:x val="0.46462379702537182"/>
              <c:y val="0.892569262175561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3830312"/>
        <c:crosses val="autoZero"/>
        <c:auto val="1"/>
        <c:lblAlgn val="ctr"/>
        <c:lblOffset val="100"/>
        <c:noMultiLvlLbl val="0"/>
      </c:catAx>
      <c:valAx>
        <c:axId val="243830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he-IL" b="1"/>
                  <a:t>שכיחות</a:t>
                </a:r>
                <a:endParaRPr lang="en-GB" b="1"/>
              </a:p>
            </c:rich>
          </c:tx>
          <c:layout>
            <c:manualLayout>
              <c:xMode val="edge"/>
              <c:yMode val="edge"/>
              <c:x val="2.6287878787878787E-2"/>
              <c:y val="0.3373432539682539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383266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559499999999999"/>
          <c:y val="0.13050925925925927"/>
          <c:w val="0.80384951881014877"/>
          <c:h val="0.64628098571011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Sheet1!$E$3</c:f>
              <c:strCache>
                <c:ptCount val="1"/>
                <c:pt idx="0">
                  <c:v>מצטברת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Sheet1!$C$4:$C$9</c:f>
              <c:numCache>
                <c:formatCode>General</c:formatCode>
                <c:ptCount val="6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  <c:pt idx="4">
                  <c:v>26</c:v>
                </c:pt>
                <c:pt idx="5">
                  <c:v>27</c:v>
                </c:pt>
              </c:numCache>
            </c:numRef>
          </c:cat>
          <c:val>
            <c:numRef>
              <c:f>Sheet1!$E$4:$E$9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9</c:v>
                </c:pt>
                <c:pt idx="5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43827568"/>
        <c:axId val="243831880"/>
      </c:barChart>
      <c:catAx>
        <c:axId val="2438275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he-IL" b="1"/>
                  <a:t>גיל</a:t>
                </a:r>
                <a:endParaRPr lang="en-GB" b="1"/>
              </a:p>
            </c:rich>
          </c:tx>
          <c:layout>
            <c:manualLayout>
              <c:xMode val="edge"/>
              <c:yMode val="edge"/>
              <c:x val="0.46462379702537182"/>
              <c:y val="0.892569262175561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3831880"/>
        <c:crosses val="autoZero"/>
        <c:auto val="1"/>
        <c:lblAlgn val="ctr"/>
        <c:lblOffset val="100"/>
        <c:noMultiLvlLbl val="0"/>
      </c:catAx>
      <c:valAx>
        <c:axId val="243831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he-IL" b="1"/>
                  <a:t>שכיחות מצטברת</a:t>
                </a:r>
                <a:endParaRPr lang="en-GB" b="1"/>
              </a:p>
            </c:rich>
          </c:tx>
          <c:layout>
            <c:manualLayout>
              <c:xMode val="edge"/>
              <c:yMode val="edge"/>
              <c:x val="5.5555555555555552E-2"/>
              <c:y val="0.2901079031787692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3827568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55949256342957"/>
          <c:y val="0.14814814814814814"/>
          <c:w val="0.80384951881014877"/>
          <c:h val="0.64628098571011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Sheet1!$F$3</c:f>
              <c:strCache>
                <c:ptCount val="1"/>
                <c:pt idx="0">
                  <c:v>יחסית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Sheet1!$C$4:$C$9</c:f>
              <c:numCache>
                <c:formatCode>General</c:formatCode>
                <c:ptCount val="6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25</c:v>
                </c:pt>
                <c:pt idx="4">
                  <c:v>26</c:v>
                </c:pt>
                <c:pt idx="5">
                  <c:v>27</c:v>
                </c:pt>
              </c:numCache>
            </c:numRef>
          </c:cat>
          <c:val>
            <c:numRef>
              <c:f>Sheet1!$F$4:$F$9</c:f>
              <c:numCache>
                <c:formatCode>General</c:formatCode>
                <c:ptCount val="6"/>
                <c:pt idx="0">
                  <c:v>0.2</c:v>
                </c:pt>
                <c:pt idx="1">
                  <c:v>0.2</c:v>
                </c:pt>
                <c:pt idx="2">
                  <c:v>0.1</c:v>
                </c:pt>
                <c:pt idx="3">
                  <c:v>0.1</c:v>
                </c:pt>
                <c:pt idx="4">
                  <c:v>0.3</c:v>
                </c:pt>
                <c:pt idx="5">
                  <c:v>0.1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43826784"/>
        <c:axId val="243830704"/>
      </c:barChart>
      <c:catAx>
        <c:axId val="2438267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he-IL" b="1"/>
                  <a:t>גיל</a:t>
                </a:r>
                <a:endParaRPr lang="en-GB" b="1"/>
              </a:p>
            </c:rich>
          </c:tx>
          <c:layout>
            <c:manualLayout>
              <c:xMode val="edge"/>
              <c:yMode val="edge"/>
              <c:x val="0.46462379702537182"/>
              <c:y val="0.892569262175561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3830704"/>
        <c:crosses val="autoZero"/>
        <c:auto val="1"/>
        <c:lblAlgn val="ctr"/>
        <c:lblOffset val="100"/>
        <c:noMultiLvlLbl val="0"/>
      </c:catAx>
      <c:valAx>
        <c:axId val="243830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he-IL" b="1"/>
                  <a:t>שכיחות יחסית</a:t>
                </a:r>
                <a:endParaRPr lang="en-GB" b="1"/>
              </a:p>
            </c:rich>
          </c:tx>
          <c:layout>
            <c:manualLayout>
              <c:xMode val="edge"/>
              <c:yMode val="edge"/>
              <c:x val="1.1416666666666667E-2"/>
              <c:y val="0.2136726851851851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3826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CEBD65CB-48E8-480E-A0E5-0F4F671C7C4B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US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5763812F-8A06-48A8-8436-7483109B6D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0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306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 smtClean="0"/>
              <a:t>במקרים שונים לא ניתן</a:t>
            </a:r>
            <a:r>
              <a:rPr lang="he-IL" baseline="0" dirty="0" smtClean="0"/>
              <a:t> לחשב </a:t>
            </a:r>
            <a:r>
              <a:rPr lang="he-IL" dirty="0" smtClean="0"/>
              <a:t>ממוצע חשבוני רגיל, או שהוא אינו מדד מספיק טוב (תצפיות חריגות, התפלגות לא סימטרית, בעיות יחס הפוך, קבוצות פתוחות).</a:t>
            </a:r>
          </a:p>
          <a:p>
            <a:r>
              <a:rPr lang="he-IL" dirty="0" smtClean="0"/>
              <a:t>החציון אינו רגיש לערכי קצה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5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 smtClean="0"/>
              <a:t>המידה</a:t>
            </a:r>
            <a:r>
              <a:rPr lang="he-IL" baseline="0" dirty="0" smtClean="0"/>
              <a:t> ומתקבל מס' לא שלם יש לעגל (באופן זהה עבור שני הרבעונים, ורק אם מס' הנתונים גדול) או לחשב ממוצע משוקלל.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826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78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 smtClean="0"/>
              <a:t>\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48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מציין מיקום של תמונת שקופית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מציין מיקום של הערות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he-IL" dirty="0" smtClean="0"/>
              <a:t>במקרים של גבול מדומה - נעשה תיקון כדי להגיע לגבול אמיתי, תוך הקפדה שלא פוגעים בנקודת המרכז של המחלקה המקובצת.</a:t>
            </a:r>
          </a:p>
        </p:txBody>
      </p:sp>
      <p:sp>
        <p:nvSpPr>
          <p:cNvPr id="21508" name="מציין מיקום של מספר שקופית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685F76-3B85-4FE0-9C75-AEF76F29C0CE}" type="slidenum">
              <a:rPr lang="he-IL" smtClean="0"/>
              <a:pPr/>
              <a:t>13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02053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894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994122"/>
          </a:xfrm>
        </p:spPr>
        <p:txBody>
          <a:bodyPr anchor="t">
            <a:normAutofit/>
          </a:bodyPr>
          <a:lstStyle>
            <a:lvl1pPr algn="ctr">
              <a:defRPr sz="2800" b="1" u="sng"/>
            </a:lvl1pPr>
          </a:lstStyle>
          <a:p>
            <a:r>
              <a:rPr lang="he-IL" dirty="0" smtClean="0"/>
              <a:t>לחץ כדי לערוך סגנון כותרת של תבנית בסיס</a:t>
            </a:r>
            <a:br>
              <a:rPr lang="he-IL" dirty="0" smtClean="0"/>
            </a:br>
            <a:endParaRPr lang="en-US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087591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600"/>
            </a:lvl1pPr>
            <a:lvl2pPr marL="742950" indent="-285750">
              <a:lnSpc>
                <a:spcPct val="150000"/>
              </a:lnSpc>
              <a:buFont typeface="Arial" panose="020B0604020202020204" pitchFamily="34" charset="0"/>
              <a:buChar char="•"/>
              <a:defRPr sz="2200"/>
            </a:lvl2pPr>
            <a:lvl3pPr>
              <a:lnSpc>
                <a:spcPct val="150000"/>
              </a:lnSpc>
              <a:defRPr sz="2200"/>
            </a:lvl3pPr>
            <a:lvl4pPr>
              <a:lnSpc>
                <a:spcPct val="150000"/>
              </a:lnSpc>
              <a:defRPr sz="2200"/>
            </a:lvl4pPr>
            <a:lvl5pPr>
              <a:lnSpc>
                <a:spcPct val="150000"/>
              </a:lnSpc>
              <a:defRPr sz="2200"/>
            </a:lvl5pPr>
          </a:lstStyle>
          <a:p>
            <a:pPr lvl="0"/>
            <a:r>
              <a:rPr lang="he-IL" dirty="0" smtClean="0"/>
              <a:t>לחץ כדי לערוך סגנונות טקסט של תבנית בסיס</a:t>
            </a:r>
          </a:p>
          <a:p>
            <a:pPr lvl="1"/>
            <a:r>
              <a:rPr lang="he-IL" dirty="0" smtClean="0"/>
              <a:t>רמה שנייה</a:t>
            </a:r>
          </a:p>
          <a:p>
            <a:pPr lvl="2"/>
            <a:r>
              <a:rPr lang="he-IL" dirty="0" smtClean="0"/>
              <a:t>רמה שלישית</a:t>
            </a:r>
          </a:p>
          <a:p>
            <a:pPr lvl="3"/>
            <a:r>
              <a:rPr lang="he-IL" dirty="0" smtClean="0"/>
              <a:t>רמה רביעית</a:t>
            </a:r>
          </a:p>
          <a:p>
            <a:pPr lvl="4"/>
            <a:r>
              <a:rPr lang="he-IL" dirty="0" smtClean="0"/>
              <a:t>רמה חמישית</a:t>
            </a:r>
            <a:endParaRPr lang="en-US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90666"/>
          </a:xfrm>
        </p:spPr>
        <p:txBody>
          <a:bodyPr anchor="t">
            <a:normAutofit/>
          </a:bodyPr>
          <a:lstStyle>
            <a:lvl1pPr algn="r">
              <a:defRPr sz="2800" b="1"/>
            </a:lvl1pPr>
          </a:lstStyle>
          <a:p>
            <a:r>
              <a:rPr lang="he-IL" dirty="0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dirty="0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37C78-363E-4A5D-BEBD-B88A33B7E228}" type="datetimeFigureOut">
              <a:rPr lang="en-US" smtClean="0"/>
              <a:pPr/>
              <a:t>10/10/2015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3568" y="83671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he-IL" sz="5200" b="1" u="sng" dirty="0" smtClean="0">
                <a:solidFill>
                  <a:schemeClr val="accent4"/>
                </a:solidFill>
                <a:latin typeface="Tahoma" pitchFamily="34" charset="0"/>
                <a:cs typeface="Tahoma" pitchFamily="34" charset="0"/>
              </a:rPr>
              <a:t>מבוא לסטטיסטיקה והסתברות</a:t>
            </a:r>
            <a:endParaRPr lang="en-US" sz="5200" b="1" u="sng" dirty="0">
              <a:solidFill>
                <a:schemeClr val="accent4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31640" y="2900536"/>
            <a:ext cx="6400800" cy="1752600"/>
          </a:xfrm>
        </p:spPr>
        <p:txBody>
          <a:bodyPr>
            <a:normAutofit/>
          </a:bodyPr>
          <a:lstStyle/>
          <a:p>
            <a:r>
              <a:rPr lang="he-IL" sz="3600" b="1" smtClean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תרגיל 1</a:t>
            </a:r>
            <a:endParaRPr lang="en-US" sz="3600" b="1" dirty="0">
              <a:solidFill>
                <a:schemeClr val="tx1"/>
              </a:solidFill>
              <a:latin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סטטיסטיקה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תחום ידע שעוסק באיסוף, ניתוח והצגה של נתונים כמותיים. </a:t>
            </a:r>
            <a:endParaRPr lang="he-IL" dirty="0" smtClean="0"/>
          </a:p>
          <a:p>
            <a:pPr lvl="1"/>
            <a:r>
              <a:rPr lang="he-IL" b="1" dirty="0" smtClean="0"/>
              <a:t>אוכלוסייה</a:t>
            </a:r>
            <a:r>
              <a:rPr lang="he-IL" dirty="0" smtClean="0"/>
              <a:t> – אוסף </a:t>
            </a:r>
            <a:r>
              <a:rPr lang="he-IL" dirty="0"/>
              <a:t>של </a:t>
            </a:r>
            <a:r>
              <a:rPr lang="he-IL" dirty="0" smtClean="0"/>
              <a:t>פריטים (למשל </a:t>
            </a:r>
            <a:r>
              <a:rPr lang="he-IL" dirty="0"/>
              <a:t>אוכלוסיית התלמידים בכיתה</a:t>
            </a:r>
            <a:r>
              <a:rPr lang="he-IL" dirty="0" smtClean="0"/>
              <a:t>)</a:t>
            </a:r>
          </a:p>
          <a:p>
            <a:pPr lvl="1"/>
            <a:r>
              <a:rPr lang="he-IL" b="1" dirty="0" smtClean="0"/>
              <a:t>מדגם</a:t>
            </a:r>
            <a:r>
              <a:rPr lang="he-IL" dirty="0" smtClean="0"/>
              <a:t> – פלח </a:t>
            </a:r>
            <a:r>
              <a:rPr lang="he-IL" dirty="0"/>
              <a:t>של </a:t>
            </a:r>
            <a:r>
              <a:rPr lang="he-IL" dirty="0" smtClean="0"/>
              <a:t>האוכלוסייה (למשל </a:t>
            </a:r>
            <a:r>
              <a:rPr lang="he-IL" dirty="0"/>
              <a:t>4 </a:t>
            </a:r>
            <a:r>
              <a:rPr lang="he-IL" dirty="0" smtClean="0"/>
              <a:t>סטודנטים מתוך כלל הכיתה/ רק </a:t>
            </a:r>
            <a:r>
              <a:rPr lang="he-IL" dirty="0"/>
              <a:t>הבנות וכו</a:t>
            </a:r>
            <a:r>
              <a:rPr lang="he-IL" dirty="0" smtClean="0"/>
              <a:t>')</a:t>
            </a:r>
            <a:endParaRPr lang="en-GB" dirty="0"/>
          </a:p>
        </p:txBody>
      </p:sp>
      <p:sp>
        <p:nvSpPr>
          <p:cNvPr id="5" name="Rounded Rectangle 4"/>
          <p:cNvSpPr/>
          <p:nvPr/>
        </p:nvSpPr>
        <p:spPr>
          <a:xfrm>
            <a:off x="1979712" y="5301208"/>
            <a:ext cx="1944216" cy="72008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 smtClean="0"/>
              <a:t>מדגם</a:t>
            </a:r>
            <a:endParaRPr lang="en-GB" dirty="0"/>
          </a:p>
        </p:txBody>
      </p:sp>
      <p:sp>
        <p:nvSpPr>
          <p:cNvPr id="6" name="Rounded Rectangle 5"/>
          <p:cNvSpPr/>
          <p:nvPr/>
        </p:nvSpPr>
        <p:spPr>
          <a:xfrm>
            <a:off x="5292080" y="5297354"/>
            <a:ext cx="1944216" cy="72008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 smtClean="0"/>
              <a:t>אוכלוסייה</a:t>
            </a:r>
            <a:endParaRPr lang="en-GB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139952" y="5517232"/>
            <a:ext cx="936104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39952" y="5805264"/>
            <a:ext cx="936104" cy="0"/>
          </a:xfrm>
          <a:prstGeom prst="straightConnector1">
            <a:avLst/>
          </a:prstGeom>
          <a:ln w="22225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919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סטטיסטיקה תיאורית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עוסקת בתיאור מאפיינים של אוכלוסייה או של מדגם. </a:t>
            </a:r>
            <a:r>
              <a:rPr lang="he-IL" u="sng" dirty="0" smtClean="0"/>
              <a:t>כלים:</a:t>
            </a:r>
          </a:p>
          <a:p>
            <a:pPr lvl="1"/>
            <a:r>
              <a:rPr lang="he-IL" dirty="0" smtClean="0"/>
              <a:t>טבלאות, גרפים</a:t>
            </a:r>
            <a:endParaRPr lang="he-IL" dirty="0"/>
          </a:p>
          <a:p>
            <a:pPr lvl="1"/>
            <a:r>
              <a:rPr lang="he-IL" dirty="0"/>
              <a:t>מדדים לנטייה מרכזית (למשל ממוצע, חציון)</a:t>
            </a:r>
          </a:p>
          <a:p>
            <a:pPr lvl="1"/>
            <a:r>
              <a:rPr lang="he-IL" dirty="0" smtClean="0"/>
              <a:t>מדדי </a:t>
            </a:r>
            <a:r>
              <a:rPr lang="he-IL" dirty="0"/>
              <a:t>מיקום </a:t>
            </a:r>
            <a:r>
              <a:rPr lang="he-IL" dirty="0" smtClean="0"/>
              <a:t>יחסי (למשל אחוזונים, ציוני תקן)</a:t>
            </a:r>
            <a:endParaRPr lang="he-IL" dirty="0"/>
          </a:p>
          <a:p>
            <a:pPr lvl="1"/>
            <a:r>
              <a:rPr lang="he-IL" dirty="0" smtClean="0"/>
              <a:t>מדדי פיזור (למשל שונות, טווח בינרבעוני)</a:t>
            </a:r>
          </a:p>
        </p:txBody>
      </p:sp>
    </p:spTree>
    <p:extLst>
      <p:ext uri="{BB962C8B-B14F-4D97-AF65-F5344CB8AC3E}">
        <p14:creationId xmlns:p14="http://schemas.microsoft.com/office/powerpoint/2010/main" val="2920099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lang="he-IL" b="1" u="sng" dirty="0" smtClean="0"/>
              <a:t>שאלה 1</a:t>
            </a:r>
            <a:br>
              <a:rPr lang="he-IL" b="1" u="sng" dirty="0" smtClean="0"/>
            </a:br>
            <a:r>
              <a:rPr lang="he-IL" sz="2600" b="0" u="none" dirty="0">
                <a:solidFill>
                  <a:prstClr val="black"/>
                </a:solidFill>
              </a:rPr>
              <a:t>להלן נתוני </a:t>
            </a:r>
            <a:r>
              <a:rPr lang="he-IL" sz="2600" b="0" u="none" dirty="0" smtClean="0">
                <a:solidFill>
                  <a:prstClr val="black"/>
                </a:solidFill>
              </a:rPr>
              <a:t>הגילאים של</a:t>
            </a:r>
            <a:r>
              <a:rPr lang="en-US" sz="2600" b="0" u="none" dirty="0" smtClean="0">
                <a:solidFill>
                  <a:prstClr val="black"/>
                </a:solidFill>
              </a:rPr>
              <a:t>10 </a:t>
            </a:r>
            <a:r>
              <a:rPr lang="he-IL" sz="2600" b="0" u="none" dirty="0" smtClean="0">
                <a:solidFill>
                  <a:prstClr val="black"/>
                </a:solidFill>
              </a:rPr>
              <a:t> סטודנטים</a:t>
            </a:r>
            <a:r>
              <a:rPr lang="he-IL" sz="2600" b="0" u="none" dirty="0">
                <a:solidFill>
                  <a:prstClr val="black"/>
                </a:solidFill>
              </a:rPr>
              <a:t>. בנה טבלת שכיחות שתכלול </a:t>
            </a:r>
            <a:r>
              <a:rPr lang="he-IL" sz="2600" b="0" u="none" dirty="0" smtClean="0">
                <a:solidFill>
                  <a:prstClr val="black"/>
                </a:solidFill>
              </a:rPr>
              <a:t>עבור כל גיל: שכיחות, שכיחות </a:t>
            </a:r>
            <a:r>
              <a:rPr lang="he-IL" sz="2600" b="0" u="none" dirty="0" smtClean="0">
                <a:solidFill>
                  <a:prstClr val="black"/>
                </a:solidFill>
              </a:rPr>
              <a:t>מצטברת, שכיחות יחסית ושכיחות יחסית מצטברת בשברים ובאחוזים</a:t>
            </a:r>
            <a:r>
              <a:rPr lang="en-US" sz="2600" b="0" u="none" dirty="0" smtClean="0">
                <a:solidFill>
                  <a:prstClr val="black"/>
                </a:solidFill>
              </a:rPr>
              <a:t/>
            </a:r>
            <a:br>
              <a:rPr lang="en-US" sz="2600" b="0" u="none" dirty="0" smtClean="0">
                <a:solidFill>
                  <a:prstClr val="black"/>
                </a:solidFill>
              </a:rPr>
            </a:br>
            <a:r>
              <a:rPr lang="he-IL" sz="2600" b="0" u="none" dirty="0" smtClean="0">
                <a:solidFill>
                  <a:prstClr val="black"/>
                </a:solidFill>
              </a:rPr>
              <a:t/>
            </a:r>
            <a:br>
              <a:rPr lang="he-IL" sz="2600" b="0" u="none" dirty="0" smtClean="0">
                <a:solidFill>
                  <a:prstClr val="black"/>
                </a:solidFill>
              </a:rPr>
            </a:br>
            <a:r>
              <a:rPr lang="en-US" sz="2600" b="0" dirty="0" smtClean="0">
                <a:solidFill>
                  <a:prstClr val="black"/>
                </a:solidFill>
              </a:rPr>
              <a:t>22, 22, 23, 23, 24, 25, 26, 26, 26, 27 </a:t>
            </a:r>
            <a:r>
              <a:rPr lang="he-IL" sz="2400" b="0" u="none" dirty="0">
                <a:solidFill>
                  <a:prstClr val="black"/>
                </a:solidFill>
              </a:rPr>
              <a:t/>
            </a:r>
            <a:br>
              <a:rPr lang="he-IL" sz="2400" b="0" u="none" dirty="0">
                <a:solidFill>
                  <a:prstClr val="black"/>
                </a:solidFill>
              </a:rPr>
            </a:br>
            <a:r>
              <a:rPr lang="he-IL" sz="2400" b="1" u="sng" dirty="0" smtClean="0"/>
              <a:t/>
            </a:r>
            <a:br>
              <a:rPr lang="he-IL" sz="2400" b="1" u="sng" dirty="0" smtClean="0"/>
            </a:br>
            <a:endParaRPr lang="en-GB" sz="2400" b="1" u="sng" dirty="0"/>
          </a:p>
        </p:txBody>
      </p:sp>
    </p:spTree>
    <p:extLst>
      <p:ext uri="{BB962C8B-B14F-4D97-AF65-F5344CB8AC3E}">
        <p14:creationId xmlns:p14="http://schemas.microsoft.com/office/powerpoint/2010/main" val="158281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7103555"/>
              </p:ext>
            </p:extLst>
          </p:nvPr>
        </p:nvGraphicFramePr>
        <p:xfrm>
          <a:off x="323528" y="598793"/>
          <a:ext cx="3960000" cy="25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6728788"/>
              </p:ext>
            </p:extLst>
          </p:nvPr>
        </p:nvGraphicFramePr>
        <p:xfrm>
          <a:off x="2483768" y="3717312"/>
          <a:ext cx="3960000" cy="25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2848632"/>
              </p:ext>
            </p:extLst>
          </p:nvPr>
        </p:nvGraphicFramePr>
        <p:xfrm>
          <a:off x="4644008" y="620968"/>
          <a:ext cx="3960000" cy="25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933357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מדדים לנטייה מרכזית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b="1" dirty="0" smtClean="0">
                <a:solidFill>
                  <a:srgbClr val="FF0000"/>
                </a:solidFill>
              </a:rPr>
              <a:t>שכיח: </a:t>
            </a:r>
            <a:r>
              <a:rPr lang="he-IL" dirty="0" smtClean="0"/>
              <a:t>הערך בעל השכיחות הגבוהה ביותר</a:t>
            </a:r>
            <a:endParaRPr lang="he-IL" b="1" dirty="0">
              <a:solidFill>
                <a:srgbClr val="FF0000"/>
              </a:solidFill>
            </a:endParaRPr>
          </a:p>
          <a:p>
            <a:endParaRPr lang="he-IL" b="1" dirty="0" smtClean="0">
              <a:solidFill>
                <a:srgbClr val="FF0000"/>
              </a:solidFill>
            </a:endParaRPr>
          </a:p>
          <a:p>
            <a:r>
              <a:rPr lang="he-IL" b="1" dirty="0" smtClean="0">
                <a:solidFill>
                  <a:srgbClr val="FF0000"/>
                </a:solidFill>
              </a:rPr>
              <a:t>ממוצע</a:t>
            </a:r>
            <a:r>
              <a:rPr lang="he-IL" dirty="0" smtClean="0">
                <a:solidFill>
                  <a:srgbClr val="FF0000"/>
                </a:solidFill>
              </a:rPr>
              <a:t>:</a:t>
            </a:r>
          </a:p>
          <a:p>
            <a:endParaRPr lang="he-IL" dirty="0" smtClean="0"/>
          </a:p>
          <a:p>
            <a:r>
              <a:rPr lang="he-IL" b="1" dirty="0" smtClean="0">
                <a:solidFill>
                  <a:srgbClr val="FF0000"/>
                </a:solidFill>
              </a:rPr>
              <a:t>חציון (</a:t>
            </a:r>
            <a:r>
              <a:rPr lang="en-US" b="1" dirty="0" smtClean="0">
                <a:solidFill>
                  <a:srgbClr val="FF0000"/>
                </a:solidFill>
              </a:rPr>
              <a:t>M</a:t>
            </a:r>
            <a:r>
              <a:rPr lang="he-IL" b="1" dirty="0" smtClean="0">
                <a:solidFill>
                  <a:srgbClr val="FF0000"/>
                </a:solidFill>
              </a:rPr>
              <a:t>)</a:t>
            </a:r>
            <a:r>
              <a:rPr lang="he-IL" dirty="0" smtClean="0"/>
              <a:t>: </a:t>
            </a:r>
          </a:p>
          <a:p>
            <a:pPr lvl="1"/>
            <a:r>
              <a:rPr lang="he-IL" dirty="0" smtClean="0"/>
              <a:t>אם </a:t>
            </a:r>
            <a:r>
              <a:rPr lang="en-US" dirty="0" smtClean="0"/>
              <a:t>n</a:t>
            </a:r>
            <a:r>
              <a:rPr lang="he-IL" dirty="0" smtClean="0"/>
              <a:t> אי זוגי: שווה לערך שבמקום </a:t>
            </a:r>
            <a:r>
              <a:rPr lang="en-US" dirty="0" smtClean="0"/>
              <a:t>(n+1)/2</a:t>
            </a:r>
            <a:endParaRPr lang="he-IL" dirty="0" smtClean="0"/>
          </a:p>
          <a:p>
            <a:pPr lvl="1"/>
            <a:r>
              <a:rPr lang="he-IL" dirty="0" smtClean="0"/>
              <a:t>אם </a:t>
            </a:r>
            <a:r>
              <a:rPr lang="en-US" dirty="0" smtClean="0"/>
              <a:t>n</a:t>
            </a:r>
            <a:r>
              <a:rPr lang="he-IL" dirty="0" smtClean="0"/>
              <a:t> זוגי: שווה לממוצע הערכים שבמיקום </a:t>
            </a:r>
            <a:r>
              <a:rPr lang="en-US" dirty="0" smtClean="0"/>
              <a:t>n/2</a:t>
            </a:r>
            <a:r>
              <a:rPr lang="he-IL" dirty="0" smtClean="0"/>
              <a:t> </a:t>
            </a:r>
            <a:r>
              <a:rPr lang="he-IL" dirty="0" smtClean="0"/>
              <a:t>ו</a:t>
            </a:r>
            <a:r>
              <a:rPr lang="he-IL" dirty="0" smtClean="0"/>
              <a:t>-</a:t>
            </a:r>
            <a:r>
              <a:rPr lang="en-US" dirty="0" smtClean="0"/>
              <a:t>n/2+1</a:t>
            </a:r>
            <a:r>
              <a:rPr lang="he-IL" dirty="0" smtClean="0"/>
              <a:t> </a:t>
            </a:r>
            <a:endParaRPr lang="he-IL" dirty="0" smtClean="0"/>
          </a:p>
          <a:p>
            <a:pPr lvl="1"/>
            <a:endParaRPr lang="he-IL" dirty="0" smtClean="0"/>
          </a:p>
          <a:p>
            <a:endParaRPr lang="en-US" dirty="0"/>
          </a:p>
        </p:txBody>
      </p:sp>
      <p:graphicFrame>
        <p:nvGraphicFramePr>
          <p:cNvPr id="675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9833874"/>
              </p:ext>
            </p:extLst>
          </p:nvPr>
        </p:nvGraphicFramePr>
        <p:xfrm>
          <a:off x="5220072" y="2060848"/>
          <a:ext cx="1368152" cy="1368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21" name="Equation" r:id="rId4" imgW="609480" imgH="609480" progId="Equation.3">
                  <p:embed/>
                </p:oleObj>
              </mc:Choice>
              <mc:Fallback>
                <p:oleObj name="Equation" r:id="rId4" imgW="609480" imgH="609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2060848"/>
                        <a:ext cx="1368152" cy="1368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 smtClean="0"/>
              <a:t>ממוצע לעומת חציון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7611408"/>
              </p:ext>
            </p:extLst>
          </p:nvPr>
        </p:nvGraphicFramePr>
        <p:xfrm>
          <a:off x="1115616" y="1628800"/>
          <a:ext cx="7344816" cy="366034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2448272"/>
                <a:gridCol w="2448272"/>
                <a:gridCol w="2448272"/>
              </a:tblGrid>
              <a:tr h="1586406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800" b="1" u="none" strike="noStrike" dirty="0">
                          <a:effectLst/>
                        </a:rPr>
                        <a:t>שנה</a:t>
                      </a:r>
                      <a:endParaRPr lang="he-IL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800" b="1" u="none" strike="noStrike" dirty="0">
                          <a:effectLst/>
                        </a:rPr>
                        <a:t>שכר ממוצע (ש"ח)</a:t>
                      </a:r>
                      <a:endParaRPr lang="he-IL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800" b="1" u="none" strike="noStrike" dirty="0">
                          <a:effectLst/>
                        </a:rPr>
                        <a:t>שכר חציוני (ש"ח)</a:t>
                      </a:r>
                      <a:endParaRPr lang="he-IL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</a:tr>
              <a:tr h="1036967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800" u="none" strike="noStrike" dirty="0">
                          <a:effectLst/>
                        </a:rPr>
                        <a:t>2009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620" marR="22860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800" u="none" strike="noStrike">
                          <a:effectLst/>
                        </a:rPr>
                        <a:t>7,070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620" marR="22860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800" u="none" strike="noStrike" dirty="0">
                          <a:effectLst/>
                        </a:rPr>
                        <a:t>4,807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620" marR="228600" marT="7620" marB="0" anchor="ctr"/>
                </a:tc>
              </a:tr>
              <a:tr h="1036967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800" u="none" strike="noStrike" dirty="0">
                          <a:effectLst/>
                        </a:rPr>
                        <a:t>2010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620" marR="22860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800" u="none" strike="noStrike">
                          <a:effectLst/>
                        </a:rPr>
                        <a:t>7,522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620" marR="22860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800" u="none" strike="noStrike" dirty="0">
                          <a:effectLst/>
                        </a:rPr>
                        <a:t>5,027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620" marR="228600" marT="7620" marB="0" anchor="ctr"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331640" y="3356992"/>
            <a:ext cx="2016224" cy="165618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896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מדדי פיזור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מציין מיקום תוכן 4"/>
          <p:cNvSpPr>
            <a:spLocks noGrp="1"/>
          </p:cNvSpPr>
          <p:nvPr>
            <p:ph idx="1"/>
          </p:nvPr>
        </p:nvSpPr>
        <p:spPr>
          <a:xfrm>
            <a:off x="0" y="1600200"/>
            <a:ext cx="8686800" cy="4525963"/>
          </a:xfrm>
        </p:spPr>
        <p:txBody>
          <a:bodyPr>
            <a:normAutofit/>
          </a:bodyPr>
          <a:lstStyle/>
          <a:p>
            <a:r>
              <a:rPr lang="he-IL" sz="2800" b="1" dirty="0" smtClean="0">
                <a:solidFill>
                  <a:srgbClr val="FF0000"/>
                </a:solidFill>
              </a:rPr>
              <a:t>אחוזונים: </a:t>
            </a:r>
            <a:r>
              <a:rPr lang="he-IL" sz="2800" dirty="0" smtClean="0"/>
              <a:t>אחוזון </a:t>
            </a:r>
            <a:r>
              <a:rPr lang="en-US" sz="2800" dirty="0" smtClean="0"/>
              <a:t>p</a:t>
            </a:r>
            <a:r>
              <a:rPr lang="he-IL" sz="2800" dirty="0" smtClean="0"/>
              <a:t> הוא הערך ש-</a:t>
            </a:r>
            <a:r>
              <a:rPr lang="en-US" sz="2800" dirty="0" smtClean="0"/>
              <a:t>p%</a:t>
            </a:r>
            <a:r>
              <a:rPr lang="he-IL" sz="2800" dirty="0" smtClean="0"/>
              <a:t> מהתצפיות קטנות ממנו. אחוזונים חשובים: </a:t>
            </a:r>
          </a:p>
          <a:p>
            <a:endParaRPr lang="he-IL" sz="2400" dirty="0" smtClean="0"/>
          </a:p>
          <a:p>
            <a:pPr lvl="2"/>
            <a:r>
              <a:rPr lang="he-IL" sz="2400" b="1" dirty="0" smtClean="0">
                <a:solidFill>
                  <a:srgbClr val="FF0000"/>
                </a:solidFill>
              </a:rPr>
              <a:t>אחוזון 25</a:t>
            </a:r>
            <a:r>
              <a:rPr lang="he-IL" sz="2400" dirty="0" smtClean="0">
                <a:solidFill>
                  <a:srgbClr val="FF0000"/>
                </a:solidFill>
              </a:rPr>
              <a:t>: </a:t>
            </a:r>
            <a:r>
              <a:rPr lang="he-IL" sz="2400" dirty="0" smtClean="0"/>
              <a:t>האיבר במקום ה-</a:t>
            </a:r>
            <a:r>
              <a:rPr lang="en-US" sz="2400" dirty="0" smtClean="0"/>
              <a:t>(n+1)/4</a:t>
            </a:r>
            <a:r>
              <a:rPr lang="he-IL" sz="2400" dirty="0" smtClean="0"/>
              <a:t> </a:t>
            </a:r>
          </a:p>
          <a:p>
            <a:pPr lvl="2"/>
            <a:endParaRPr lang="he-IL" sz="2400" dirty="0" smtClean="0"/>
          </a:p>
          <a:p>
            <a:pPr lvl="2"/>
            <a:r>
              <a:rPr lang="he-IL" sz="2400" b="1" dirty="0" smtClean="0">
                <a:solidFill>
                  <a:srgbClr val="FF0000"/>
                </a:solidFill>
              </a:rPr>
              <a:t>אחוזון 75: </a:t>
            </a:r>
            <a:r>
              <a:rPr lang="he-IL" sz="2400" dirty="0" smtClean="0"/>
              <a:t>האיבר במקום ה- </a:t>
            </a:r>
            <a:r>
              <a:rPr lang="en-US" sz="2400" dirty="0" smtClean="0"/>
              <a:t>3(n+1)/4</a:t>
            </a:r>
            <a:endParaRPr lang="he-IL" sz="2400" dirty="0" smtClean="0"/>
          </a:p>
          <a:p>
            <a:pPr lvl="2"/>
            <a:endParaRPr lang="he-IL" sz="2000" dirty="0" smtClean="0"/>
          </a:p>
          <a:p>
            <a:endParaRPr lang="he-IL" sz="2800" dirty="0" smtClean="0"/>
          </a:p>
          <a:p>
            <a:endParaRPr lang="he-IL" sz="2800" dirty="0" smtClean="0"/>
          </a:p>
          <a:p>
            <a:endParaRPr lang="he-IL" sz="2800" dirty="0" smtClean="0"/>
          </a:p>
          <a:p>
            <a:endParaRPr lang="he-IL" sz="2800" dirty="0" smtClean="0"/>
          </a:p>
          <a:p>
            <a:endParaRPr lang="he-IL" sz="2800" dirty="0" smtClean="0"/>
          </a:p>
          <a:p>
            <a:endParaRPr lang="he-IL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מדדי פיזור-המשך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מציין מיקום תוכן 4"/>
          <p:cNvSpPr>
            <a:spLocks noGrp="1"/>
          </p:cNvSpPr>
          <p:nvPr>
            <p:ph idx="1"/>
          </p:nvPr>
        </p:nvSpPr>
        <p:spPr>
          <a:xfrm>
            <a:off x="323528" y="1600200"/>
            <a:ext cx="8363272" cy="4525963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he-IL" sz="2800" b="1" dirty="0" smtClean="0">
                <a:solidFill>
                  <a:srgbClr val="FF0000"/>
                </a:solidFill>
              </a:rPr>
              <a:t>טווח: </a:t>
            </a:r>
            <a:r>
              <a:rPr lang="en-US" sz="2800" dirty="0" smtClean="0"/>
              <a:t>X max-X min</a:t>
            </a:r>
            <a:endParaRPr lang="he-IL" sz="2800" dirty="0" smtClean="0"/>
          </a:p>
          <a:p>
            <a:pPr>
              <a:lnSpc>
                <a:spcPct val="200000"/>
              </a:lnSpc>
            </a:pPr>
            <a:r>
              <a:rPr lang="he-IL" sz="2800" b="1" dirty="0" smtClean="0">
                <a:solidFill>
                  <a:srgbClr val="FF0000"/>
                </a:solidFill>
              </a:rPr>
              <a:t>טווח </a:t>
            </a:r>
            <a:r>
              <a:rPr lang="he-IL" sz="2800" b="1" dirty="0" err="1" smtClean="0">
                <a:solidFill>
                  <a:srgbClr val="FF0000"/>
                </a:solidFill>
              </a:rPr>
              <a:t>בינרבעוני</a:t>
            </a:r>
            <a:r>
              <a:rPr lang="he-IL" sz="2800" b="1" dirty="0" smtClean="0">
                <a:solidFill>
                  <a:srgbClr val="FF0000"/>
                </a:solidFill>
              </a:rPr>
              <a:t> (</a:t>
            </a:r>
            <a:r>
              <a:rPr lang="en-US" sz="2800" b="1" dirty="0" smtClean="0">
                <a:solidFill>
                  <a:srgbClr val="FF0000"/>
                </a:solidFill>
              </a:rPr>
              <a:t>IQR</a:t>
            </a:r>
            <a:r>
              <a:rPr lang="he-IL" sz="2800" b="1" dirty="0" smtClean="0">
                <a:solidFill>
                  <a:srgbClr val="FF0000"/>
                </a:solidFill>
              </a:rPr>
              <a:t>)</a:t>
            </a:r>
            <a:r>
              <a:rPr lang="he-IL" sz="2800" dirty="0" smtClean="0">
                <a:solidFill>
                  <a:srgbClr val="FF0000"/>
                </a:solidFill>
              </a:rPr>
              <a:t>: </a:t>
            </a:r>
            <a:r>
              <a:rPr lang="he-IL" sz="2800" dirty="0" smtClean="0"/>
              <a:t>רבעון שלישי – רבעון ראשון</a:t>
            </a:r>
            <a:endParaRPr lang="he-IL" sz="2800" dirty="0" smtClean="0">
              <a:solidFill>
                <a:srgbClr val="FF0000"/>
              </a:solidFill>
            </a:endParaRPr>
          </a:p>
          <a:p>
            <a:pPr>
              <a:lnSpc>
                <a:spcPct val="200000"/>
              </a:lnSpc>
            </a:pPr>
            <a:r>
              <a:rPr lang="he-IL" sz="2800" b="1" dirty="0" smtClean="0">
                <a:solidFill>
                  <a:srgbClr val="FF0000"/>
                </a:solidFill>
              </a:rPr>
              <a:t>שונות:</a:t>
            </a:r>
          </a:p>
          <a:p>
            <a:pPr>
              <a:lnSpc>
                <a:spcPct val="150000"/>
              </a:lnSpc>
            </a:pPr>
            <a:endParaRPr lang="he-IL" sz="28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he-IL" sz="2800" b="1" dirty="0" smtClean="0">
                <a:solidFill>
                  <a:srgbClr val="FF0000"/>
                </a:solidFill>
              </a:rPr>
              <a:t>סטיית תקן: </a:t>
            </a:r>
            <a:r>
              <a:rPr lang="he-IL" sz="2800" dirty="0" smtClean="0"/>
              <a:t>השורש הריבועי של השונות</a:t>
            </a:r>
          </a:p>
          <a:p>
            <a:pPr>
              <a:lnSpc>
                <a:spcPct val="150000"/>
              </a:lnSpc>
            </a:pPr>
            <a:endParaRPr lang="he-IL" sz="2800" dirty="0" smtClean="0"/>
          </a:p>
        </p:txBody>
      </p:sp>
      <p:graphicFrame>
        <p:nvGraphicFramePr>
          <p:cNvPr id="70658" name="Object 2"/>
          <p:cNvGraphicFramePr>
            <a:graphicFrameLocks noChangeAspect="1"/>
          </p:cNvGraphicFramePr>
          <p:nvPr/>
        </p:nvGraphicFramePr>
        <p:xfrm>
          <a:off x="3779913" y="3534895"/>
          <a:ext cx="2365976" cy="97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0" name="Equation" r:id="rId4" imgW="1079280" imgH="444240" progId="Equation.3">
                  <p:embed/>
                </p:oleObj>
              </mc:Choice>
              <mc:Fallback>
                <p:oleObj name="Equation" r:id="rId4" imgW="1079280" imgH="4442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3" y="3534895"/>
                        <a:ext cx="2365976" cy="97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u="sng" dirty="0" smtClean="0"/>
              <a:t>שאלה 2</a:t>
            </a:r>
            <a:r>
              <a:rPr lang="he-IL" dirty="0" smtClean="0"/>
              <a:t/>
            </a:r>
            <a:br>
              <a:rPr lang="he-IL" dirty="0" smtClean="0"/>
            </a:br>
            <a:r>
              <a:rPr lang="he-IL" b="0" dirty="0" smtClean="0"/>
              <a:t>בחברת סטארט-אפ 50 עובדים, שמשכורותיהם מחולקות על פי הטבלה הבאה:</a:t>
            </a:r>
            <a:br>
              <a:rPr lang="he-IL" b="0" dirty="0" smtClean="0"/>
            </a:br>
            <a:r>
              <a:rPr lang="he-IL" b="0" dirty="0"/>
              <a:t/>
            </a:r>
            <a:br>
              <a:rPr lang="he-IL" b="0" dirty="0"/>
            </a:br>
            <a:r>
              <a:rPr lang="he-IL" b="0" dirty="0" smtClean="0"/>
              <a:t/>
            </a:r>
            <a:br>
              <a:rPr lang="he-IL" b="0" dirty="0" smtClean="0"/>
            </a:br>
            <a:r>
              <a:rPr lang="he-IL" b="0" dirty="0"/>
              <a:t/>
            </a:r>
            <a:br>
              <a:rPr lang="he-IL" b="0" dirty="0"/>
            </a:br>
            <a:r>
              <a:rPr lang="he-IL" b="0" dirty="0" smtClean="0"/>
              <a:t/>
            </a:r>
            <a:br>
              <a:rPr lang="he-IL" b="0" dirty="0" smtClean="0"/>
            </a:br>
            <a:r>
              <a:rPr lang="he-IL" b="0" dirty="0"/>
              <a:t/>
            </a:r>
            <a:br>
              <a:rPr lang="he-IL" b="0" dirty="0"/>
            </a:br>
            <a:r>
              <a:rPr lang="he-IL" b="0" dirty="0" smtClean="0"/>
              <a:t/>
            </a:r>
            <a:br>
              <a:rPr lang="he-IL" b="0" dirty="0" smtClean="0"/>
            </a:br>
            <a:r>
              <a:rPr lang="he-IL" b="0" dirty="0" smtClean="0"/>
              <a:t>חשבו שכיח, </a:t>
            </a:r>
            <a:r>
              <a:rPr lang="he-IL" b="0" dirty="0"/>
              <a:t>ממוצע</a:t>
            </a:r>
            <a:r>
              <a:rPr lang="he-IL" b="0" dirty="0" smtClean="0"/>
              <a:t>, </a:t>
            </a:r>
            <a:r>
              <a:rPr lang="he-IL" b="0" dirty="0" smtClean="0"/>
              <a:t>סטיית תקן, </a:t>
            </a:r>
            <a:r>
              <a:rPr lang="he-IL" b="0" dirty="0" smtClean="0"/>
              <a:t>חציון</a:t>
            </a:r>
            <a:r>
              <a:rPr lang="he-IL" b="0" dirty="0" smtClean="0"/>
              <a:t>, רבעון שלישי, רבעון ראשון, וטווח בין רבעוני</a:t>
            </a:r>
            <a:endParaRPr lang="en-GB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145779"/>
              </p:ext>
            </p:extLst>
          </p:nvPr>
        </p:nvGraphicFramePr>
        <p:xfrm>
          <a:off x="683568" y="2060848"/>
          <a:ext cx="7848871" cy="155135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189223"/>
                <a:gridCol w="1189223"/>
                <a:gridCol w="1189223"/>
                <a:gridCol w="1189223"/>
                <a:gridCol w="1189223"/>
                <a:gridCol w="1902756"/>
              </a:tblGrid>
              <a:tr h="775675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2400" b="1" u="none" strike="noStrike">
                          <a:effectLst/>
                        </a:rPr>
                        <a:t>60-100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2400" b="1" u="none" strike="noStrike">
                          <a:effectLst/>
                        </a:rPr>
                        <a:t>20-60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2400" b="1" u="none" strike="noStrike">
                          <a:effectLst/>
                        </a:rPr>
                        <a:t>12-20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2400" b="1" u="none" strike="noStrike">
                          <a:effectLst/>
                        </a:rPr>
                        <a:t>10-12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2400" b="1" u="none" strike="noStrike" dirty="0">
                          <a:effectLst/>
                        </a:rPr>
                        <a:t>5-10</a:t>
                      </a:r>
                      <a:endParaRPr lang="en-GB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2400" b="1" u="none" strike="noStrike" dirty="0">
                          <a:effectLst/>
                        </a:rPr>
                        <a:t>משכורת באש"ח</a:t>
                      </a:r>
                      <a:endParaRPr lang="he-IL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  <a:tr h="775675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2400" u="none" strike="noStrike">
                          <a:effectLst/>
                        </a:rPr>
                        <a:t>2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2400" u="none" strike="noStrike">
                          <a:effectLst/>
                        </a:rPr>
                        <a:t>8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2400" u="none" strike="noStrike">
                          <a:effectLst/>
                        </a:rPr>
                        <a:t>10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2400" u="none" strike="noStrike">
                          <a:effectLst/>
                        </a:rPr>
                        <a:t>10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2400" u="none" strike="noStrike">
                          <a:effectLst/>
                        </a:rPr>
                        <a:t>20</a:t>
                      </a:r>
                      <a:endParaRPr lang="en-GB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2400" u="none" strike="noStrike" dirty="0">
                          <a:effectLst/>
                        </a:rPr>
                        <a:t>מס' עובדים</a:t>
                      </a:r>
                      <a:endParaRPr lang="he-IL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5247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חישוב אחוזונים מטבלת שכיחות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712" y="1268760"/>
            <a:ext cx="8229600" cy="5087591"/>
          </a:xfrm>
        </p:spPr>
        <p:txBody>
          <a:bodyPr/>
          <a:lstStyle/>
          <a:p>
            <a:endParaRPr lang="he-IL" dirty="0" smtClean="0"/>
          </a:p>
          <a:p>
            <a:endParaRPr lang="he-IL" dirty="0"/>
          </a:p>
          <a:p>
            <a:endParaRPr lang="he-IL" dirty="0" smtClean="0"/>
          </a:p>
          <a:p>
            <a:endParaRPr lang="he-IL" dirty="0" smtClean="0"/>
          </a:p>
          <a:p>
            <a:endParaRPr lang="he-IL" dirty="0"/>
          </a:p>
          <a:p>
            <a:pPr marL="0" indent="0">
              <a:buNone/>
            </a:pPr>
            <a:r>
              <a:rPr lang="he-IL" dirty="0" smtClean="0"/>
              <a:t>* חציון = אחוזון 50</a:t>
            </a:r>
            <a:endParaRPr lang="en-GB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795308" y="1772692"/>
            <a:ext cx="15216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he-IL" b="1" dirty="0">
                <a:cs typeface="David" pitchFamily="2" charset="-79"/>
              </a:rPr>
              <a:t> </a:t>
            </a:r>
            <a:r>
              <a:rPr lang="en-US" b="1" dirty="0">
                <a:cs typeface="David" pitchFamily="2" charset="-79"/>
              </a:rPr>
              <a:t> </a:t>
            </a:r>
            <a:r>
              <a:rPr lang="en-US" sz="2400" b="1" dirty="0">
                <a:cs typeface="David" pitchFamily="2" charset="-79"/>
              </a:rPr>
              <a:t>=</a:t>
            </a:r>
            <a:r>
              <a:rPr lang="en-US" b="1" dirty="0">
                <a:cs typeface="David" pitchFamily="2" charset="-79"/>
              </a:rPr>
              <a:t> </a:t>
            </a:r>
            <a:r>
              <a:rPr lang="he-IL" sz="2400" b="1" dirty="0" smtClean="0">
                <a:cs typeface="David" pitchFamily="2" charset="-79"/>
              </a:rPr>
              <a:t>אחוזון</a:t>
            </a:r>
            <a:endParaRPr lang="en-US" sz="2400" b="1" dirty="0">
              <a:cs typeface="David" pitchFamily="2" charset="-79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2174051" y="1556792"/>
            <a:ext cx="136683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e-IL" dirty="0">
                <a:cs typeface="David" pitchFamily="2" charset="-79"/>
              </a:rPr>
              <a:t>גבול תחתון של קבוצת </a:t>
            </a:r>
            <a:r>
              <a:rPr lang="he-IL" dirty="0" smtClean="0">
                <a:cs typeface="David" pitchFamily="2" charset="-79"/>
              </a:rPr>
              <a:t>האחוזון</a:t>
            </a:r>
            <a:endParaRPr lang="en-US" dirty="0">
              <a:cs typeface="David" pitchFamily="2" charset="-79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3613914" y="1772692"/>
            <a:ext cx="5032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+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4117151" y="1629817"/>
            <a:ext cx="18732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he-IL" dirty="0">
                <a:cs typeface="David" pitchFamily="2" charset="-79"/>
              </a:rPr>
              <a:t>מרווח קב' </a:t>
            </a:r>
            <a:r>
              <a:rPr lang="he-IL" dirty="0" smtClean="0">
                <a:cs typeface="David" pitchFamily="2" charset="-79"/>
              </a:rPr>
              <a:t>האחוזון</a:t>
            </a:r>
            <a:endParaRPr lang="en-US" dirty="0">
              <a:cs typeface="David" pitchFamily="2" charset="-79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4261614" y="1988592"/>
            <a:ext cx="16557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3974276" y="2061617"/>
            <a:ext cx="1943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e-IL" dirty="0">
                <a:cs typeface="David" pitchFamily="2" charset="-79"/>
              </a:rPr>
              <a:t>שכיחות קב' </a:t>
            </a:r>
            <a:r>
              <a:rPr lang="he-IL" dirty="0" smtClean="0">
                <a:cs typeface="David" pitchFamily="2" charset="-79"/>
              </a:rPr>
              <a:t>אחוזון</a:t>
            </a:r>
            <a:endParaRPr lang="en-US" dirty="0">
              <a:cs typeface="David" pitchFamily="2" charset="-79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990401" y="1629817"/>
            <a:ext cx="3587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400"/>
              <a:t>[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6133276" y="1701255"/>
            <a:ext cx="100806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he-IL" dirty="0">
                <a:cs typeface="David" pitchFamily="2" charset="-79"/>
              </a:rPr>
              <a:t>מיקום </a:t>
            </a:r>
            <a:r>
              <a:rPr lang="he-IL" dirty="0" smtClean="0">
                <a:cs typeface="David" pitchFamily="2" charset="-79"/>
              </a:rPr>
              <a:t>האחוזון</a:t>
            </a:r>
            <a:endParaRPr lang="en-US" dirty="0">
              <a:cs typeface="David" pitchFamily="2" charset="-79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7069901" y="1772692"/>
            <a:ext cx="43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e-IL" sz="2400"/>
              <a:t>-</a:t>
            </a:r>
            <a:endParaRPr lang="en-US" sz="2400"/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7214364" y="1413917"/>
            <a:ext cx="115252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e-IL">
                <a:cs typeface="David" pitchFamily="2" charset="-79"/>
              </a:rPr>
              <a:t>שכיחות מצטברת קבוצות קודמות</a:t>
            </a:r>
            <a:endParaRPr lang="en-US">
              <a:cs typeface="David" pitchFamily="2" charset="-79"/>
            </a:endParaRP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8509764" y="1629817"/>
            <a:ext cx="2159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e-IL" sz="4400"/>
              <a:t>[</a:t>
            </a:r>
            <a:endParaRPr lang="en-US" sz="4400"/>
          </a:p>
        </p:txBody>
      </p:sp>
    </p:spTree>
    <p:extLst>
      <p:ext uri="{BB962C8B-B14F-4D97-AF65-F5344CB8AC3E}">
        <p14:creationId xmlns:p14="http://schemas.microsoft.com/office/powerpoint/2010/main" val="486373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4016" y="44624"/>
            <a:ext cx="8748464" cy="280076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/>
            <a:r>
              <a:rPr lang="he-IL" sz="3200" b="1" u="sng" dirty="0" smtClean="0"/>
              <a:t>שאלה 3</a:t>
            </a:r>
          </a:p>
          <a:p>
            <a:pPr algn="just">
              <a:lnSpc>
                <a:spcPct val="150000"/>
              </a:lnSpc>
            </a:pPr>
            <a:r>
              <a:rPr lang="he-IL" sz="3200" dirty="0" smtClean="0"/>
              <a:t>מצ"ב נתוני התפלגות לפי גילאים של מס' הצופים בתוכנית טלוויזיה כלשהי.</a:t>
            </a:r>
          </a:p>
          <a:p>
            <a:pPr algn="just">
              <a:lnSpc>
                <a:spcPct val="150000"/>
              </a:lnSpc>
            </a:pPr>
            <a:r>
              <a:rPr lang="he-IL" sz="3200" dirty="0" smtClean="0"/>
              <a:t>מצא ממוצע, שונות, חציון, וטווח בין רבעוני</a:t>
            </a:r>
          </a:p>
        </p:txBody>
      </p:sp>
      <p:graphicFrame>
        <p:nvGraphicFramePr>
          <p:cNvPr id="5" name="Group 38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789752015"/>
              </p:ext>
            </p:extLst>
          </p:nvPr>
        </p:nvGraphicFramePr>
        <p:xfrm>
          <a:off x="3203848" y="2996952"/>
          <a:ext cx="3528392" cy="3549962"/>
        </p:xfrm>
        <a:graphic>
          <a:graphicData uri="http://schemas.openxmlformats.org/drawingml/2006/table">
            <a:tbl>
              <a:tblPr rtl="1">
                <a:tableStyleId>{775DCB02-9BB8-47FD-8907-85C794F793BA}</a:tableStyleId>
              </a:tblPr>
              <a:tblGrid>
                <a:gridCol w="1764196"/>
                <a:gridCol w="1764196"/>
              </a:tblGrid>
              <a:tr h="407043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טווח גילאים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cs typeface="+mn-cs"/>
                        </a:rPr>
                        <a:t>מס' צופים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</a:tr>
              <a:tr h="450503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10-14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</a:tr>
              <a:tr h="448736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15-19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300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</a:tr>
              <a:tr h="448736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20-24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800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</a:tr>
              <a:tr h="448736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25-29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1,100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</a:tr>
              <a:tr h="448736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30-34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1,700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</a:tr>
              <a:tr h="448736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35-39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2,200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</a:tr>
              <a:tr h="448736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40-44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1,400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ahoma" pitchFamily="34" charset="0"/>
                      </a:endParaRPr>
                    </a:p>
                  </a:txBody>
                  <a:tcPr horzOverflow="overflow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he-IL" b="1" dirty="0" smtClean="0"/>
              <a:t>חלוקה למחלקות מקובצות</a:t>
            </a:r>
            <a:endParaRPr lang="en-US" b="1" dirty="0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eaLnBrk="1" hangingPunct="1"/>
            <a:r>
              <a:rPr lang="he-IL" sz="2800" b="1" dirty="0" smtClean="0"/>
              <a:t>גבול אמיתי:</a:t>
            </a:r>
            <a:r>
              <a:rPr lang="he-IL" sz="2800" dirty="0" smtClean="0"/>
              <a:t> מקרה בו הגבול העליון של כל מחלקה מתלכד עם הגבול התחתון של המחלקה מעל (פרט למחלקה העליונה)</a:t>
            </a:r>
          </a:p>
          <a:p>
            <a:pPr eaLnBrk="1" hangingPunct="1"/>
            <a:r>
              <a:rPr lang="he-IL" sz="2800" b="1" dirty="0" smtClean="0"/>
              <a:t>גבול מדומה:</a:t>
            </a:r>
            <a:r>
              <a:rPr lang="he-IL" sz="2800" dirty="0" smtClean="0"/>
              <a:t> מקרה בו הגבול העליון אינו מתלכד עם הגבול התחתון של המחלקה מעל</a:t>
            </a:r>
          </a:p>
          <a:p>
            <a:pPr marL="514350" indent="0">
              <a:buNone/>
            </a:pPr>
            <a:endParaRPr lang="he-IL" sz="2800" dirty="0" smtClean="0"/>
          </a:p>
          <a:p>
            <a:pPr marL="514350" indent="0">
              <a:buNone/>
            </a:pPr>
            <a:r>
              <a:rPr lang="he-IL" sz="2800" b="1" dirty="0" smtClean="0">
                <a:solidFill>
                  <a:srgbClr val="FF0000"/>
                </a:solidFill>
              </a:rPr>
              <a:t>לצורך חישוב אחוזונים יש לקבוע גבולות אמיתיים למחלקות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he-IL" u="sng" dirty="0" smtClean="0"/>
              <a:t>שאלה 4</a:t>
            </a:r>
            <a:r>
              <a:rPr lang="he-IL" dirty="0" smtClean="0"/>
              <a:t/>
            </a:r>
            <a:br>
              <a:rPr lang="he-IL" dirty="0" smtClean="0"/>
            </a:br>
            <a:r>
              <a:rPr lang="he-IL" b="0" dirty="0" smtClean="0"/>
              <a:t>נתונים ציונים של 5 סטודנטים בקורס סטטיסטיקה</a:t>
            </a:r>
            <a:br>
              <a:rPr lang="he-IL" b="0" dirty="0" smtClean="0"/>
            </a:br>
            <a:r>
              <a:rPr lang="he-IL" b="0" dirty="0"/>
              <a:t/>
            </a:r>
            <a:br>
              <a:rPr lang="he-IL" b="0" dirty="0"/>
            </a:br>
            <a:r>
              <a:rPr lang="he-IL" b="0" dirty="0" smtClean="0"/>
              <a:t>95</a:t>
            </a:r>
            <a:r>
              <a:rPr lang="he-IL" b="0" dirty="0"/>
              <a:t>	</a:t>
            </a:r>
            <a:r>
              <a:rPr lang="he-IL" b="0" dirty="0" smtClean="0"/>
              <a:t>87</a:t>
            </a:r>
            <a:r>
              <a:rPr lang="he-IL" b="0" dirty="0"/>
              <a:t>	76	70	62	60</a:t>
            </a:r>
            <a:br>
              <a:rPr lang="he-IL" b="0" dirty="0"/>
            </a:br>
            <a:r>
              <a:rPr lang="he-IL" b="0" dirty="0" smtClean="0"/>
              <a:t/>
            </a:r>
            <a:br>
              <a:rPr lang="he-IL" b="0" dirty="0" smtClean="0"/>
            </a:br>
            <a:r>
              <a:rPr lang="he-IL" b="0" dirty="0" smtClean="0"/>
              <a:t>א. חשבו ממוצע, שונות וסטיית תקן</a:t>
            </a:r>
            <a:br>
              <a:rPr lang="he-IL" b="0" dirty="0" smtClean="0"/>
            </a:br>
            <a:r>
              <a:rPr lang="he-IL" b="0" dirty="0" smtClean="0"/>
              <a:t>ב. מה יקרה לממוצע ולס.ת אם המרצה ייתן לכל הסטודנטים פקטור של 5 נקודות?</a:t>
            </a:r>
            <a:br>
              <a:rPr lang="he-IL" b="0" dirty="0" smtClean="0"/>
            </a:br>
            <a:r>
              <a:rPr lang="he-IL" b="0" dirty="0" smtClean="0"/>
              <a:t>ג. מה יקרה לממוצע ולס.ת אם המרצה ייתן לכל הסטודנטים פקטור של 5%?</a:t>
            </a:r>
            <a:r>
              <a:rPr lang="he-IL" b="0" dirty="0"/>
              <a:t/>
            </a:r>
            <a:br>
              <a:rPr lang="he-IL" b="0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4359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השפעת טרנספורמציות לינאריות על הממוצע, השונות, וסטיית התקן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מציין מיקום תוכן 4"/>
          <p:cNvSpPr>
            <a:spLocks noGrp="1"/>
          </p:cNvSpPr>
          <p:nvPr>
            <p:ph idx="1"/>
          </p:nvPr>
        </p:nvSpPr>
        <p:spPr>
          <a:xfrm>
            <a:off x="323528" y="1600200"/>
            <a:ext cx="8363272" cy="45259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he-IL" sz="2800" b="1" dirty="0" smtClean="0"/>
              <a:t>הוספה של קבוע:</a:t>
            </a:r>
            <a:r>
              <a:rPr lang="he-IL" sz="2800" dirty="0"/>
              <a:t> </a:t>
            </a:r>
            <a:endParaRPr lang="he-IL" sz="2800" dirty="0" smtClean="0"/>
          </a:p>
          <a:p>
            <a:pPr lvl="1"/>
            <a:r>
              <a:rPr lang="he-IL" sz="2800" dirty="0" smtClean="0"/>
              <a:t>ערך הממוצע גדל בגודל הקבוע</a:t>
            </a:r>
          </a:p>
          <a:p>
            <a:pPr lvl="1"/>
            <a:r>
              <a:rPr lang="he-IL" sz="2800" dirty="0" smtClean="0"/>
              <a:t>סטיית התקן והשונות לא משתנים</a:t>
            </a:r>
          </a:p>
          <a:p>
            <a:r>
              <a:rPr lang="he-IL" sz="2800" b="1" dirty="0" smtClean="0"/>
              <a:t>הכפלה בקבוע:</a:t>
            </a:r>
          </a:p>
          <a:p>
            <a:pPr lvl="1"/>
            <a:r>
              <a:rPr lang="he-IL" sz="2800" dirty="0" smtClean="0"/>
              <a:t>ערך הממוצע מוכפל בגודל הקבוע</a:t>
            </a:r>
          </a:p>
          <a:p>
            <a:pPr lvl="1"/>
            <a:r>
              <a:rPr lang="he-IL" sz="2800" dirty="0" smtClean="0"/>
              <a:t>ערך סטיית התקן מוכפל בגודל הקבוע</a:t>
            </a:r>
          </a:p>
          <a:p>
            <a:pPr lvl="1"/>
            <a:r>
              <a:rPr lang="he-IL" sz="2800" dirty="0" smtClean="0"/>
              <a:t>ערך השונות מוכפל בגודל הקבוע בריבוע</a:t>
            </a:r>
          </a:p>
          <a:p>
            <a:pPr lvl="1"/>
            <a:endParaRPr lang="he-IL" sz="2800" dirty="0" smtClean="0"/>
          </a:p>
        </p:txBody>
      </p:sp>
    </p:spTree>
    <p:extLst>
      <p:ext uri="{BB962C8B-B14F-4D97-AF65-F5344CB8AC3E}">
        <p14:creationId xmlns:p14="http://schemas.microsoft.com/office/powerpoint/2010/main" val="1197075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e-IL" u="sng" dirty="0" smtClean="0"/>
              <a:t>שאלה </a:t>
            </a:r>
            <a:r>
              <a:rPr lang="en-US" u="sng" dirty="0" smtClean="0"/>
              <a:t>5</a:t>
            </a:r>
            <a:r>
              <a:rPr lang="he-IL" dirty="0" smtClean="0"/>
              <a:t/>
            </a:r>
            <a:br>
              <a:rPr lang="he-IL" dirty="0" smtClean="0"/>
            </a:br>
            <a:r>
              <a:rPr lang="he-IL" b="0" dirty="0" smtClean="0"/>
              <a:t>נתונים הערכים </a:t>
            </a:r>
            <a:r>
              <a:rPr lang="en-US" b="0" dirty="0" smtClean="0"/>
              <a:t>6, 8, 14, 4, 7, 9</a:t>
            </a:r>
            <a:r>
              <a:rPr lang="he-IL" b="0" dirty="0" smtClean="0"/>
              <a:t/>
            </a:r>
            <a:br>
              <a:rPr lang="he-IL" b="0" dirty="0" smtClean="0"/>
            </a:br>
            <a:r>
              <a:rPr lang="en-US" b="0" dirty="0" smtClean="0"/>
              <a:t/>
            </a:r>
            <a:br>
              <a:rPr lang="en-US" b="0" dirty="0" smtClean="0"/>
            </a:br>
            <a:r>
              <a:rPr lang="he-IL" b="0" dirty="0" smtClean="0"/>
              <a:t>א. חשבו את הממוצע ואת סכום המרחקים של הערכים מהממוצע</a:t>
            </a:r>
            <a:r>
              <a:rPr lang="he-IL" dirty="0" smtClean="0"/>
              <a:t/>
            </a:r>
            <a:br>
              <a:rPr lang="he-IL" dirty="0" smtClean="0"/>
            </a:br>
            <a:r>
              <a:rPr lang="he-IL" b="0" dirty="0" smtClean="0"/>
              <a:t>ב. הוכיחו כי הממוצע הוא תמיד הערך שסכום המרחקים של הנתונים ממנו שווה לאפס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9651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e-IL" u="sng" dirty="0" smtClean="0"/>
              <a:t>שאלה 6</a:t>
            </a:r>
            <a:r>
              <a:rPr lang="he-IL" dirty="0" smtClean="0"/>
              <a:t/>
            </a:r>
            <a:br>
              <a:rPr lang="he-IL" dirty="0" smtClean="0"/>
            </a:br>
            <a:r>
              <a:rPr lang="he-IL" b="0" dirty="0" smtClean="0"/>
              <a:t>להלן הנוסחה המקוצרת לשונות: </a:t>
            </a:r>
            <a:br>
              <a:rPr lang="he-IL" b="0" dirty="0" smtClean="0"/>
            </a:br>
            <a:r>
              <a:rPr lang="he-IL" b="0" dirty="0"/>
              <a:t/>
            </a:r>
            <a:br>
              <a:rPr lang="he-IL" b="0" dirty="0"/>
            </a:br>
            <a:r>
              <a:rPr lang="en-US" b="0" dirty="0" smtClean="0"/>
              <a:t/>
            </a:r>
            <a:br>
              <a:rPr lang="en-US" b="0" dirty="0" smtClean="0"/>
            </a:br>
            <a:r>
              <a:rPr lang="he-IL" b="0" dirty="0" smtClean="0"/>
              <a:t>הוכיחו כי נוסחה זו נובעת מנוסחת השונות המלאה </a:t>
            </a:r>
            <a:br>
              <a:rPr lang="he-IL" b="0" dirty="0" smtClean="0"/>
            </a:br>
            <a:endParaRPr lang="en-GB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8349270"/>
              </p:ext>
            </p:extLst>
          </p:nvPr>
        </p:nvGraphicFramePr>
        <p:xfrm>
          <a:off x="899592" y="836712"/>
          <a:ext cx="2252663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4" name="Equation" r:id="rId3" imgW="1028520" imgH="444240" progId="Equation.3">
                  <p:embed/>
                </p:oleObj>
              </mc:Choice>
              <mc:Fallback>
                <p:oleObj name="Equation" r:id="rId3" imgW="10285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836712"/>
                        <a:ext cx="2252663" cy="97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3779495"/>
              </p:ext>
            </p:extLst>
          </p:nvPr>
        </p:nvGraphicFramePr>
        <p:xfrm>
          <a:off x="3722688" y="3983038"/>
          <a:ext cx="2392362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5" name="Equation" r:id="rId5" imgW="1091880" imgH="431640" progId="Equation.3">
                  <p:embed/>
                </p:oleObj>
              </mc:Choice>
              <mc:Fallback>
                <p:oleObj name="Equation" r:id="rId5" imgW="10918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688" y="3983038"/>
                        <a:ext cx="2392362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121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שאלה 7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להלן ממוצעים ושונויות של ציוני בגרות במתמטיקה ובאנגלית בכיתה של 40 תלמידים</a:t>
            </a:r>
          </a:p>
          <a:p>
            <a:endParaRPr lang="he-IL" dirty="0"/>
          </a:p>
          <a:p>
            <a:endParaRPr lang="he-IL" dirty="0" smtClean="0"/>
          </a:p>
          <a:p>
            <a:r>
              <a:rPr lang="he-IL" dirty="0" smtClean="0"/>
              <a:t>תלמיד קיבל 83 במתמטיקה ו-93 באנגלית. באיזה מקצוע הוא טוב יותר ביחס לכיתתו?</a:t>
            </a:r>
          </a:p>
          <a:p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849373"/>
              </p:ext>
            </p:extLst>
          </p:nvPr>
        </p:nvGraphicFramePr>
        <p:xfrm>
          <a:off x="1835696" y="270892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280"/>
                <a:gridCol w="2304256"/>
                <a:gridCol w="1271464"/>
              </a:tblGrid>
              <a:tr h="370840">
                <a:tc>
                  <a:txBody>
                    <a:bodyPr/>
                    <a:lstStyle/>
                    <a:p>
                      <a:r>
                        <a:rPr lang="he-IL" dirty="0" smtClean="0"/>
                        <a:t>אנגלית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מתמטיקה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he-IL" dirty="0" smtClean="0"/>
                        <a:t>90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80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ממוצע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he-IL" dirty="0" smtClean="0"/>
                        <a:t>144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שונות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9589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שאלה </a:t>
            </a:r>
            <a:r>
              <a:rPr lang="he-IL" dirty="0" smtClean="0"/>
              <a:t>8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מהו הממוצע הכיתתי של מבחן בסטטיסטיקה, אם ידוע שלדניאל, שקיבל 90, יש ציון תקן של </a:t>
            </a:r>
            <a:r>
              <a:rPr lang="he-IL" dirty="0" smtClean="0"/>
              <a:t>1, </a:t>
            </a:r>
            <a:r>
              <a:rPr lang="he-IL" dirty="0" smtClean="0"/>
              <a:t>ושסטיית התקן של הציונים היא 10?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0014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התאמה אישית 1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3223</TotalTime>
  <Words>575</Words>
  <Application>Microsoft Office PowerPoint</Application>
  <PresentationFormat>On-screen Show (4:3)</PresentationFormat>
  <Paragraphs>148</Paragraphs>
  <Slides>19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David</vt:lpstr>
      <vt:lpstr>Tahoma</vt:lpstr>
      <vt:lpstr>ערכת נושא Office</vt:lpstr>
      <vt:lpstr>Equation</vt:lpstr>
      <vt:lpstr>מבוא לסטטיסטיקה והסתברות</vt:lpstr>
      <vt:lpstr>סטטיסטיקה</vt:lpstr>
      <vt:lpstr>סטטיסטיקה תיאורית</vt:lpstr>
      <vt:lpstr>שאלה 1 להלן נתוני הגילאים של10  סטודנטים. בנה טבלת שכיחות שתכלול עבור כל גיל: שכיחות, שכיחות מצטברת, שכיחות יחסית ושכיחות יחסית מצטברת בשברים ובאחוזים  22, 22, 23, 23, 24, 25, 26, 26, 26, 27   </vt:lpstr>
      <vt:lpstr>PowerPoint Presentation</vt:lpstr>
      <vt:lpstr>מדדים לנטייה מרכזית</vt:lpstr>
      <vt:lpstr>ממוצע לעומת חציון</vt:lpstr>
      <vt:lpstr>מדדי פיזור</vt:lpstr>
      <vt:lpstr>מדדי פיזור-המשך</vt:lpstr>
      <vt:lpstr>שאלה 2 בחברת סטארט-אפ 50 עובדים, שמשכורותיהם מחולקות על פי הטבלה הבאה:       חשבו שכיח, ממוצע, סטיית תקן, חציון, רבעון שלישי, רבעון ראשון, וטווח בין רבעוני</vt:lpstr>
      <vt:lpstr>חישוב אחוזונים מטבלת שכיחות</vt:lpstr>
      <vt:lpstr>PowerPoint Presentation</vt:lpstr>
      <vt:lpstr>חלוקה למחלקות מקובצות</vt:lpstr>
      <vt:lpstr>שאלה 4 נתונים ציונים של 5 סטודנטים בקורס סטטיסטיקה  95 87 76 70 62 60  א. חשבו ממוצע, שונות וסטיית תקן ב. מה יקרה לממוצע ולס.ת אם המרצה ייתן לכל הסטודנטים פקטור של 5 נקודות? ג. מה יקרה לממוצע ולס.ת אם המרצה ייתן לכל הסטודנטים פקטור של 5%? </vt:lpstr>
      <vt:lpstr>השפעת טרנספורמציות לינאריות על הממוצע, השונות, וסטיית התקן</vt:lpstr>
      <vt:lpstr>שאלה 5 נתונים הערכים 6, 8, 14, 4, 7, 9  א. חשבו את הממוצע ואת סכום המרחקים של הערכים מהממוצע ב. הוכיחו כי הממוצע הוא תמיד הערך שסכום המרחקים של הנתונים ממנו שווה לאפס </vt:lpstr>
      <vt:lpstr>שאלה 6 להלן הנוסחה המקוצרת לשונות:    הוכיחו כי נוסחה זו נובעת מנוסחת השונות המלאה  </vt:lpstr>
      <vt:lpstr>שאלה 7</vt:lpstr>
      <vt:lpstr>שאלה 8</vt:lpstr>
    </vt:vector>
  </TitlesOfParts>
  <Company>Your Company Name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סטטיסטיקה ב' - תרגיל</dc:title>
  <dc:creator>Yaara</dc:creator>
  <cp:lastModifiedBy>yaara s</cp:lastModifiedBy>
  <cp:revision>108</cp:revision>
  <dcterms:created xsi:type="dcterms:W3CDTF">2011-10-31T22:07:50Z</dcterms:created>
  <dcterms:modified xsi:type="dcterms:W3CDTF">2015-10-10T17:06:57Z</dcterms:modified>
</cp:coreProperties>
</file>