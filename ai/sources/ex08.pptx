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937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aximized" horzBarState="maximized">
    <p:restoredLeft sz="94898" autoAdjust="0"/>
    <p:restoredTop sz="94660"/>
  </p:normalViewPr>
  <p:slideViewPr>
    <p:cSldViewPr snapToGrid="0">
      <p:cViewPr>
        <p:scale>
          <a:sx n="100" d="100"/>
          <a:sy n="100" d="100"/>
        </p:scale>
        <p:origin x="7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306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546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799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287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5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2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530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663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980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999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743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2B0DB89-6EFB-4D64-ABC8-9ED2D6F5C34C}" type="datetimeFigureOut">
              <a:rPr lang="he-IL" smtClean="0"/>
              <a:t>י"ב/סיון/תשפ"ו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B90BD-CB78-4017-BAE5-7D9762062E5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2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2D5C283-C2C6-F20F-9FF4-CF89D4E24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4074" y="423333"/>
            <a:ext cx="8543925" cy="6189134"/>
          </a:xfrm>
        </p:spPr>
        <p:txBody>
          <a:bodyPr>
            <a:normAutofit fontScale="85000" lnSpcReduction="10000"/>
          </a:bodyPr>
          <a:lstStyle/>
          <a:p>
            <a:pPr algn="r">
              <a:lnSpc>
                <a:spcPct val="150000"/>
              </a:lnSpc>
            </a:pPr>
            <a:r>
              <a:rPr lang="he-IL" sz="1200" dirty="0"/>
              <a:t>בס"ד</a:t>
            </a:r>
          </a:p>
          <a:p>
            <a:pPr>
              <a:lnSpc>
                <a:spcPct val="150000"/>
              </a:lnSpc>
            </a:pPr>
            <a:r>
              <a:rPr lang="he-IL" sz="1200" dirty="0"/>
              <a:t>תרגיל בינה מלאכותית מס 8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he-IL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he-IL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1. 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[ 50 נקודות] עבור העץ  שמופיע בעמוד הבא הפעל אלגוריתם גיזום אלפא </a:t>
            </a:r>
            <a:r>
              <a:rPr lang="he-IL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בטא  מימין לשמאל.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85800" algn="r">
              <a:lnSpc>
                <a:spcPct val="150000"/>
              </a:lnSpc>
            </a:pPr>
            <a:r>
              <a:rPr lang="he-IL" sz="12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חובה להראות לכל קודקוד שמגיעים אליו את ערכי האלפא, ערך </a:t>
            </a:r>
            <a:r>
              <a:rPr lang="he-IL" sz="1200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הבטא</a:t>
            </a:r>
            <a:r>
              <a:rPr lang="he-IL" sz="12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וערך </a:t>
            </a:r>
            <a:r>
              <a:rPr lang="en-US" sz="12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he-IL" sz="12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של </a:t>
            </a:r>
            <a:r>
              <a:rPr lang="he-IL" sz="1200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הקודקוד</a:t>
            </a:r>
            <a:r>
              <a:rPr lang="he-IL" sz="1200" u="sng" dirty="0">
                <a:latin typeface="Calibri" panose="020F0502020204030204" pitchFamily="34" charset="0"/>
                <a:ea typeface="Calibri" panose="020F0502020204030204" pitchFamily="34" charset="0"/>
              </a:rPr>
              <a:t>. תתי עצים שנגזמים יש להקיף במשולש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he-IL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85800" algn="r" rtl="1">
              <a:lnSpc>
                <a:spcPct val="150000"/>
              </a:lnSpc>
            </a:pP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אין </a:t>
            </a:r>
            <a:r>
              <a:rPr lang="he-IL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צורך  למספר 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את צעדי העבודה</a:t>
            </a:r>
            <a:r>
              <a:rPr lang="he-IL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  <a:endParaRPr lang="he-IL" sz="12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85800" algn="r" rtl="1">
              <a:lnSpc>
                <a:spcPct val="150000"/>
              </a:lnSpc>
            </a:pPr>
            <a:r>
              <a:rPr lang="he-IL" sz="1200" dirty="0" smtClean="0">
                <a:latin typeface="Calibri" panose="020F0502020204030204" pitchFamily="34" charset="0"/>
              </a:rPr>
              <a:t>2. [50 נקודות] </a:t>
            </a:r>
            <a:r>
              <a:rPr lang="he-IL" sz="1200" dirty="0" smtClean="0"/>
              <a:t>בסיס </a:t>
            </a:r>
            <a:r>
              <a:rPr lang="he-IL" sz="1200" dirty="0"/>
              <a:t>הידע מכיל את המשפטים הבאים</a:t>
            </a:r>
            <a:endParaRPr lang="en-US" sz="1200" dirty="0"/>
          </a:p>
          <a:p>
            <a:pPr lvl="1" algn="l" rtl="0">
              <a:lnSpc>
                <a:spcPct val="150000"/>
              </a:lnSpc>
            </a:pPr>
            <a:r>
              <a:rPr lang="en-US" sz="1200" dirty="0"/>
              <a:t>1. Sick </a:t>
            </a:r>
            <a:r>
              <a:rPr lang="en-US" sz="1200" dirty="0">
                <a:sym typeface="Symbol" panose="05050102010706020507" pitchFamily="18" charset="2"/>
              </a:rPr>
              <a:t></a:t>
            </a:r>
            <a:r>
              <a:rPr lang="en-US" sz="1200" dirty="0"/>
              <a:t> Doctor</a:t>
            </a:r>
          </a:p>
          <a:p>
            <a:pPr lvl="1" algn="l" rtl="0">
              <a:lnSpc>
                <a:spcPct val="150000"/>
              </a:lnSpc>
            </a:pPr>
            <a:r>
              <a:rPr lang="en-US" sz="1200" dirty="0"/>
              <a:t>2.        Doctor </a:t>
            </a:r>
            <a:r>
              <a:rPr lang="en-US" sz="1200" dirty="0">
                <a:sym typeface="Symbol" panose="05050102010706020507" pitchFamily="18" charset="2"/>
              </a:rPr>
              <a:t></a:t>
            </a:r>
            <a:r>
              <a:rPr lang="en-US" sz="1200" dirty="0"/>
              <a:t> Med</a:t>
            </a:r>
          </a:p>
          <a:p>
            <a:pPr lvl="1" algn="l" rtl="0">
              <a:lnSpc>
                <a:spcPct val="150000"/>
              </a:lnSpc>
            </a:pPr>
            <a:r>
              <a:rPr lang="he-IL" sz="1200" dirty="0"/>
              <a:t> </a:t>
            </a:r>
            <a:r>
              <a:rPr lang="en-US" sz="1200" dirty="0"/>
              <a:t>3.( Sun </a:t>
            </a:r>
            <a:r>
              <a:rPr lang="en-US" sz="1200" dirty="0">
                <a:sym typeface="Symbol" panose="05050102010706020507" pitchFamily="18" charset="2"/>
              </a:rPr>
              <a:t></a:t>
            </a:r>
            <a:r>
              <a:rPr lang="en-US" sz="1200" dirty="0"/>
              <a:t>  Med) </a:t>
            </a:r>
            <a:r>
              <a:rPr lang="en-US" sz="1200" dirty="0">
                <a:sym typeface="Symbol" panose="05050102010706020507" pitchFamily="18" charset="2"/>
              </a:rPr>
              <a:t></a:t>
            </a:r>
            <a:r>
              <a:rPr lang="en-US" sz="1200" dirty="0"/>
              <a:t> Healthy </a:t>
            </a:r>
          </a:p>
          <a:p>
            <a:pPr lvl="1" algn="l" rtl="0">
              <a:lnSpc>
                <a:spcPct val="150000"/>
              </a:lnSpc>
            </a:pPr>
            <a:r>
              <a:rPr lang="he-IL" sz="1200" dirty="0"/>
              <a:t> </a:t>
            </a:r>
            <a:r>
              <a:rPr lang="en-US" sz="1200" dirty="0"/>
              <a:t>4. (Rain </a:t>
            </a:r>
            <a:r>
              <a:rPr lang="en-US" sz="1200" dirty="0">
                <a:sym typeface="Symbol" panose="05050102010706020507" pitchFamily="18" charset="2"/>
              </a:rPr>
              <a:t></a:t>
            </a:r>
            <a:r>
              <a:rPr lang="en-US" sz="1200" dirty="0"/>
              <a:t> Cold) </a:t>
            </a:r>
            <a:r>
              <a:rPr lang="en-US" sz="1200" dirty="0">
                <a:sym typeface="Symbol" panose="05050102010706020507" pitchFamily="18" charset="2"/>
              </a:rPr>
              <a:t></a:t>
            </a:r>
            <a:r>
              <a:rPr lang="en-US" sz="1200" dirty="0"/>
              <a:t> Sick</a:t>
            </a:r>
          </a:p>
          <a:p>
            <a:pPr lvl="1" algn="l" rtl="0">
              <a:lnSpc>
                <a:spcPct val="150000"/>
              </a:lnSpc>
            </a:pPr>
            <a:r>
              <a:rPr lang="he-IL" sz="1200" dirty="0"/>
              <a:t> </a:t>
            </a:r>
            <a:r>
              <a:rPr lang="en-US" sz="1200" dirty="0"/>
              <a:t>5(. Rain </a:t>
            </a:r>
            <a:r>
              <a:rPr lang="en-US" sz="1200" dirty="0">
                <a:sym typeface="Symbol" panose="05050102010706020507" pitchFamily="18" charset="2"/>
              </a:rPr>
              <a:t></a:t>
            </a:r>
            <a:r>
              <a:rPr lang="en-US" sz="1200" dirty="0"/>
              <a:t> Cold) </a:t>
            </a:r>
            <a:r>
              <a:rPr lang="en-US" sz="1200" dirty="0">
                <a:sym typeface="Symbol" panose="05050102010706020507" pitchFamily="18" charset="2"/>
              </a:rPr>
              <a:t></a:t>
            </a:r>
            <a:r>
              <a:rPr lang="en-US" sz="1200" dirty="0"/>
              <a:t>  Sun </a:t>
            </a:r>
          </a:p>
          <a:p>
            <a:pPr lvl="1" algn="l" rtl="0">
              <a:lnSpc>
                <a:spcPct val="150000"/>
              </a:lnSpc>
            </a:pPr>
            <a:r>
              <a:rPr lang="en-US" sz="1200" dirty="0"/>
              <a:t>6.          Sick </a:t>
            </a:r>
            <a:r>
              <a:rPr lang="en-US" sz="1200" dirty="0">
                <a:sym typeface="Symbol" panose="05050102010706020507" pitchFamily="18" charset="2"/>
              </a:rPr>
              <a:t></a:t>
            </a:r>
            <a:r>
              <a:rPr lang="en-US" sz="1200" dirty="0"/>
              <a:t> Sad </a:t>
            </a:r>
          </a:p>
          <a:p>
            <a:pPr lvl="1" algn="l" rtl="0">
              <a:lnSpc>
                <a:spcPct val="150000"/>
              </a:lnSpc>
            </a:pPr>
            <a:r>
              <a:rPr lang="en-US" sz="1200" dirty="0"/>
              <a:t>7. Cold</a:t>
            </a:r>
          </a:p>
          <a:p>
            <a:pPr lvl="1" algn="l" rtl="0">
              <a:lnSpc>
                <a:spcPct val="150000"/>
              </a:lnSpc>
            </a:pPr>
            <a:r>
              <a:rPr lang="en-US" sz="1200" dirty="0"/>
              <a:t>8. Rain</a:t>
            </a:r>
          </a:p>
          <a:p>
            <a:pPr lvl="1" algn="r">
              <a:lnSpc>
                <a:spcPct val="150000"/>
              </a:lnSpc>
            </a:pPr>
            <a:r>
              <a:rPr lang="he-IL" sz="1200" dirty="0"/>
              <a:t>האם המסקנה הבאה נגררת ממנו באופן לוגי   </a:t>
            </a:r>
            <a:r>
              <a:rPr lang="en-US" sz="1200" dirty="0">
                <a:sym typeface="Symbol" panose="05050102010706020507" pitchFamily="18" charset="2"/>
              </a:rPr>
              <a:t></a:t>
            </a:r>
            <a:r>
              <a:rPr lang="en-US" sz="1200" dirty="0"/>
              <a:t> =Healthy</a:t>
            </a:r>
            <a:r>
              <a:rPr lang="he-IL" sz="1200" dirty="0"/>
              <a:t>  ?   יש להפעיל את אלגוריתם הרזולוציה. </a:t>
            </a:r>
            <a:r>
              <a:rPr lang="he-IL" sz="1200" dirty="0" smtClean="0"/>
              <a:t>חובה למספר כל </a:t>
            </a:r>
            <a:r>
              <a:rPr lang="he-IL" sz="1200" dirty="0" err="1" smtClean="0"/>
              <a:t>רזולבנט</a:t>
            </a:r>
            <a:r>
              <a:rPr lang="he-IL" sz="1200" dirty="0" smtClean="0"/>
              <a:t> (תוצאת הפעלת כלל הרזולוציה על שתי פסוקיות) ולהראות מאילו פסוקיות נוצר, כפי </a:t>
            </a:r>
            <a:r>
              <a:rPr lang="he-IL" sz="1200" dirty="0" err="1" smtClean="0"/>
              <a:t>שהראתי</a:t>
            </a:r>
            <a:r>
              <a:rPr lang="he-IL" sz="1200" dirty="0" smtClean="0"/>
              <a:t> בכיתה.</a:t>
            </a:r>
          </a:p>
          <a:p>
            <a:pPr lvl="1" algn="r">
              <a:lnSpc>
                <a:spcPct val="150000"/>
              </a:lnSpc>
            </a:pPr>
            <a:r>
              <a:rPr lang="he-IL" sz="1200" dirty="0" smtClean="0"/>
              <a:t>שימו </a:t>
            </a:r>
            <a:r>
              <a:rPr lang="he-IL" sz="1200" dirty="0"/>
              <a:t>לב, שכדי להפעיל אותו יש להעביר כל אחד מהכללים לצורת </a:t>
            </a:r>
            <a:r>
              <a:rPr lang="en-US" sz="1200" dirty="0"/>
              <a:t>CNF</a:t>
            </a:r>
            <a:r>
              <a:rPr lang="he-IL" sz="1200" dirty="0"/>
              <a:t>.</a:t>
            </a:r>
            <a:endParaRPr lang="en-US" sz="1200" dirty="0"/>
          </a:p>
          <a:p>
            <a:pPr marL="1143000" lvl="1" algn="l">
              <a:lnSpc>
                <a:spcPct val="150000"/>
              </a:lnSpc>
            </a:pP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 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600200" indent="-914400" algn="r" rtl="1">
              <a:lnSpc>
                <a:spcPct val="150000"/>
              </a:lnSpc>
              <a:buAutoNum type="arabicPeriod"/>
            </a:pP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57200" algn="r" rtl="1">
              <a:lnSpc>
                <a:spcPct val="150000"/>
              </a:lnSpc>
              <a:spcAft>
                <a:spcPts val="800"/>
              </a:spcAft>
            </a:pP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354542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קבוצה 13"/>
          <p:cNvGrpSpPr/>
          <p:nvPr/>
        </p:nvGrpSpPr>
        <p:grpSpPr>
          <a:xfrm>
            <a:off x="9354362" y="5660251"/>
            <a:ext cx="760419" cy="431885"/>
            <a:chOff x="7830361" y="5660250"/>
            <a:chExt cx="760419" cy="431885"/>
          </a:xfrm>
        </p:grpSpPr>
        <p:sp>
          <p:nvSpPr>
            <p:cNvPr id="8" name="TextBox 7"/>
            <p:cNvSpPr txBox="1"/>
            <p:nvPr/>
          </p:nvSpPr>
          <p:spPr>
            <a:xfrm>
              <a:off x="7830361" y="5661248"/>
              <a:ext cx="198022" cy="43088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1100" dirty="0"/>
                <a:t>Y</a:t>
              </a:r>
            </a:p>
            <a:p>
              <a:r>
                <a:rPr lang="en-US" sz="1100" dirty="0"/>
                <a:t>0</a:t>
              </a:r>
              <a:endParaRPr lang="he-IL" sz="1100" dirty="0"/>
            </a:p>
          </p:txBody>
        </p:sp>
        <p:grpSp>
          <p:nvGrpSpPr>
            <p:cNvPr id="13" name="קבוצה 12"/>
            <p:cNvGrpSpPr/>
            <p:nvPr/>
          </p:nvGrpSpPr>
          <p:grpSpPr>
            <a:xfrm>
              <a:off x="8028383" y="5660250"/>
              <a:ext cx="562397" cy="431885"/>
              <a:chOff x="8028383" y="5660250"/>
              <a:chExt cx="562397" cy="431885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8194736" y="5661248"/>
                <a:ext cx="396044" cy="43088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100" dirty="0"/>
                  <a:t>AA</a:t>
                </a:r>
              </a:p>
              <a:p>
                <a:r>
                  <a:rPr lang="en-US" sz="1100" dirty="0"/>
                  <a:t>2</a:t>
                </a:r>
                <a:endParaRPr lang="he-IL" sz="1100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8028383" y="5660250"/>
                <a:ext cx="250627" cy="43088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1100" dirty="0"/>
                  <a:t>Z</a:t>
                </a:r>
              </a:p>
              <a:p>
                <a:r>
                  <a:rPr lang="en-US" sz="1100" dirty="0"/>
                  <a:t>6</a:t>
                </a:r>
                <a:endParaRPr lang="he-IL" sz="1100" dirty="0"/>
              </a:p>
            </p:txBody>
          </p:sp>
        </p:grpSp>
      </p:grpSp>
      <p:cxnSp>
        <p:nvCxnSpPr>
          <p:cNvPr id="28" name="מחבר ישר 27"/>
          <p:cNvCxnSpPr/>
          <p:nvPr/>
        </p:nvCxnSpPr>
        <p:spPr>
          <a:xfrm flipH="1">
            <a:off x="8557500" y="4941169"/>
            <a:ext cx="112786" cy="7666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מחבר ישר 80"/>
          <p:cNvCxnSpPr/>
          <p:nvPr/>
        </p:nvCxnSpPr>
        <p:spPr>
          <a:xfrm flipH="1">
            <a:off x="7684682" y="4943327"/>
            <a:ext cx="112786" cy="76667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קבוצה 136"/>
          <p:cNvGrpSpPr/>
          <p:nvPr/>
        </p:nvGrpSpPr>
        <p:grpSpPr>
          <a:xfrm>
            <a:off x="1412656" y="1037928"/>
            <a:ext cx="8499769" cy="5060907"/>
            <a:chOff x="-111345" y="1037927"/>
            <a:chExt cx="8499769" cy="5060907"/>
          </a:xfrm>
        </p:grpSpPr>
        <p:grpSp>
          <p:nvGrpSpPr>
            <p:cNvPr id="120" name="קבוצה 119"/>
            <p:cNvGrpSpPr/>
            <p:nvPr/>
          </p:nvGrpSpPr>
          <p:grpSpPr>
            <a:xfrm>
              <a:off x="6048164" y="3438382"/>
              <a:ext cx="2340260" cy="2654751"/>
              <a:chOff x="6048164" y="3438382"/>
              <a:chExt cx="2340260" cy="2654751"/>
            </a:xfrm>
          </p:grpSpPr>
          <p:cxnSp>
            <p:nvCxnSpPr>
              <p:cNvPr id="5" name="מחבר ישר 4"/>
              <p:cNvCxnSpPr/>
              <p:nvPr/>
            </p:nvCxnSpPr>
            <p:spPr>
              <a:xfrm>
                <a:off x="8293896" y="4943880"/>
                <a:ext cx="94528" cy="71736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מחבר ישר 20"/>
              <p:cNvCxnSpPr/>
              <p:nvPr/>
            </p:nvCxnSpPr>
            <p:spPr>
              <a:xfrm>
                <a:off x="8156844" y="4925958"/>
                <a:ext cx="0" cy="74198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מחבר ישר 22"/>
              <p:cNvCxnSpPr/>
              <p:nvPr/>
            </p:nvCxnSpPr>
            <p:spPr>
              <a:xfrm flipH="1">
                <a:off x="7898337" y="4943880"/>
                <a:ext cx="130046" cy="72406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קבוצה 36"/>
              <p:cNvGrpSpPr/>
              <p:nvPr/>
            </p:nvGrpSpPr>
            <p:grpSpPr>
              <a:xfrm>
                <a:off x="6948264" y="4941168"/>
                <a:ext cx="720080" cy="1151965"/>
                <a:chOff x="6948264" y="4941168"/>
                <a:chExt cx="720080" cy="1151965"/>
              </a:xfrm>
            </p:grpSpPr>
            <p:sp>
              <p:nvSpPr>
                <p:cNvPr id="16" name="TextBox 15"/>
                <p:cNvSpPr txBox="1"/>
                <p:nvPr/>
              </p:nvSpPr>
              <p:spPr>
                <a:xfrm>
                  <a:off x="6948264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V</a:t>
                  </a:r>
                </a:p>
                <a:p>
                  <a:r>
                    <a:rPr lang="en-US" sz="1100" dirty="0"/>
                    <a:t>1</a:t>
                  </a:r>
                  <a:endParaRPr lang="he-IL" sz="1100" dirty="0"/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7470322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X</a:t>
                  </a:r>
                </a:p>
                <a:p>
                  <a:r>
                    <a:rPr lang="en-US" sz="1100" dirty="0"/>
                    <a:t>9</a:t>
                  </a:r>
                  <a:endParaRPr lang="he-IL" sz="1100" dirty="0"/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7201693" y="5661248"/>
                  <a:ext cx="250627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W</a:t>
                  </a:r>
                </a:p>
                <a:p>
                  <a:r>
                    <a:rPr lang="en-US" sz="1100" dirty="0"/>
                    <a:t>1</a:t>
                  </a:r>
                  <a:endParaRPr lang="he-IL" sz="1100" dirty="0"/>
                </a:p>
              </p:txBody>
            </p:sp>
            <p:cxnSp>
              <p:nvCxnSpPr>
                <p:cNvPr id="20" name="מחבר ישר 19"/>
                <p:cNvCxnSpPr/>
                <p:nvPr/>
              </p:nvCxnSpPr>
              <p:spPr>
                <a:xfrm>
                  <a:off x="7396913" y="4941168"/>
                  <a:ext cx="170470" cy="720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מחבר ישר 28"/>
                <p:cNvCxnSpPr/>
                <p:nvPr/>
              </p:nvCxnSpPr>
              <p:spPr>
                <a:xfrm>
                  <a:off x="7265686" y="4941168"/>
                  <a:ext cx="42618" cy="743205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קבוצה 37"/>
              <p:cNvGrpSpPr/>
              <p:nvPr/>
            </p:nvGrpSpPr>
            <p:grpSpPr>
              <a:xfrm>
                <a:off x="6048164" y="4941168"/>
                <a:ext cx="756084" cy="1151965"/>
                <a:chOff x="6912260" y="4941168"/>
                <a:chExt cx="756084" cy="1151965"/>
              </a:xfrm>
            </p:grpSpPr>
            <p:sp>
              <p:nvSpPr>
                <p:cNvPr id="39" name="TextBox 38"/>
                <p:cNvSpPr txBox="1"/>
                <p:nvPr/>
              </p:nvSpPr>
              <p:spPr>
                <a:xfrm>
                  <a:off x="6912260" y="5662246"/>
                  <a:ext cx="342038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S</a:t>
                  </a:r>
                </a:p>
                <a:p>
                  <a:r>
                    <a:rPr lang="en-US" sz="1100" dirty="0"/>
                    <a:t>10</a:t>
                  </a:r>
                  <a:endParaRPr lang="he-IL" sz="1100" dirty="0"/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7470322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U</a:t>
                  </a:r>
                </a:p>
                <a:p>
                  <a:r>
                    <a:rPr lang="en-US" sz="1100" dirty="0"/>
                    <a:t>3</a:t>
                  </a:r>
                  <a:endParaRPr lang="he-IL" sz="1100" dirty="0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7201693" y="5661248"/>
                  <a:ext cx="250627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T</a:t>
                  </a:r>
                </a:p>
                <a:p>
                  <a:r>
                    <a:rPr lang="en-US" sz="1100" dirty="0"/>
                    <a:t>1</a:t>
                  </a:r>
                  <a:endParaRPr lang="he-IL" sz="1100" dirty="0"/>
                </a:p>
              </p:txBody>
            </p:sp>
            <p:cxnSp>
              <p:nvCxnSpPr>
                <p:cNvPr id="42" name="מחבר ישר 41"/>
                <p:cNvCxnSpPr/>
                <p:nvPr/>
              </p:nvCxnSpPr>
              <p:spPr>
                <a:xfrm>
                  <a:off x="7396913" y="4941168"/>
                  <a:ext cx="170470" cy="720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מחבר ישר 42"/>
                <p:cNvCxnSpPr/>
                <p:nvPr/>
              </p:nvCxnSpPr>
              <p:spPr>
                <a:xfrm>
                  <a:off x="7265686" y="4941168"/>
                  <a:ext cx="42618" cy="743205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TextBox 91"/>
              <p:cNvSpPr txBox="1"/>
              <p:nvPr/>
            </p:nvSpPr>
            <p:spPr>
              <a:xfrm>
                <a:off x="7933855" y="4571836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m</a:t>
                </a:r>
                <a:endParaRPr lang="he-IL" dirty="0"/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7083769" y="4560099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l</a:t>
                </a:r>
                <a:endParaRPr lang="he-IL" dirty="0"/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6236282" y="4571836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k</a:t>
                </a:r>
                <a:endParaRPr lang="he-IL" dirty="0"/>
              </a:p>
            </p:txBody>
          </p:sp>
          <p:grpSp>
            <p:nvGrpSpPr>
              <p:cNvPr id="111" name="קבוצה 110"/>
              <p:cNvGrpSpPr/>
              <p:nvPr/>
            </p:nvGrpSpPr>
            <p:grpSpPr>
              <a:xfrm>
                <a:off x="6462910" y="3438382"/>
                <a:ext cx="1650965" cy="1158956"/>
                <a:chOff x="6462910" y="3438382"/>
                <a:chExt cx="1650965" cy="1158956"/>
              </a:xfrm>
            </p:grpSpPr>
            <p:cxnSp>
              <p:nvCxnSpPr>
                <p:cNvPr id="91" name="מחבר ישר 90"/>
                <p:cNvCxnSpPr/>
                <p:nvPr/>
              </p:nvCxnSpPr>
              <p:spPr>
                <a:xfrm>
                  <a:off x="7567383" y="3438382"/>
                  <a:ext cx="546492" cy="115212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מחבר ישר 103"/>
                <p:cNvCxnSpPr/>
                <p:nvPr/>
              </p:nvCxnSpPr>
              <p:spPr>
                <a:xfrm flipH="1">
                  <a:off x="6462910" y="3438382"/>
                  <a:ext cx="620859" cy="1158956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מחבר ישר 105"/>
                <p:cNvCxnSpPr/>
                <p:nvPr/>
              </p:nvCxnSpPr>
              <p:spPr>
                <a:xfrm>
                  <a:off x="7286995" y="3438382"/>
                  <a:ext cx="69347" cy="115212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1" name="קבוצה 120"/>
            <p:cNvGrpSpPr/>
            <p:nvPr/>
          </p:nvGrpSpPr>
          <p:grpSpPr>
            <a:xfrm>
              <a:off x="3491880" y="3438382"/>
              <a:ext cx="2448272" cy="2654751"/>
              <a:chOff x="3491880" y="3438382"/>
              <a:chExt cx="2448272" cy="2654751"/>
            </a:xfrm>
          </p:grpSpPr>
          <p:grpSp>
            <p:nvGrpSpPr>
              <p:cNvPr id="44" name="קבוצה 43"/>
              <p:cNvGrpSpPr/>
              <p:nvPr/>
            </p:nvGrpSpPr>
            <p:grpSpPr>
              <a:xfrm>
                <a:off x="5220072" y="4941168"/>
                <a:ext cx="720080" cy="1151965"/>
                <a:chOff x="6948264" y="4941168"/>
                <a:chExt cx="720080" cy="1151965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6948264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P</a:t>
                  </a:r>
                </a:p>
                <a:p>
                  <a:r>
                    <a:rPr lang="en-US" sz="1100"/>
                    <a:t>5</a:t>
                  </a:r>
                  <a:endParaRPr lang="he-IL" sz="1100" dirty="0"/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7470322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R</a:t>
                  </a:r>
                </a:p>
                <a:p>
                  <a:r>
                    <a:rPr lang="en-US" sz="1100" dirty="0"/>
                    <a:t>1</a:t>
                  </a:r>
                  <a:endParaRPr lang="he-IL" sz="1100" dirty="0"/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7201693" y="5661248"/>
                  <a:ext cx="250627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Q</a:t>
                  </a:r>
                </a:p>
                <a:p>
                  <a:r>
                    <a:rPr lang="en-US" sz="1100" dirty="0"/>
                    <a:t>6</a:t>
                  </a:r>
                  <a:endParaRPr lang="he-IL" sz="1100" dirty="0"/>
                </a:p>
              </p:txBody>
            </p:sp>
            <p:cxnSp>
              <p:nvCxnSpPr>
                <p:cNvPr id="48" name="מחבר ישר 47"/>
                <p:cNvCxnSpPr/>
                <p:nvPr/>
              </p:nvCxnSpPr>
              <p:spPr>
                <a:xfrm>
                  <a:off x="7396913" y="4941168"/>
                  <a:ext cx="170470" cy="720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מחבר ישר 48"/>
                <p:cNvCxnSpPr/>
                <p:nvPr/>
              </p:nvCxnSpPr>
              <p:spPr>
                <a:xfrm>
                  <a:off x="7265686" y="4941168"/>
                  <a:ext cx="42618" cy="743205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קבוצה 49"/>
              <p:cNvGrpSpPr/>
              <p:nvPr/>
            </p:nvGrpSpPr>
            <p:grpSpPr>
              <a:xfrm>
                <a:off x="4355976" y="4938221"/>
                <a:ext cx="720080" cy="1151965"/>
                <a:chOff x="6948264" y="4941168"/>
                <a:chExt cx="720080" cy="1151965"/>
              </a:xfrm>
            </p:grpSpPr>
            <p:sp>
              <p:nvSpPr>
                <p:cNvPr id="51" name="TextBox 50"/>
                <p:cNvSpPr txBox="1"/>
                <p:nvPr/>
              </p:nvSpPr>
              <p:spPr>
                <a:xfrm>
                  <a:off x="6948264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M</a:t>
                  </a:r>
                </a:p>
                <a:p>
                  <a:r>
                    <a:rPr lang="en-US" sz="1100" dirty="0"/>
                    <a:t>8</a:t>
                  </a:r>
                  <a:endParaRPr lang="he-IL" sz="1100" dirty="0"/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7470322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O</a:t>
                  </a:r>
                </a:p>
                <a:p>
                  <a:r>
                    <a:rPr lang="en-US" sz="1100" dirty="0"/>
                    <a:t>7</a:t>
                  </a:r>
                  <a:endParaRPr lang="he-IL" sz="1100" dirty="0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7201693" y="5661248"/>
                  <a:ext cx="250627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N</a:t>
                  </a:r>
                </a:p>
                <a:p>
                  <a:r>
                    <a:rPr lang="en-US" sz="1100" dirty="0"/>
                    <a:t>1</a:t>
                  </a:r>
                  <a:endParaRPr lang="he-IL" sz="1100" dirty="0"/>
                </a:p>
              </p:txBody>
            </p:sp>
            <p:cxnSp>
              <p:nvCxnSpPr>
                <p:cNvPr id="54" name="מחבר ישר 53"/>
                <p:cNvCxnSpPr/>
                <p:nvPr/>
              </p:nvCxnSpPr>
              <p:spPr>
                <a:xfrm>
                  <a:off x="7396913" y="4941168"/>
                  <a:ext cx="170470" cy="720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מחבר ישר 54"/>
                <p:cNvCxnSpPr/>
                <p:nvPr/>
              </p:nvCxnSpPr>
              <p:spPr>
                <a:xfrm>
                  <a:off x="7265686" y="4941168"/>
                  <a:ext cx="42618" cy="743205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קבוצה 55"/>
              <p:cNvGrpSpPr/>
              <p:nvPr/>
            </p:nvGrpSpPr>
            <p:grpSpPr>
              <a:xfrm>
                <a:off x="3491880" y="4936272"/>
                <a:ext cx="720080" cy="1151965"/>
                <a:chOff x="6948264" y="4941168"/>
                <a:chExt cx="720080" cy="1151965"/>
              </a:xfrm>
            </p:grpSpPr>
            <p:sp>
              <p:nvSpPr>
                <p:cNvPr id="57" name="TextBox 56"/>
                <p:cNvSpPr txBox="1"/>
                <p:nvPr/>
              </p:nvSpPr>
              <p:spPr>
                <a:xfrm>
                  <a:off x="6948264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J</a:t>
                  </a:r>
                </a:p>
                <a:p>
                  <a:r>
                    <a:rPr lang="en-US" sz="1100" dirty="0"/>
                    <a:t>7</a:t>
                  </a:r>
                  <a:endParaRPr lang="he-IL" sz="1100" dirty="0"/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7470322" y="5662246"/>
                  <a:ext cx="198022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L</a:t>
                  </a:r>
                </a:p>
                <a:p>
                  <a:r>
                    <a:rPr lang="en-US" sz="1100" dirty="0"/>
                    <a:t>9</a:t>
                  </a:r>
                  <a:endParaRPr lang="he-IL" sz="1100" dirty="0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7201693" y="5661248"/>
                  <a:ext cx="250627" cy="43088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r>
                    <a:rPr lang="en-US" sz="1100" dirty="0"/>
                    <a:t>K</a:t>
                  </a:r>
                </a:p>
                <a:p>
                  <a:r>
                    <a:rPr lang="en-US" sz="1100" dirty="0"/>
                    <a:t>1</a:t>
                  </a:r>
                  <a:endParaRPr lang="he-IL" sz="1100" dirty="0"/>
                </a:p>
              </p:txBody>
            </p:sp>
            <p:cxnSp>
              <p:nvCxnSpPr>
                <p:cNvPr id="60" name="מחבר ישר 59"/>
                <p:cNvCxnSpPr/>
                <p:nvPr/>
              </p:nvCxnSpPr>
              <p:spPr>
                <a:xfrm>
                  <a:off x="7396913" y="4941168"/>
                  <a:ext cx="170470" cy="720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מחבר ישר 60"/>
                <p:cNvCxnSpPr/>
                <p:nvPr/>
              </p:nvCxnSpPr>
              <p:spPr>
                <a:xfrm>
                  <a:off x="7265686" y="4941168"/>
                  <a:ext cx="42618" cy="743205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מחבר ישר 79"/>
              <p:cNvCxnSpPr/>
              <p:nvPr/>
            </p:nvCxnSpPr>
            <p:spPr>
              <a:xfrm flipH="1">
                <a:off x="5319083" y="4943880"/>
                <a:ext cx="112786" cy="76667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מחבר ישר 81"/>
              <p:cNvCxnSpPr/>
              <p:nvPr/>
            </p:nvCxnSpPr>
            <p:spPr>
              <a:xfrm flipH="1">
                <a:off x="4441212" y="4929431"/>
                <a:ext cx="112786" cy="76667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מחבר ישר 82"/>
              <p:cNvCxnSpPr/>
              <p:nvPr/>
            </p:nvCxnSpPr>
            <p:spPr>
              <a:xfrm flipH="1">
                <a:off x="3577116" y="4943325"/>
                <a:ext cx="112786" cy="76667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TextBox 94"/>
              <p:cNvSpPr txBox="1"/>
              <p:nvPr/>
            </p:nvSpPr>
            <p:spPr>
              <a:xfrm>
                <a:off x="5364087" y="4574548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j</a:t>
                </a:r>
                <a:endParaRPr lang="he-IL" dirty="0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4460668" y="4541503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 err="1"/>
                  <a:t>i</a:t>
                </a:r>
                <a:endParaRPr lang="he-IL" dirty="0"/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3635895" y="4537798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h</a:t>
                </a:r>
                <a:endParaRPr lang="he-IL" dirty="0"/>
              </a:p>
            </p:txBody>
          </p:sp>
          <p:grpSp>
            <p:nvGrpSpPr>
              <p:cNvPr id="112" name="קבוצה 111"/>
              <p:cNvGrpSpPr/>
              <p:nvPr/>
            </p:nvGrpSpPr>
            <p:grpSpPr>
              <a:xfrm>
                <a:off x="3909235" y="3438382"/>
                <a:ext cx="1650965" cy="1158956"/>
                <a:chOff x="6462910" y="3438382"/>
                <a:chExt cx="1650965" cy="1158956"/>
              </a:xfrm>
            </p:grpSpPr>
            <p:cxnSp>
              <p:nvCxnSpPr>
                <p:cNvPr id="113" name="מחבר ישר 112"/>
                <p:cNvCxnSpPr/>
                <p:nvPr/>
              </p:nvCxnSpPr>
              <p:spPr>
                <a:xfrm>
                  <a:off x="7567383" y="3438382"/>
                  <a:ext cx="546492" cy="115212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מחבר ישר 113"/>
                <p:cNvCxnSpPr/>
                <p:nvPr/>
              </p:nvCxnSpPr>
              <p:spPr>
                <a:xfrm flipH="1">
                  <a:off x="6462910" y="3438382"/>
                  <a:ext cx="620859" cy="1158956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מחבר ישר 114"/>
                <p:cNvCxnSpPr/>
                <p:nvPr/>
              </p:nvCxnSpPr>
              <p:spPr>
                <a:xfrm>
                  <a:off x="7286995" y="3438382"/>
                  <a:ext cx="69347" cy="115212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2" name="קבוצה 121"/>
            <p:cNvGrpSpPr/>
            <p:nvPr/>
          </p:nvGrpSpPr>
          <p:grpSpPr>
            <a:xfrm>
              <a:off x="685955" y="3438382"/>
              <a:ext cx="2722965" cy="2660452"/>
              <a:chOff x="685955" y="3438382"/>
              <a:chExt cx="2722965" cy="2660452"/>
            </a:xfrm>
          </p:grpSpPr>
          <p:grpSp>
            <p:nvGrpSpPr>
              <p:cNvPr id="88" name="קבוצה 87"/>
              <p:cNvGrpSpPr/>
              <p:nvPr/>
            </p:nvGrpSpPr>
            <p:grpSpPr>
              <a:xfrm>
                <a:off x="1755168" y="4911337"/>
                <a:ext cx="870666" cy="1187497"/>
                <a:chOff x="1755168" y="4862466"/>
                <a:chExt cx="870666" cy="1187497"/>
              </a:xfrm>
            </p:grpSpPr>
            <p:grpSp>
              <p:nvGrpSpPr>
                <p:cNvPr id="68" name="קבוצה 67"/>
                <p:cNvGrpSpPr/>
                <p:nvPr/>
              </p:nvGrpSpPr>
              <p:grpSpPr>
                <a:xfrm>
                  <a:off x="1755168" y="4892460"/>
                  <a:ext cx="870666" cy="1157503"/>
                  <a:chOff x="6939744" y="4941168"/>
                  <a:chExt cx="870666" cy="1157503"/>
                </a:xfrm>
              </p:grpSpPr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6939744" y="5667784"/>
                    <a:ext cx="19802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D</a:t>
                    </a:r>
                  </a:p>
                  <a:p>
                    <a:r>
                      <a:rPr lang="en-US" sz="1100" dirty="0"/>
                      <a:t>2</a:t>
                    </a:r>
                    <a:endParaRPr lang="he-IL" sz="1100" dirty="0"/>
                  </a:p>
                </p:txBody>
              </p:sp>
              <p:sp>
                <p:nvSpPr>
                  <p:cNvPr id="70" name="TextBox 69"/>
                  <p:cNvSpPr txBox="1"/>
                  <p:nvPr/>
                </p:nvSpPr>
                <p:spPr>
                  <a:xfrm>
                    <a:off x="7470321" y="5662246"/>
                    <a:ext cx="340089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F</a:t>
                    </a:r>
                  </a:p>
                  <a:p>
                    <a:r>
                      <a:rPr lang="en-US" sz="1100" dirty="0"/>
                      <a:t>10</a:t>
                    </a:r>
                    <a:endParaRPr lang="he-IL" sz="1100" dirty="0"/>
                  </a:p>
                </p:txBody>
              </p:sp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7201693" y="5661248"/>
                    <a:ext cx="25062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E</a:t>
                    </a:r>
                  </a:p>
                  <a:p>
                    <a:r>
                      <a:rPr lang="en-US" sz="1100" dirty="0"/>
                      <a:t>9</a:t>
                    </a:r>
                    <a:endParaRPr lang="he-IL" sz="1100" dirty="0"/>
                  </a:p>
                </p:txBody>
              </p:sp>
              <p:cxnSp>
                <p:nvCxnSpPr>
                  <p:cNvPr id="72" name="מחבר ישר 71"/>
                  <p:cNvCxnSpPr/>
                  <p:nvPr/>
                </p:nvCxnSpPr>
                <p:spPr>
                  <a:xfrm>
                    <a:off x="7396913" y="4941168"/>
                    <a:ext cx="170470" cy="7200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מחבר ישר 72"/>
                  <p:cNvCxnSpPr/>
                  <p:nvPr/>
                </p:nvCxnSpPr>
                <p:spPr>
                  <a:xfrm>
                    <a:off x="7265686" y="4941168"/>
                    <a:ext cx="42618" cy="743205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" name="מחבר ישר 83"/>
                <p:cNvCxnSpPr/>
                <p:nvPr/>
              </p:nvCxnSpPr>
              <p:spPr>
                <a:xfrm flipH="1">
                  <a:off x="1848924" y="4862466"/>
                  <a:ext cx="112786" cy="766677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קבוצה 88"/>
              <p:cNvGrpSpPr/>
              <p:nvPr/>
            </p:nvGrpSpPr>
            <p:grpSpPr>
              <a:xfrm>
                <a:off x="685955" y="4934636"/>
                <a:ext cx="861709" cy="1158660"/>
                <a:chOff x="685955" y="4862465"/>
                <a:chExt cx="861709" cy="1158660"/>
              </a:xfrm>
            </p:grpSpPr>
            <p:grpSp>
              <p:nvGrpSpPr>
                <p:cNvPr id="74" name="קבוצה 73"/>
                <p:cNvGrpSpPr/>
                <p:nvPr/>
              </p:nvGrpSpPr>
              <p:grpSpPr>
                <a:xfrm>
                  <a:off x="685955" y="4869160"/>
                  <a:ext cx="861709" cy="1151965"/>
                  <a:chOff x="6806635" y="4941168"/>
                  <a:chExt cx="861709" cy="1151965"/>
                </a:xfrm>
              </p:grpSpPr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6806635" y="5662246"/>
                    <a:ext cx="33965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A</a:t>
                    </a:r>
                  </a:p>
                  <a:p>
                    <a:r>
                      <a:rPr lang="en-US" sz="1100" dirty="0"/>
                      <a:t>15</a:t>
                    </a:r>
                    <a:endParaRPr lang="he-IL" sz="1100" dirty="0"/>
                  </a:p>
                </p:txBody>
              </p:sp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7470322" y="5662246"/>
                    <a:ext cx="19802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C</a:t>
                    </a:r>
                  </a:p>
                  <a:p>
                    <a:r>
                      <a:rPr lang="en-US" sz="1100" dirty="0"/>
                      <a:t>8</a:t>
                    </a:r>
                    <a:endParaRPr lang="he-IL" sz="1100" dirty="0"/>
                  </a:p>
                </p:txBody>
              </p:sp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7201693" y="5661248"/>
                    <a:ext cx="25062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B</a:t>
                    </a:r>
                  </a:p>
                  <a:p>
                    <a:r>
                      <a:rPr lang="en-US" sz="1100" dirty="0"/>
                      <a:t>3</a:t>
                    </a:r>
                    <a:endParaRPr lang="he-IL" sz="1100" dirty="0"/>
                  </a:p>
                </p:txBody>
              </p:sp>
              <p:cxnSp>
                <p:nvCxnSpPr>
                  <p:cNvPr id="78" name="מחבר ישר 77"/>
                  <p:cNvCxnSpPr/>
                  <p:nvPr/>
                </p:nvCxnSpPr>
                <p:spPr>
                  <a:xfrm>
                    <a:off x="7396913" y="4941168"/>
                    <a:ext cx="170470" cy="7200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מחבר ישר 78"/>
                  <p:cNvCxnSpPr/>
                  <p:nvPr/>
                </p:nvCxnSpPr>
                <p:spPr>
                  <a:xfrm>
                    <a:off x="7265686" y="4941168"/>
                    <a:ext cx="42618" cy="743205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5" name="מחבר ישר 84"/>
                <p:cNvCxnSpPr/>
                <p:nvPr/>
              </p:nvCxnSpPr>
              <p:spPr>
                <a:xfrm flipH="1">
                  <a:off x="870202" y="4862465"/>
                  <a:ext cx="112786" cy="766677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קבוצה 86"/>
              <p:cNvGrpSpPr/>
              <p:nvPr/>
            </p:nvGrpSpPr>
            <p:grpSpPr>
              <a:xfrm>
                <a:off x="2627784" y="4925958"/>
                <a:ext cx="781136" cy="1167338"/>
                <a:chOff x="2627784" y="4882981"/>
                <a:chExt cx="781136" cy="1167338"/>
              </a:xfrm>
            </p:grpSpPr>
            <p:grpSp>
              <p:nvGrpSpPr>
                <p:cNvPr id="62" name="קבוצה 61"/>
                <p:cNvGrpSpPr/>
                <p:nvPr/>
              </p:nvGrpSpPr>
              <p:grpSpPr>
                <a:xfrm>
                  <a:off x="2627784" y="4898354"/>
                  <a:ext cx="781136" cy="1151965"/>
                  <a:chOff x="6948264" y="4941168"/>
                  <a:chExt cx="781136" cy="1151965"/>
                </a:xfrm>
              </p:grpSpPr>
              <p:sp>
                <p:nvSpPr>
                  <p:cNvPr id="63" name="TextBox 62"/>
                  <p:cNvSpPr txBox="1"/>
                  <p:nvPr/>
                </p:nvSpPr>
                <p:spPr>
                  <a:xfrm>
                    <a:off x="6948264" y="5662246"/>
                    <a:ext cx="333586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G</a:t>
                    </a:r>
                  </a:p>
                  <a:p>
                    <a:r>
                      <a:rPr lang="en-US" sz="1100" dirty="0"/>
                      <a:t>11</a:t>
                    </a:r>
                    <a:endParaRPr lang="he-IL" sz="1100" dirty="0"/>
                  </a:p>
                </p:txBody>
              </p:sp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7308135" y="5662246"/>
                    <a:ext cx="421265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I</a:t>
                    </a:r>
                  </a:p>
                  <a:p>
                    <a:r>
                      <a:rPr lang="en-US" sz="1100" dirty="0"/>
                      <a:t>12</a:t>
                    </a:r>
                    <a:endParaRPr lang="he-IL" sz="1100" dirty="0"/>
                  </a:p>
                </p:txBody>
              </p: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7201693" y="5661248"/>
                    <a:ext cx="25062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r>
                      <a:rPr lang="en-US" sz="1100" dirty="0"/>
                      <a:t>H</a:t>
                    </a:r>
                  </a:p>
                  <a:p>
                    <a:r>
                      <a:rPr lang="en-US" sz="1100" dirty="0"/>
                      <a:t>2</a:t>
                    </a:r>
                    <a:endParaRPr lang="he-IL" sz="1100" dirty="0"/>
                  </a:p>
                </p:txBody>
              </p:sp>
              <p:cxnSp>
                <p:nvCxnSpPr>
                  <p:cNvPr id="66" name="מחבר ישר 65"/>
                  <p:cNvCxnSpPr/>
                  <p:nvPr/>
                </p:nvCxnSpPr>
                <p:spPr>
                  <a:xfrm>
                    <a:off x="7396913" y="4941168"/>
                    <a:ext cx="170470" cy="72008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מחבר ישר 66"/>
                  <p:cNvCxnSpPr/>
                  <p:nvPr/>
                </p:nvCxnSpPr>
                <p:spPr>
                  <a:xfrm>
                    <a:off x="7265686" y="4941168"/>
                    <a:ext cx="42618" cy="743205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6" name="מחבר ישר 85"/>
                <p:cNvCxnSpPr/>
                <p:nvPr/>
              </p:nvCxnSpPr>
              <p:spPr>
                <a:xfrm flipH="1">
                  <a:off x="2670402" y="4882981"/>
                  <a:ext cx="112786" cy="766677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TextBox 97"/>
              <p:cNvSpPr txBox="1"/>
              <p:nvPr/>
            </p:nvSpPr>
            <p:spPr>
              <a:xfrm>
                <a:off x="2771799" y="4541503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g</a:t>
                </a:r>
                <a:endParaRPr lang="he-IL" dirty="0"/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1911336" y="4574548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f</a:t>
                </a:r>
                <a:endParaRPr lang="he-IL" dirty="0"/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926595" y="4549892"/>
                <a:ext cx="36004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dirty="0"/>
                  <a:t>e</a:t>
                </a:r>
                <a:endParaRPr lang="he-IL" dirty="0"/>
              </a:p>
            </p:txBody>
          </p:sp>
          <p:grpSp>
            <p:nvGrpSpPr>
              <p:cNvPr id="116" name="קבוצה 115"/>
              <p:cNvGrpSpPr/>
              <p:nvPr/>
            </p:nvGrpSpPr>
            <p:grpSpPr>
              <a:xfrm>
                <a:off x="1265873" y="3438382"/>
                <a:ext cx="1650965" cy="1158956"/>
                <a:chOff x="6462910" y="3438382"/>
                <a:chExt cx="1650965" cy="1158956"/>
              </a:xfrm>
            </p:grpSpPr>
            <p:cxnSp>
              <p:nvCxnSpPr>
                <p:cNvPr id="117" name="מחבר ישר 116"/>
                <p:cNvCxnSpPr/>
                <p:nvPr/>
              </p:nvCxnSpPr>
              <p:spPr>
                <a:xfrm>
                  <a:off x="7567383" y="3438382"/>
                  <a:ext cx="546492" cy="115212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מחבר ישר 117"/>
                <p:cNvCxnSpPr/>
                <p:nvPr/>
              </p:nvCxnSpPr>
              <p:spPr>
                <a:xfrm flipH="1">
                  <a:off x="6462910" y="3438382"/>
                  <a:ext cx="620859" cy="1158956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מחבר ישר 118"/>
                <p:cNvCxnSpPr/>
                <p:nvPr/>
              </p:nvCxnSpPr>
              <p:spPr>
                <a:xfrm>
                  <a:off x="7286995" y="3438382"/>
                  <a:ext cx="69347" cy="115212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3" name="TextBox 122"/>
            <p:cNvSpPr txBox="1"/>
            <p:nvPr/>
          </p:nvSpPr>
          <p:spPr>
            <a:xfrm>
              <a:off x="6773234" y="3006244"/>
              <a:ext cx="62106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d</a:t>
              </a:r>
              <a:endParaRPr lang="he-IL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330153" y="3006244"/>
              <a:ext cx="62106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c</a:t>
              </a:r>
              <a:endParaRPr lang="he-IL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521361" y="2997983"/>
              <a:ext cx="62106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b</a:t>
              </a:r>
              <a:endParaRPr lang="he-IL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4345276" y="1037927"/>
              <a:ext cx="621069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2400" dirty="0"/>
                <a:t>a</a:t>
              </a:r>
              <a:endParaRPr lang="he-IL" sz="2400" dirty="0"/>
            </a:p>
          </p:txBody>
        </p:sp>
        <p:cxnSp>
          <p:nvCxnSpPr>
            <p:cNvPr id="128" name="מחבר ישר 127"/>
            <p:cNvCxnSpPr/>
            <p:nvPr/>
          </p:nvCxnSpPr>
          <p:spPr>
            <a:xfrm flipH="1">
              <a:off x="2081110" y="1499592"/>
              <a:ext cx="2360102" cy="147033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מחבר ישר 129"/>
            <p:cNvCxnSpPr/>
            <p:nvPr/>
          </p:nvCxnSpPr>
          <p:spPr>
            <a:xfrm>
              <a:off x="5013708" y="1499592"/>
              <a:ext cx="2070061" cy="150665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מחבר ישר 130"/>
            <p:cNvCxnSpPr/>
            <p:nvPr/>
          </p:nvCxnSpPr>
          <p:spPr>
            <a:xfrm>
              <a:off x="4820709" y="1563344"/>
              <a:ext cx="21151" cy="150665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128375" y="1139903"/>
              <a:ext cx="1037940" cy="37484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dirty="0"/>
                <a:t>Max</a:t>
              </a:r>
              <a:endParaRPr lang="he-IL" dirty="0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28375" y="2997591"/>
              <a:ext cx="1037940" cy="37484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dirty="0"/>
                <a:t>Min</a:t>
              </a:r>
              <a:endParaRPr lang="he-IL" dirty="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-111345" y="4590510"/>
              <a:ext cx="1037940" cy="374848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dirty="0"/>
                <a:t>Max</a:t>
              </a:r>
              <a:endParaRPr lang="he-IL" dirty="0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5836" y="5684536"/>
              <a:ext cx="628422" cy="33855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600" dirty="0"/>
                <a:t>Min</a:t>
              </a:r>
              <a:endParaRPr lang="he-IL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212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1625" y="1133475"/>
            <a:ext cx="9210675" cy="32385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685800" algn="r" rtl="1">
              <a:lnSpc>
                <a:spcPct val="150000"/>
              </a:lnSpc>
            </a:pPr>
            <a:r>
              <a:rPr lang="he-IL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שאלות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לא להגשה  ולא לבדיקה </a:t>
            </a:r>
          </a:p>
          <a:p>
            <a:pPr marL="685800" algn="r" rtl="1">
              <a:lnSpc>
                <a:spcPct val="150000"/>
              </a:lnSpc>
            </a:pPr>
            <a:endParaRPr lang="he-IL" sz="1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914400" indent="-228600" algn="r" rtl="1">
              <a:lnSpc>
                <a:spcPct val="150000"/>
              </a:lnSpc>
              <a:buAutoNum type="arabicPeriod"/>
            </a:pPr>
            <a:r>
              <a:rPr lang="he-IL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עבור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העץ </a:t>
            </a:r>
            <a:r>
              <a:rPr lang="he-IL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הנתון בעמוד הקודם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– הפעל עליו את אלגוריתם אלפא בטא </a:t>
            </a:r>
            <a:r>
              <a:rPr lang="he-IL" sz="1200" b="1" dirty="0">
                <a:latin typeface="Calibri" panose="020F0502020204030204" pitchFamily="34" charset="0"/>
                <a:ea typeface="Calibri" panose="020F0502020204030204" pitchFamily="34" charset="0"/>
              </a:rPr>
              <a:t>משמאל לימין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he-IL" sz="1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85800" algn="r" rtl="1">
              <a:lnSpc>
                <a:spcPct val="150000"/>
              </a:lnSpc>
            </a:pPr>
            <a:endParaRPr lang="he-IL" sz="12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algn="r" rtl="1">
              <a:lnSpc>
                <a:spcPct val="150000"/>
              </a:lnSpc>
            </a:pPr>
            <a:r>
              <a:rPr lang="en-US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he-IL" sz="1200" dirty="0" smtClean="0">
                <a:latin typeface="Calibri" panose="020F0502020204030204" pitchFamily="34" charset="0"/>
                <a:ea typeface="Calibri" panose="020F0502020204030204" pitchFamily="34" charset="0"/>
              </a:rPr>
              <a:t>2 . נכון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או לא נכון? חובה לנמק כל החלטה.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50000"/>
              </a:lnSpc>
              <a:spcAft>
                <a:spcPts val="800"/>
              </a:spcAft>
            </a:pP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 א  אלגוריתם </a:t>
            </a:r>
            <a:r>
              <a:rPr lang="en-US" sz="1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minmax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עם 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cutoff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מחזיר </a:t>
            </a:r>
            <a:r>
              <a:rPr lang="he-IL" sz="1200" b="1" dirty="0">
                <a:latin typeface="Calibri" panose="020F0502020204030204" pitchFamily="34" charset="0"/>
                <a:ea typeface="Calibri" panose="020F0502020204030204" pitchFamily="34" charset="0"/>
              </a:rPr>
              <a:t>תמיד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אותה תשובה כמו ש</a:t>
            </a:r>
            <a:r>
              <a:rPr lang="en-US" sz="1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minmax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היה מחזיר אם היה מגיע לעלים של עץ המשחק.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33400" algn="r" rtl="1">
              <a:lnSpc>
                <a:spcPct val="150000"/>
              </a:lnSpc>
              <a:spcAft>
                <a:spcPts val="800"/>
              </a:spcAft>
            </a:pP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ב. באלגוריתם אלפא בטא קדקוד 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Min   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מעדכן את ערכי  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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 שלו.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33400" algn="r" rtl="1">
              <a:lnSpc>
                <a:spcPct val="150000"/>
              </a:lnSpc>
              <a:spcAft>
                <a:spcPts val="800"/>
              </a:spcAft>
            </a:pP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ג. אלגוריתם אלפא  בטא יכול לפתח עץ משחק לרמה עמוקה יותר מאשר 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minimax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33400" algn="r" rtl="1">
              <a:lnSpc>
                <a:spcPct val="150000"/>
              </a:lnSpc>
              <a:spcAft>
                <a:spcPts val="800"/>
              </a:spcAft>
            </a:pP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ה.  שימוש  באלגוריתם אלפא בטא מצריך יותר זמן מבחינה </a:t>
            </a:r>
            <a:r>
              <a:rPr lang="he-IL" sz="1200" dirty="0" err="1">
                <a:latin typeface="Calibri" panose="020F0502020204030204" pitchFamily="34" charset="0"/>
                <a:ea typeface="Calibri" panose="020F0502020204030204" pitchFamily="34" charset="0"/>
              </a:rPr>
              <a:t>אסימפטוטית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, מאשר אלגוריתם </a:t>
            </a:r>
            <a:r>
              <a:rPr lang="en-US" sz="12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minmax</a:t>
            </a:r>
            <a:r>
              <a:rPr lang="he-IL" sz="12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50000"/>
              </a:lnSpc>
            </a:pP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1466284377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TM02900720[[fn=אינטגרל]]</Template>
  <TotalTime>1778</TotalTime>
  <Words>349</Words>
  <Application>Microsoft Office PowerPoint</Application>
  <PresentationFormat>מסך רחב</PresentationFormat>
  <Paragraphs>99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Times New Roman</vt:lpstr>
      <vt:lpstr>Wingdings 2</vt:lpstr>
      <vt:lpstr>HDOfficeLightV0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אלעזר שלום</dc:creator>
  <cp:lastModifiedBy>ריבה שלום</cp:lastModifiedBy>
  <cp:revision>56</cp:revision>
  <dcterms:created xsi:type="dcterms:W3CDTF">2023-05-15T12:42:57Z</dcterms:created>
  <dcterms:modified xsi:type="dcterms:W3CDTF">2026-05-28T09:01:12Z</dcterms:modified>
</cp:coreProperties>
</file>